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Outfit"/>
      <p:regular r:id="rId15"/>
    </p:embeddedFont>
    <p:embeddedFont>
      <p:font typeface="Outfit"/>
      <p:regular r:id="rId16"/>
    </p:embeddedFont>
    <p:embeddedFont>
      <p:font typeface="Bitter"/>
      <p:regular r:id="rId17"/>
    </p:embeddedFont>
    <p:embeddedFont>
      <p:font typeface="Bitter"/>
      <p:regular r:id="rId18"/>
    </p:embeddedFont>
    <p:embeddedFont>
      <p:font typeface="Bitter"/>
      <p:regular r:id="rId19"/>
    </p:embeddedFont>
    <p:embeddedFont>
      <p:font typeface="Bitter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6553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Introducción a las Consultas en MySQL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2325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Una consulta MySQL es una petición para gestionar datos. Es crucial para interactuar con bases de datos. SQL es el lenguaje estándar para estas operaciones.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48401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491639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467112"/>
            <a:ext cx="68127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por x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9080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Propósito de las Consultas en MySQL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344852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242316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Recuperación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4732734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Obtenga información específica. Filtre y ordene datos para análisis.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493" y="344852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3493" y="4242316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Informes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893493" y="4732734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Genere informes personalizados. Extraiga datos para aplicaciones web.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6795" y="3448526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6795" y="4242316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Operaciones Complejas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06795" y="5087064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Soporte para joins y subconsultas. Optimice el rendimiento.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223" y="504706"/>
            <a:ext cx="8920401" cy="573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Estructura Básica de una Consulta SELECT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223" y="1445062"/>
            <a:ext cx="917496" cy="11009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34872" y="1628537"/>
            <a:ext cx="2293739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SELECT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834872" y="2025253"/>
            <a:ext cx="12153305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Define las columnas a extraer.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23" y="2546033"/>
            <a:ext cx="917496" cy="11009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34872" y="2729508"/>
            <a:ext cx="2293739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FROM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834872" y="3126224"/>
            <a:ext cx="12153305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Indica la tabla de origen.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23" y="3647003"/>
            <a:ext cx="917496" cy="11009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34872" y="3830479"/>
            <a:ext cx="2293739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WHERE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834872" y="4227195"/>
            <a:ext cx="12153305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Filtra filas por condición.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23" y="4747974"/>
            <a:ext cx="917496" cy="11009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34872" y="4931450"/>
            <a:ext cx="2293739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ORDER BY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834872" y="5328166"/>
            <a:ext cx="12153305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Ordena los resultados.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223" y="5848945"/>
            <a:ext cx="917496" cy="11009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34872" y="6032421"/>
            <a:ext cx="2293739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LIMIT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834872" y="6429137"/>
            <a:ext cx="12153305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Limita el número de filas.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42223" y="7156252"/>
            <a:ext cx="13345954" cy="568523"/>
          </a:xfrm>
          <a:prstGeom prst="roundRect">
            <a:avLst>
              <a:gd name="adj" fmla="val 4842"/>
            </a:avLst>
          </a:prstGeom>
          <a:solidFill>
            <a:srgbClr val="2A2C20"/>
          </a:solidFill>
          <a:ln/>
        </p:spPr>
      </p:sp>
      <p:sp>
        <p:nvSpPr>
          <p:cNvPr id="19" name="Shape 12"/>
          <p:cNvSpPr/>
          <p:nvPr/>
        </p:nvSpPr>
        <p:spPr>
          <a:xfrm>
            <a:off x="633055" y="7156252"/>
            <a:ext cx="13364289" cy="568523"/>
          </a:xfrm>
          <a:prstGeom prst="roundRect">
            <a:avLst>
              <a:gd name="adj" fmla="val 4842"/>
            </a:avLst>
          </a:prstGeom>
          <a:solidFill>
            <a:srgbClr val="2A2C20"/>
          </a:solidFill>
          <a:ln/>
        </p:spPr>
      </p:sp>
      <p:sp>
        <p:nvSpPr>
          <p:cNvPr id="20" name="Text 13"/>
          <p:cNvSpPr/>
          <p:nvPr/>
        </p:nvSpPr>
        <p:spPr>
          <a:xfrm>
            <a:off x="816531" y="7293769"/>
            <a:ext cx="12997339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C2C4B5"/>
                </a:solidFill>
                <a:highlight>
                  <a:srgbClr val="2A2C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nombre, edad FROM usuarios WHERE ciudad = 'Madrid' ORDER BY edad DESC LIMIT 10;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611267"/>
            <a:ext cx="8582263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Consultas Avanzadas con SELECT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7954" y="1717119"/>
            <a:ext cx="6266140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Alias con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AS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para renombrar.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77954" y="2150507"/>
            <a:ext cx="6266140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Funciones agregadas: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COUNT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SUM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AVG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MAX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MIN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77954" y="2583894"/>
            <a:ext cx="6266140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Agrupar filas con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GROUP BY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77954" y="3017282"/>
            <a:ext cx="6266140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Filtrar grupos con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HAVING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77954" y="3450669"/>
            <a:ext cx="6266140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Combinar tablas con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JOINS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77954" y="3884057"/>
            <a:ext cx="6266140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Anidar consultas con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Subconsultas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925" y="1889403"/>
            <a:ext cx="6266140" cy="428732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954" y="6676787"/>
            <a:ext cx="13074491" cy="1044654"/>
          </a:xfrm>
          <a:prstGeom prst="roundRect">
            <a:avLst>
              <a:gd name="adj" fmla="val 3192"/>
            </a:avLst>
          </a:prstGeom>
          <a:solidFill>
            <a:srgbClr val="2A2C20"/>
          </a:solidFill>
          <a:ln/>
        </p:spPr>
      </p:sp>
      <p:sp>
        <p:nvSpPr>
          <p:cNvPr id="11" name="Shape 8"/>
          <p:cNvSpPr/>
          <p:nvPr/>
        </p:nvSpPr>
        <p:spPr>
          <a:xfrm>
            <a:off x="766882" y="6676787"/>
            <a:ext cx="13096637" cy="1044654"/>
          </a:xfrm>
          <a:prstGeom prst="roundRect">
            <a:avLst>
              <a:gd name="adj" fmla="val 3192"/>
            </a:avLst>
          </a:prstGeom>
          <a:solidFill>
            <a:srgbClr val="2A2C20"/>
          </a:solidFill>
          <a:ln/>
        </p:spPr>
      </p:sp>
      <p:sp>
        <p:nvSpPr>
          <p:cNvPr id="12" name="Text 9"/>
          <p:cNvSpPr/>
          <p:nvPr/>
        </p:nvSpPr>
        <p:spPr>
          <a:xfrm>
            <a:off x="989171" y="6843474"/>
            <a:ext cx="12652058" cy="71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highlight>
                  <a:srgbClr val="2A2C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ciudad, AVG(edad) AS edad_promedio FROM usuarios GROUP BY ciudad HAVING COUNT(*) &gt; 5 ORDER BY edad_promedio;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00343"/>
            <a:ext cx="83453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Modificación de Datos: UPDATE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7492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5" name="Text 2"/>
          <p:cNvSpPr/>
          <p:nvPr/>
        </p:nvSpPr>
        <p:spPr>
          <a:xfrm>
            <a:off x="878860" y="479178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48271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Sintaxis Básica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317569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Utiliza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UPDATE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para cambiar datos existentes en una tabla.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35893" y="47492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9" name="Text 6"/>
          <p:cNvSpPr/>
          <p:nvPr/>
        </p:nvSpPr>
        <p:spPr>
          <a:xfrm>
            <a:off x="5320963" y="479178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973008" y="48271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Cláusula WHERE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73008" y="5317569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Esencial para modificar filas específicas. Evita cambios masivos accidentales.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77995" y="47492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13" name="Text 10"/>
          <p:cNvSpPr/>
          <p:nvPr/>
        </p:nvSpPr>
        <p:spPr>
          <a:xfrm>
            <a:off x="9763065" y="479178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0415111" y="48271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Múltiples Columnas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415111" y="5317569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Actualice varias columnas a la vez. Use subconsultas en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93790" y="6661428"/>
            <a:ext cx="13042821" cy="702945"/>
          </a:xfrm>
          <a:prstGeom prst="roundRect">
            <a:avLst>
              <a:gd name="adj" fmla="val 4840"/>
            </a:avLst>
          </a:prstGeom>
          <a:solidFill>
            <a:srgbClr val="2A2C20"/>
          </a:solidFill>
          <a:ln/>
        </p:spPr>
      </p:sp>
      <p:sp>
        <p:nvSpPr>
          <p:cNvPr id="17" name="Shape 14"/>
          <p:cNvSpPr/>
          <p:nvPr/>
        </p:nvSpPr>
        <p:spPr>
          <a:xfrm>
            <a:off x="782479" y="6661428"/>
            <a:ext cx="13065443" cy="702945"/>
          </a:xfrm>
          <a:prstGeom prst="roundRect">
            <a:avLst>
              <a:gd name="adj" fmla="val 4840"/>
            </a:avLst>
          </a:prstGeom>
          <a:solidFill>
            <a:srgbClr val="2A2C20"/>
          </a:solidFill>
          <a:ln/>
        </p:spPr>
      </p:sp>
      <p:sp>
        <p:nvSpPr>
          <p:cNvPr id="18" name="Text 15"/>
          <p:cNvSpPr/>
          <p:nvPr/>
        </p:nvSpPr>
        <p:spPr>
          <a:xfrm>
            <a:off x="1009293" y="6831449"/>
            <a:ext cx="126118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highlight>
                  <a:srgbClr val="2A2C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productos SET precio = precio * 1.10 WHERE categoria = 'Electrónicos';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9267"/>
            <a:ext cx="78787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Eliminación de Datos: DELETE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61674"/>
            <a:ext cx="2173724" cy="1306949"/>
          </a:xfrm>
          <a:prstGeom prst="roundRect">
            <a:avLst>
              <a:gd name="adj" fmla="val 2603"/>
            </a:avLst>
          </a:prstGeom>
          <a:solidFill>
            <a:srgbClr val="3B3C3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167" y="2415778"/>
            <a:ext cx="318968" cy="398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1884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Sintaxis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2678906"/>
            <a:ext cx="45618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DELETE FROM tabla WHERE condición;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253383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545557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3381970"/>
            <a:ext cx="4347567" cy="1306949"/>
          </a:xfrm>
          <a:prstGeom prst="roundRect">
            <a:avLst>
              <a:gd name="adj" fmla="val 2603"/>
            </a:avLst>
          </a:prstGeom>
          <a:solidFill>
            <a:srgbClr val="3B3C3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089" y="3836075"/>
            <a:ext cx="318968" cy="398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3608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Precaución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099203"/>
            <a:ext cx="57884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WHERE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eliminará todos los datos. ¡Mucho cuidado!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4673679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545557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4802267"/>
            <a:ext cx="6521410" cy="1669852"/>
          </a:xfrm>
          <a:prstGeom prst="roundRect">
            <a:avLst>
              <a:gd name="adj" fmla="val 2038"/>
            </a:avLst>
          </a:prstGeom>
          <a:solidFill>
            <a:srgbClr val="3B3C3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011" y="5437822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0290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TRUNCATE TABLE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5519499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Borra todos los datos más rápido. Sin condiciones, irrevertible.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793790" y="6727269"/>
            <a:ext cx="13042821" cy="702945"/>
          </a:xfrm>
          <a:prstGeom prst="roundRect">
            <a:avLst>
              <a:gd name="adj" fmla="val 4840"/>
            </a:avLst>
          </a:prstGeom>
          <a:solidFill>
            <a:srgbClr val="2A2C20"/>
          </a:solidFill>
          <a:ln/>
        </p:spPr>
      </p:sp>
      <p:sp>
        <p:nvSpPr>
          <p:cNvPr id="18" name="Shape 13"/>
          <p:cNvSpPr/>
          <p:nvPr/>
        </p:nvSpPr>
        <p:spPr>
          <a:xfrm>
            <a:off x="782479" y="6727269"/>
            <a:ext cx="13065443" cy="702945"/>
          </a:xfrm>
          <a:prstGeom prst="roundRect">
            <a:avLst>
              <a:gd name="adj" fmla="val 4840"/>
            </a:avLst>
          </a:prstGeom>
          <a:solidFill>
            <a:srgbClr val="2A2C20"/>
          </a:solidFill>
          <a:ln/>
        </p:spPr>
      </p:sp>
      <p:sp>
        <p:nvSpPr>
          <p:cNvPr id="19" name="Text 14"/>
          <p:cNvSpPr/>
          <p:nvPr/>
        </p:nvSpPr>
        <p:spPr>
          <a:xfrm>
            <a:off x="1009293" y="6897291"/>
            <a:ext cx="126118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highlight>
                  <a:srgbClr val="2A2C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pedidos WHERE fecha_pedido &lt; '2023-01-01';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2001"/>
            <a:ext cx="70487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Inserción de Datos: INSERT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3608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Fila Única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99203"/>
            <a:ext cx="3785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Inserte un registro a la vez. Especifique columnas y valores.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193440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411" y="3729990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382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Múltiples Filas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287285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Inserte varios registros en una sola consulta.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3440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307" y="2778919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350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Desde Otra Tabla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32542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INSERT INTO ... SELECT ...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para copiar datos.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193440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4533" y="5505093"/>
            <a:ext cx="339328" cy="42422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793790" y="6754535"/>
            <a:ext cx="13042821" cy="702945"/>
          </a:xfrm>
          <a:prstGeom prst="roundRect">
            <a:avLst>
              <a:gd name="adj" fmla="val 4840"/>
            </a:avLst>
          </a:prstGeom>
          <a:solidFill>
            <a:srgbClr val="2A2C20"/>
          </a:solidFill>
          <a:ln/>
        </p:spPr>
      </p:sp>
      <p:sp>
        <p:nvSpPr>
          <p:cNvPr id="16" name="Shape 8"/>
          <p:cNvSpPr/>
          <p:nvPr/>
        </p:nvSpPr>
        <p:spPr>
          <a:xfrm>
            <a:off x="782479" y="6754535"/>
            <a:ext cx="13065443" cy="702945"/>
          </a:xfrm>
          <a:prstGeom prst="roundRect">
            <a:avLst>
              <a:gd name="adj" fmla="val 4840"/>
            </a:avLst>
          </a:prstGeom>
          <a:solidFill>
            <a:srgbClr val="2A2C20"/>
          </a:solidFill>
          <a:ln/>
        </p:spPr>
      </p:sp>
      <p:sp>
        <p:nvSpPr>
          <p:cNvPr id="17" name="Text 9"/>
          <p:cNvSpPr/>
          <p:nvPr/>
        </p:nvSpPr>
        <p:spPr>
          <a:xfrm>
            <a:off x="1009293" y="6924556"/>
            <a:ext cx="126118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highlight>
                  <a:srgbClr val="2A2C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clientes (nombre, email, telefono) VALUES ('Juan Pérez', 'juan@example.com', '555-1234');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590" y="417552"/>
            <a:ext cx="3783092" cy="472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Conclusiones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9590" y="1192887"/>
            <a:ext cx="8084820" cy="499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3626168" y="1881307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Interacción Esencial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9590" y="2208490"/>
            <a:ext cx="8084820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Las consultas son clave para MySQL.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9590" y="2980015"/>
            <a:ext cx="8084820" cy="499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3626168" y="3668435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SQL Poderoso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29590" y="3995618"/>
            <a:ext cx="8084820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Manipule y recupere datos eficazmente.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9590" y="4767143"/>
            <a:ext cx="8084820" cy="499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3900" dirty="0"/>
          </a:p>
        </p:txBody>
      </p:sp>
      <p:sp>
        <p:nvSpPr>
          <p:cNvPr id="11" name="Text 8"/>
          <p:cNvSpPr/>
          <p:nvPr/>
        </p:nvSpPr>
        <p:spPr>
          <a:xfrm>
            <a:off x="3626168" y="5455563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Dominio Crucial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29590" y="5782747"/>
            <a:ext cx="8084820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La sintaxis SQL permite gestión avanzada.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29590" y="6554272"/>
            <a:ext cx="8084820" cy="499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3900" dirty="0"/>
          </a:p>
        </p:txBody>
      </p:sp>
      <p:sp>
        <p:nvSpPr>
          <p:cNvPr id="14" name="Text 11"/>
          <p:cNvSpPr/>
          <p:nvPr/>
        </p:nvSpPr>
        <p:spPr>
          <a:xfrm>
            <a:off x="3626168" y="7242691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WHERE Obligatorio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29590" y="7569875"/>
            <a:ext cx="8084820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Crucial en </a:t>
            </a:r>
            <a:pPr algn="ct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UPDATE</a:t>
            </a:r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y </a:t>
            </a:r>
            <a:pPr algn="ct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DELETE</a:t>
            </a:r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para evitar errores.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2025-05-28T22:57:05Z</dcterms:created>
  <dcterms:modified xsi:type="dcterms:W3CDTF">2025-05-28T22:57:05Z</dcterms:modified>
</cp:coreProperties>
</file>
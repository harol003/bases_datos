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Prompt Medium"/>
      <p:regular r:id="rId15"/>
    </p:embeddedFont>
    <p:embeddedFont>
      <p:font typeface="Prompt Medium"/>
      <p:regular r:id="rId16"/>
    </p:embeddedFont>
    <p:embeddedFont>
      <p:font typeface="Prompt Medium"/>
      <p:regular r:id="rId17"/>
    </p:embeddedFont>
    <p:embeddedFont>
      <p:font typeface="Prompt Medium"/>
      <p:regular r:id="rId18"/>
    </p:embeddedFont>
    <p:embeddedFont>
      <p:font typeface="Mukta Light"/>
      <p:regular r:id="rId19"/>
    </p:embeddedFont>
    <p:embeddedFont>
      <p:font typeface="Mukta Light"/>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437" y="2296477"/>
            <a:ext cx="7415927" cy="1371600"/>
          </a:xfrm>
          <a:prstGeom prst="rect">
            <a:avLst/>
          </a:prstGeom>
          <a:noFill/>
          <a:ln/>
        </p:spPr>
        <p:txBody>
          <a:bodyPr wrap="square" lIns="0" tIns="0" rIns="0" bIns="0" rtlCol="0" anchor="t"/>
          <a:lstStyle/>
          <a:p>
            <a:pPr algn="l" indent="0" marL="0">
              <a:lnSpc>
                <a:spcPts val="5400"/>
              </a:lnSpc>
              <a:buNone/>
            </a:pPr>
            <a:r>
              <a:rPr lang="en-US" sz="4300" dirty="0">
                <a:solidFill>
                  <a:srgbClr val="C6BFEE"/>
                </a:solidFill>
                <a:latin typeface="Prompt Medium" pitchFamily="34" charset="0"/>
                <a:ea typeface="Prompt Medium" pitchFamily="34" charset="-122"/>
                <a:cs typeface="Prompt Medium" pitchFamily="34" charset="-120"/>
              </a:rPr>
              <a:t>Introducción a las Llaves Foráneas</a:t>
            </a:r>
            <a:endParaRPr lang="en-US" sz="4300" dirty="0"/>
          </a:p>
        </p:txBody>
      </p:sp>
      <p:sp>
        <p:nvSpPr>
          <p:cNvPr id="4" name="Text 1"/>
          <p:cNvSpPr/>
          <p:nvPr/>
        </p:nvSpPr>
        <p:spPr>
          <a:xfrm>
            <a:off x="6350437" y="4038362"/>
            <a:ext cx="7415927" cy="1185148"/>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Exploraremos las llaves foráneas en bases de datos. Definiremos su propósito y utilidad. Cubriremos relaciones uno a muchos y muchos a uno. Veremos un ejemplo práctico.</a:t>
            </a:r>
            <a:endParaRPr lang="en-US" sz="1900" dirty="0"/>
          </a:p>
        </p:txBody>
      </p:sp>
      <p:sp>
        <p:nvSpPr>
          <p:cNvPr id="5" name="Shape 2"/>
          <p:cNvSpPr/>
          <p:nvPr/>
        </p:nvSpPr>
        <p:spPr>
          <a:xfrm>
            <a:off x="6350437" y="5519618"/>
            <a:ext cx="394930" cy="394930"/>
          </a:xfrm>
          <a:prstGeom prst="roundRect">
            <a:avLst>
              <a:gd name="adj" fmla="val 23151155"/>
            </a:avLst>
          </a:prstGeom>
          <a:noFill/>
          <a:ln w="7620">
            <a:solidFill>
              <a:srgbClr val="4D4D51"/>
            </a:solidFill>
            <a:prstDash val="solid"/>
          </a:ln>
        </p:spPr>
      </p:sp>
      <p:pic>
        <p:nvPicPr>
          <p:cNvPr id="6" name="Image 1" descr="preencoded.png">    </p:cNvPr>
          <p:cNvPicPr>
            <a:picLocks noChangeAspect="1"/>
          </p:cNvPicPr>
          <p:nvPr/>
        </p:nvPicPr>
        <p:blipFill>
          <a:blip r:embed="rId2"/>
          <a:stretch>
            <a:fillRect/>
          </a:stretch>
        </p:blipFill>
        <p:spPr>
          <a:xfrm>
            <a:off x="6358057" y="5527238"/>
            <a:ext cx="379690" cy="379690"/>
          </a:xfrm>
          <a:prstGeom prst="rect">
            <a:avLst/>
          </a:prstGeom>
        </p:spPr>
      </p:pic>
      <p:sp>
        <p:nvSpPr>
          <p:cNvPr id="7" name="Text 3"/>
          <p:cNvSpPr/>
          <p:nvPr/>
        </p:nvSpPr>
        <p:spPr>
          <a:xfrm>
            <a:off x="6868716" y="5501164"/>
            <a:ext cx="695087" cy="431959"/>
          </a:xfrm>
          <a:prstGeom prst="rect">
            <a:avLst/>
          </a:prstGeom>
          <a:noFill/>
          <a:ln/>
        </p:spPr>
        <p:txBody>
          <a:bodyPr wrap="none" lIns="0" tIns="0" rIns="0" bIns="0" rtlCol="0" anchor="t"/>
          <a:lstStyle/>
          <a:p>
            <a:pPr algn="l" indent="0" marL="0">
              <a:lnSpc>
                <a:spcPts val="3400"/>
              </a:lnSpc>
              <a:buNone/>
            </a:pPr>
            <a:r>
              <a:rPr lang="en-US" sz="2400" b="1" dirty="0">
                <a:solidFill>
                  <a:srgbClr val="DAD8E9"/>
                </a:solidFill>
                <a:latin typeface="Mukta Bold" pitchFamily="34" charset="0"/>
                <a:ea typeface="Mukta Bold" pitchFamily="34" charset="-122"/>
                <a:cs typeface="Mukta Bold" pitchFamily="34" charset="-120"/>
              </a:rPr>
              <a:t>por x</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1293733"/>
            <a:ext cx="7415927" cy="1371600"/>
          </a:xfrm>
          <a:prstGeom prst="rect">
            <a:avLst/>
          </a:prstGeom>
          <a:noFill/>
          <a:ln/>
        </p:spPr>
        <p:txBody>
          <a:bodyPr wrap="square" lIns="0" tIns="0" rIns="0" bIns="0" rtlCol="0" anchor="t"/>
          <a:lstStyle/>
          <a:p>
            <a:pPr algn="l" indent="0" marL="0">
              <a:lnSpc>
                <a:spcPts val="5400"/>
              </a:lnSpc>
              <a:buNone/>
            </a:pPr>
            <a:r>
              <a:rPr lang="en-US" sz="4300" dirty="0">
                <a:solidFill>
                  <a:srgbClr val="C6BFEE"/>
                </a:solidFill>
                <a:latin typeface="Prompt Medium" pitchFamily="34" charset="0"/>
                <a:ea typeface="Prompt Medium" pitchFamily="34" charset="-122"/>
                <a:cs typeface="Prompt Medium" pitchFamily="34" charset="-120"/>
              </a:rPr>
              <a:t>¿Qué es una Llave Foránea?</a:t>
            </a:r>
            <a:endParaRPr lang="en-US" sz="4300" dirty="0"/>
          </a:p>
        </p:txBody>
      </p:sp>
      <p:pic>
        <p:nvPicPr>
          <p:cNvPr id="4" name="Image 1" descr="preencoded.png">    </p:cNvPr>
          <p:cNvPicPr>
            <a:picLocks noChangeAspect="1"/>
          </p:cNvPicPr>
          <p:nvPr/>
        </p:nvPicPr>
        <p:blipFill>
          <a:blip r:embed="rId2"/>
          <a:stretch>
            <a:fillRect/>
          </a:stretch>
        </p:blipFill>
        <p:spPr>
          <a:xfrm>
            <a:off x="864037" y="3035618"/>
            <a:ext cx="566499" cy="566499"/>
          </a:xfrm>
          <a:prstGeom prst="rect">
            <a:avLst/>
          </a:prstGeom>
        </p:spPr>
      </p:pic>
      <p:sp>
        <p:nvSpPr>
          <p:cNvPr id="5" name="Text 1"/>
          <p:cNvSpPr/>
          <p:nvPr/>
        </p:nvSpPr>
        <p:spPr>
          <a:xfrm>
            <a:off x="864037" y="3848933"/>
            <a:ext cx="2266236" cy="685800"/>
          </a:xfrm>
          <a:prstGeom prst="rect">
            <a:avLst/>
          </a:prstGeom>
          <a:noFill/>
          <a:ln/>
        </p:spPr>
        <p:txBody>
          <a:bodyPr wrap="square" lIns="0" tIns="0" rIns="0" bIns="0" rtlCol="0" anchor="t"/>
          <a:lstStyle/>
          <a:p>
            <a:pPr algn="l" indent="0" marL="0">
              <a:lnSpc>
                <a:spcPts val="2700"/>
              </a:lnSpc>
              <a:buNone/>
            </a:pPr>
            <a:r>
              <a:rPr lang="en-US" sz="2150" dirty="0">
                <a:solidFill>
                  <a:srgbClr val="DAD8E9"/>
                </a:solidFill>
                <a:latin typeface="Prompt Medium" pitchFamily="34" charset="0"/>
                <a:ea typeface="Prompt Medium" pitchFamily="34" charset="-122"/>
                <a:cs typeface="Prompt Medium" pitchFamily="34" charset="-120"/>
              </a:rPr>
              <a:t>Campo de Referencia</a:t>
            </a:r>
            <a:endParaRPr lang="en-US" sz="2150" dirty="0"/>
          </a:p>
        </p:txBody>
      </p:sp>
      <p:sp>
        <p:nvSpPr>
          <p:cNvPr id="6" name="Text 2"/>
          <p:cNvSpPr/>
          <p:nvPr/>
        </p:nvSpPr>
        <p:spPr>
          <a:xfrm>
            <a:off x="864037" y="4682847"/>
            <a:ext cx="2266236" cy="790099"/>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Un campo especial en una tabla.</a:t>
            </a:r>
            <a:endParaRPr lang="en-US" sz="1900" dirty="0"/>
          </a:p>
        </p:txBody>
      </p:sp>
      <p:pic>
        <p:nvPicPr>
          <p:cNvPr id="7" name="Image 2" descr="preencoded.png">    </p:cNvPr>
          <p:cNvPicPr>
            <a:picLocks noChangeAspect="1"/>
          </p:cNvPicPr>
          <p:nvPr/>
        </p:nvPicPr>
        <p:blipFill>
          <a:blip r:embed="rId3"/>
          <a:stretch>
            <a:fillRect/>
          </a:stretch>
        </p:blipFill>
        <p:spPr>
          <a:xfrm>
            <a:off x="3438882" y="3035618"/>
            <a:ext cx="566499" cy="566499"/>
          </a:xfrm>
          <a:prstGeom prst="rect">
            <a:avLst/>
          </a:prstGeom>
        </p:spPr>
      </p:pic>
      <p:sp>
        <p:nvSpPr>
          <p:cNvPr id="8" name="Text 3"/>
          <p:cNvSpPr/>
          <p:nvPr/>
        </p:nvSpPr>
        <p:spPr>
          <a:xfrm>
            <a:off x="3438882" y="3848933"/>
            <a:ext cx="2266236" cy="685800"/>
          </a:xfrm>
          <a:prstGeom prst="rect">
            <a:avLst/>
          </a:prstGeom>
          <a:noFill/>
          <a:ln/>
        </p:spPr>
        <p:txBody>
          <a:bodyPr wrap="square" lIns="0" tIns="0" rIns="0" bIns="0" rtlCol="0" anchor="t"/>
          <a:lstStyle/>
          <a:p>
            <a:pPr algn="l" indent="0" marL="0">
              <a:lnSpc>
                <a:spcPts val="2700"/>
              </a:lnSpc>
              <a:buNone/>
            </a:pPr>
            <a:r>
              <a:rPr lang="en-US" sz="2150" dirty="0">
                <a:solidFill>
                  <a:srgbClr val="DAD8E9"/>
                </a:solidFill>
                <a:latin typeface="Prompt Medium" pitchFamily="34" charset="0"/>
                <a:ea typeface="Prompt Medium" pitchFamily="34" charset="-122"/>
                <a:cs typeface="Prompt Medium" pitchFamily="34" charset="-120"/>
              </a:rPr>
              <a:t>Vínculo entre Tablas</a:t>
            </a:r>
            <a:endParaRPr lang="en-US" sz="2150" dirty="0"/>
          </a:p>
        </p:txBody>
      </p:sp>
      <p:sp>
        <p:nvSpPr>
          <p:cNvPr id="9" name="Text 4"/>
          <p:cNvSpPr/>
          <p:nvPr/>
        </p:nvSpPr>
        <p:spPr>
          <a:xfrm>
            <a:off x="3438882" y="4682847"/>
            <a:ext cx="2266236" cy="790099"/>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Conecta a la llave primaria de otra tabla.</a:t>
            </a:r>
            <a:endParaRPr lang="en-US" sz="1900" dirty="0"/>
          </a:p>
        </p:txBody>
      </p:sp>
      <p:pic>
        <p:nvPicPr>
          <p:cNvPr id="10" name="Image 3" descr="preencoded.png">    </p:cNvPr>
          <p:cNvPicPr>
            <a:picLocks noChangeAspect="1"/>
          </p:cNvPicPr>
          <p:nvPr/>
        </p:nvPicPr>
        <p:blipFill>
          <a:blip r:embed="rId4"/>
          <a:stretch>
            <a:fillRect/>
          </a:stretch>
        </p:blipFill>
        <p:spPr>
          <a:xfrm>
            <a:off x="6013728" y="3035618"/>
            <a:ext cx="566499" cy="566499"/>
          </a:xfrm>
          <a:prstGeom prst="rect">
            <a:avLst/>
          </a:prstGeom>
        </p:spPr>
      </p:pic>
      <p:sp>
        <p:nvSpPr>
          <p:cNvPr id="11" name="Text 5"/>
          <p:cNvSpPr/>
          <p:nvPr/>
        </p:nvSpPr>
        <p:spPr>
          <a:xfrm>
            <a:off x="6013728" y="3848933"/>
            <a:ext cx="2266236" cy="685800"/>
          </a:xfrm>
          <a:prstGeom prst="rect">
            <a:avLst/>
          </a:prstGeom>
          <a:noFill/>
          <a:ln/>
        </p:spPr>
        <p:txBody>
          <a:bodyPr wrap="square" lIns="0" tIns="0" rIns="0" bIns="0" rtlCol="0" anchor="t"/>
          <a:lstStyle/>
          <a:p>
            <a:pPr algn="l" indent="0" marL="0">
              <a:lnSpc>
                <a:spcPts val="2700"/>
              </a:lnSpc>
              <a:buNone/>
            </a:pPr>
            <a:r>
              <a:rPr lang="en-US" sz="2150" dirty="0">
                <a:solidFill>
                  <a:srgbClr val="DAD8E9"/>
                </a:solidFill>
                <a:latin typeface="Prompt Medium" pitchFamily="34" charset="0"/>
                <a:ea typeface="Prompt Medium" pitchFamily="34" charset="-122"/>
                <a:cs typeface="Prompt Medium" pitchFamily="34" charset="-120"/>
              </a:rPr>
              <a:t>Integridad Asegurada</a:t>
            </a:r>
            <a:endParaRPr lang="en-US" sz="2150" dirty="0"/>
          </a:p>
        </p:txBody>
      </p:sp>
      <p:sp>
        <p:nvSpPr>
          <p:cNvPr id="12" name="Text 6"/>
          <p:cNvSpPr/>
          <p:nvPr/>
        </p:nvSpPr>
        <p:spPr>
          <a:xfrm>
            <a:off x="6013728" y="4682847"/>
            <a:ext cx="2266236" cy="1185148"/>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Garantiza la consistencia de los datos.</a:t>
            </a:r>
            <a:endParaRPr lang="en-US" sz="1900" dirty="0"/>
          </a:p>
        </p:txBody>
      </p:sp>
      <p:sp>
        <p:nvSpPr>
          <p:cNvPr id="13" name="Text 7"/>
          <p:cNvSpPr/>
          <p:nvPr/>
        </p:nvSpPr>
        <p:spPr>
          <a:xfrm>
            <a:off x="864037" y="6145649"/>
            <a:ext cx="7415927" cy="790099"/>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Una llave foránea es un campo que vincula dos tablas. Establece una conexión entre ellas. Mantiene la integridad referencial de los datos.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032397"/>
          </a:xfrm>
          <a:prstGeom prst="rect">
            <a:avLst/>
          </a:prstGeom>
        </p:spPr>
      </p:pic>
      <p:sp>
        <p:nvSpPr>
          <p:cNvPr id="3" name="Text 0"/>
          <p:cNvSpPr/>
          <p:nvPr/>
        </p:nvSpPr>
        <p:spPr>
          <a:xfrm>
            <a:off x="569000" y="2610803"/>
            <a:ext cx="5792510" cy="451604"/>
          </a:xfrm>
          <a:prstGeom prst="rect">
            <a:avLst/>
          </a:prstGeom>
          <a:noFill/>
          <a:ln/>
        </p:spPr>
        <p:txBody>
          <a:bodyPr wrap="none" lIns="0" tIns="0" rIns="0" bIns="0" rtlCol="0" anchor="t"/>
          <a:lstStyle/>
          <a:p>
            <a:pPr algn="l" indent="0" marL="0">
              <a:lnSpc>
                <a:spcPts val="3550"/>
              </a:lnSpc>
              <a:buNone/>
            </a:pPr>
            <a:r>
              <a:rPr lang="en-US" sz="2800" dirty="0">
                <a:solidFill>
                  <a:srgbClr val="C6BFEE"/>
                </a:solidFill>
                <a:latin typeface="Prompt Medium" pitchFamily="34" charset="0"/>
                <a:ea typeface="Prompt Medium" pitchFamily="34" charset="-122"/>
                <a:cs typeface="Prompt Medium" pitchFamily="34" charset="-120"/>
              </a:rPr>
              <a:t>Propósito de las Llaves Foráneas</a:t>
            </a:r>
            <a:endParaRPr lang="en-US" sz="2800" dirty="0"/>
          </a:p>
        </p:txBody>
      </p:sp>
      <p:pic>
        <p:nvPicPr>
          <p:cNvPr id="4" name="Image 1" descr="preencoded.png">    </p:cNvPr>
          <p:cNvPicPr>
            <a:picLocks noChangeAspect="1"/>
          </p:cNvPicPr>
          <p:nvPr/>
        </p:nvPicPr>
        <p:blipFill>
          <a:blip r:embed="rId2"/>
          <a:stretch>
            <a:fillRect/>
          </a:stretch>
        </p:blipFill>
        <p:spPr>
          <a:xfrm>
            <a:off x="569000" y="3306247"/>
            <a:ext cx="812959" cy="975479"/>
          </a:xfrm>
          <a:prstGeom prst="rect">
            <a:avLst/>
          </a:prstGeom>
        </p:spPr>
      </p:pic>
      <p:sp>
        <p:nvSpPr>
          <p:cNvPr id="5" name="Text 1"/>
          <p:cNvSpPr/>
          <p:nvPr/>
        </p:nvSpPr>
        <p:spPr>
          <a:xfrm>
            <a:off x="1625798" y="3468767"/>
            <a:ext cx="1806535" cy="225743"/>
          </a:xfrm>
          <a:prstGeom prst="rect">
            <a:avLst/>
          </a:prstGeom>
          <a:noFill/>
          <a:ln/>
        </p:spPr>
        <p:txBody>
          <a:bodyPr wrap="none" lIns="0" tIns="0" rIns="0" bIns="0" rtlCol="0" anchor="t"/>
          <a:lstStyle/>
          <a:p>
            <a:pPr algn="l" indent="0" marL="0">
              <a:lnSpc>
                <a:spcPts val="1750"/>
              </a:lnSpc>
              <a:buNone/>
            </a:pPr>
            <a:r>
              <a:rPr lang="en-US" sz="1400" dirty="0">
                <a:solidFill>
                  <a:srgbClr val="DAD8E9"/>
                </a:solidFill>
                <a:latin typeface="Prompt Medium" pitchFamily="34" charset="0"/>
                <a:ea typeface="Prompt Medium" pitchFamily="34" charset="-122"/>
                <a:cs typeface="Prompt Medium" pitchFamily="34" charset="-120"/>
              </a:rPr>
              <a:t>Integridad</a:t>
            </a:r>
            <a:endParaRPr lang="en-US" sz="1400" dirty="0"/>
          </a:p>
        </p:txBody>
      </p:sp>
      <p:sp>
        <p:nvSpPr>
          <p:cNvPr id="6" name="Text 2"/>
          <p:cNvSpPr/>
          <p:nvPr/>
        </p:nvSpPr>
        <p:spPr>
          <a:xfrm>
            <a:off x="1625798" y="3792022"/>
            <a:ext cx="12435602" cy="260152"/>
          </a:xfrm>
          <a:prstGeom prst="rect">
            <a:avLst/>
          </a:prstGeom>
          <a:noFill/>
          <a:ln/>
        </p:spPr>
        <p:txBody>
          <a:bodyPr wrap="none" lIns="0" tIns="0" rIns="0" bIns="0" rtlCol="0" anchor="t"/>
          <a:lstStyle/>
          <a:p>
            <a:pPr algn="l" indent="0" marL="0">
              <a:lnSpc>
                <a:spcPts val="2000"/>
              </a:lnSpc>
              <a:buNone/>
            </a:pPr>
            <a:r>
              <a:rPr lang="en-US" sz="1250" dirty="0">
                <a:solidFill>
                  <a:srgbClr val="DAD8E9"/>
                </a:solidFill>
                <a:latin typeface="Mukta Light" pitchFamily="34" charset="0"/>
                <a:ea typeface="Mukta Light" pitchFamily="34" charset="-122"/>
                <a:cs typeface="Mukta Light" pitchFamily="34" charset="-120"/>
              </a:rPr>
              <a:t>Evita datos inconsistentes y errores.</a:t>
            </a:r>
            <a:endParaRPr lang="en-US" sz="1250" dirty="0"/>
          </a:p>
        </p:txBody>
      </p:sp>
      <p:pic>
        <p:nvPicPr>
          <p:cNvPr id="7" name="Image 2" descr="preencoded.png">    </p:cNvPr>
          <p:cNvPicPr>
            <a:picLocks noChangeAspect="1"/>
          </p:cNvPicPr>
          <p:nvPr/>
        </p:nvPicPr>
        <p:blipFill>
          <a:blip r:embed="rId3"/>
          <a:stretch>
            <a:fillRect/>
          </a:stretch>
        </p:blipFill>
        <p:spPr>
          <a:xfrm>
            <a:off x="569000" y="4281726"/>
            <a:ext cx="812959" cy="975479"/>
          </a:xfrm>
          <a:prstGeom prst="rect">
            <a:avLst/>
          </a:prstGeom>
        </p:spPr>
      </p:pic>
      <p:sp>
        <p:nvSpPr>
          <p:cNvPr id="8" name="Text 3"/>
          <p:cNvSpPr/>
          <p:nvPr/>
        </p:nvSpPr>
        <p:spPr>
          <a:xfrm>
            <a:off x="1625798" y="4444246"/>
            <a:ext cx="1806535" cy="225743"/>
          </a:xfrm>
          <a:prstGeom prst="rect">
            <a:avLst/>
          </a:prstGeom>
          <a:noFill/>
          <a:ln/>
        </p:spPr>
        <p:txBody>
          <a:bodyPr wrap="none" lIns="0" tIns="0" rIns="0" bIns="0" rtlCol="0" anchor="t"/>
          <a:lstStyle/>
          <a:p>
            <a:pPr algn="l" indent="0" marL="0">
              <a:lnSpc>
                <a:spcPts val="1750"/>
              </a:lnSpc>
              <a:buNone/>
            </a:pPr>
            <a:r>
              <a:rPr lang="en-US" sz="1400" dirty="0">
                <a:solidFill>
                  <a:srgbClr val="DAD8E9"/>
                </a:solidFill>
                <a:latin typeface="Prompt Medium" pitchFamily="34" charset="0"/>
                <a:ea typeface="Prompt Medium" pitchFamily="34" charset="-122"/>
                <a:cs typeface="Prompt Medium" pitchFamily="34" charset="-120"/>
              </a:rPr>
              <a:t>Normalización</a:t>
            </a:r>
            <a:endParaRPr lang="en-US" sz="1400" dirty="0"/>
          </a:p>
        </p:txBody>
      </p:sp>
      <p:sp>
        <p:nvSpPr>
          <p:cNvPr id="9" name="Text 4"/>
          <p:cNvSpPr/>
          <p:nvPr/>
        </p:nvSpPr>
        <p:spPr>
          <a:xfrm>
            <a:off x="1625798" y="4767501"/>
            <a:ext cx="12435602" cy="260152"/>
          </a:xfrm>
          <a:prstGeom prst="rect">
            <a:avLst/>
          </a:prstGeom>
          <a:noFill/>
          <a:ln/>
        </p:spPr>
        <p:txBody>
          <a:bodyPr wrap="none" lIns="0" tIns="0" rIns="0" bIns="0" rtlCol="0" anchor="t"/>
          <a:lstStyle/>
          <a:p>
            <a:pPr algn="l" indent="0" marL="0">
              <a:lnSpc>
                <a:spcPts val="2000"/>
              </a:lnSpc>
              <a:buNone/>
            </a:pPr>
            <a:r>
              <a:rPr lang="en-US" sz="1250" dirty="0">
                <a:solidFill>
                  <a:srgbClr val="DAD8E9"/>
                </a:solidFill>
                <a:latin typeface="Mukta Light" pitchFamily="34" charset="0"/>
                <a:ea typeface="Mukta Light" pitchFamily="34" charset="-122"/>
                <a:cs typeface="Mukta Light" pitchFamily="34" charset="-120"/>
              </a:rPr>
              <a:t>Reduce la redundancia de la base de datos.</a:t>
            </a:r>
            <a:endParaRPr lang="en-US" sz="1250" dirty="0"/>
          </a:p>
        </p:txBody>
      </p:sp>
      <p:pic>
        <p:nvPicPr>
          <p:cNvPr id="10" name="Image 3" descr="preencoded.png">    </p:cNvPr>
          <p:cNvPicPr>
            <a:picLocks noChangeAspect="1"/>
          </p:cNvPicPr>
          <p:nvPr/>
        </p:nvPicPr>
        <p:blipFill>
          <a:blip r:embed="rId4"/>
          <a:stretch>
            <a:fillRect/>
          </a:stretch>
        </p:blipFill>
        <p:spPr>
          <a:xfrm>
            <a:off x="569000" y="5257205"/>
            <a:ext cx="812959" cy="975479"/>
          </a:xfrm>
          <a:prstGeom prst="rect">
            <a:avLst/>
          </a:prstGeom>
        </p:spPr>
      </p:pic>
      <p:sp>
        <p:nvSpPr>
          <p:cNvPr id="11" name="Text 5"/>
          <p:cNvSpPr/>
          <p:nvPr/>
        </p:nvSpPr>
        <p:spPr>
          <a:xfrm>
            <a:off x="1625798" y="5419725"/>
            <a:ext cx="1806535" cy="225743"/>
          </a:xfrm>
          <a:prstGeom prst="rect">
            <a:avLst/>
          </a:prstGeom>
          <a:noFill/>
          <a:ln/>
        </p:spPr>
        <p:txBody>
          <a:bodyPr wrap="none" lIns="0" tIns="0" rIns="0" bIns="0" rtlCol="0" anchor="t"/>
          <a:lstStyle/>
          <a:p>
            <a:pPr algn="l" indent="0" marL="0">
              <a:lnSpc>
                <a:spcPts val="1750"/>
              </a:lnSpc>
              <a:buNone/>
            </a:pPr>
            <a:r>
              <a:rPr lang="en-US" sz="1400" dirty="0">
                <a:solidFill>
                  <a:srgbClr val="DAD8E9"/>
                </a:solidFill>
                <a:latin typeface="Prompt Medium" pitchFamily="34" charset="0"/>
                <a:ea typeface="Prompt Medium" pitchFamily="34" charset="-122"/>
                <a:cs typeface="Prompt Medium" pitchFamily="34" charset="-120"/>
              </a:rPr>
              <a:t>Modelado</a:t>
            </a:r>
            <a:endParaRPr lang="en-US" sz="1400" dirty="0"/>
          </a:p>
        </p:txBody>
      </p:sp>
      <p:sp>
        <p:nvSpPr>
          <p:cNvPr id="12" name="Text 6"/>
          <p:cNvSpPr/>
          <p:nvPr/>
        </p:nvSpPr>
        <p:spPr>
          <a:xfrm>
            <a:off x="1625798" y="5742980"/>
            <a:ext cx="12435602" cy="260152"/>
          </a:xfrm>
          <a:prstGeom prst="rect">
            <a:avLst/>
          </a:prstGeom>
          <a:noFill/>
          <a:ln/>
        </p:spPr>
        <p:txBody>
          <a:bodyPr wrap="none" lIns="0" tIns="0" rIns="0" bIns="0" rtlCol="0" anchor="t"/>
          <a:lstStyle/>
          <a:p>
            <a:pPr algn="l" indent="0" marL="0">
              <a:lnSpc>
                <a:spcPts val="2000"/>
              </a:lnSpc>
              <a:buNone/>
            </a:pPr>
            <a:r>
              <a:rPr lang="en-US" sz="1250" dirty="0">
                <a:solidFill>
                  <a:srgbClr val="DAD8E9"/>
                </a:solidFill>
                <a:latin typeface="Mukta Light" pitchFamily="34" charset="0"/>
                <a:ea typeface="Mukta Light" pitchFamily="34" charset="-122"/>
                <a:cs typeface="Mukta Light" pitchFamily="34" charset="-120"/>
              </a:rPr>
              <a:t>Representa relaciones del mundo real.</a:t>
            </a:r>
            <a:endParaRPr lang="en-US" sz="1250" dirty="0"/>
          </a:p>
        </p:txBody>
      </p:sp>
      <p:pic>
        <p:nvPicPr>
          <p:cNvPr id="13" name="Image 4" descr="preencoded.png">    </p:cNvPr>
          <p:cNvPicPr>
            <a:picLocks noChangeAspect="1"/>
          </p:cNvPicPr>
          <p:nvPr/>
        </p:nvPicPr>
        <p:blipFill>
          <a:blip r:embed="rId5"/>
          <a:stretch>
            <a:fillRect/>
          </a:stretch>
        </p:blipFill>
        <p:spPr>
          <a:xfrm>
            <a:off x="569000" y="6232684"/>
            <a:ext cx="812959" cy="975479"/>
          </a:xfrm>
          <a:prstGeom prst="rect">
            <a:avLst/>
          </a:prstGeom>
        </p:spPr>
      </p:pic>
      <p:sp>
        <p:nvSpPr>
          <p:cNvPr id="14" name="Text 7"/>
          <p:cNvSpPr/>
          <p:nvPr/>
        </p:nvSpPr>
        <p:spPr>
          <a:xfrm>
            <a:off x="1625798" y="6395204"/>
            <a:ext cx="1806535" cy="225743"/>
          </a:xfrm>
          <a:prstGeom prst="rect">
            <a:avLst/>
          </a:prstGeom>
          <a:noFill/>
          <a:ln/>
        </p:spPr>
        <p:txBody>
          <a:bodyPr wrap="none" lIns="0" tIns="0" rIns="0" bIns="0" rtlCol="0" anchor="t"/>
          <a:lstStyle/>
          <a:p>
            <a:pPr algn="l" indent="0" marL="0">
              <a:lnSpc>
                <a:spcPts val="1750"/>
              </a:lnSpc>
              <a:buNone/>
            </a:pPr>
            <a:r>
              <a:rPr lang="en-US" sz="1400" dirty="0">
                <a:solidFill>
                  <a:srgbClr val="DAD8E9"/>
                </a:solidFill>
                <a:latin typeface="Prompt Medium" pitchFamily="34" charset="0"/>
                <a:ea typeface="Prompt Medium" pitchFamily="34" charset="-122"/>
                <a:cs typeface="Prompt Medium" pitchFamily="34" charset="-120"/>
              </a:rPr>
              <a:t>Consultas</a:t>
            </a:r>
            <a:endParaRPr lang="en-US" sz="1400" dirty="0"/>
          </a:p>
        </p:txBody>
      </p:sp>
      <p:sp>
        <p:nvSpPr>
          <p:cNvPr id="15" name="Text 8"/>
          <p:cNvSpPr/>
          <p:nvPr/>
        </p:nvSpPr>
        <p:spPr>
          <a:xfrm>
            <a:off x="1625798" y="6718459"/>
            <a:ext cx="12435602" cy="260152"/>
          </a:xfrm>
          <a:prstGeom prst="rect">
            <a:avLst/>
          </a:prstGeom>
          <a:noFill/>
          <a:ln/>
        </p:spPr>
        <p:txBody>
          <a:bodyPr wrap="none" lIns="0" tIns="0" rIns="0" bIns="0" rtlCol="0" anchor="t"/>
          <a:lstStyle/>
          <a:p>
            <a:pPr algn="l" indent="0" marL="0">
              <a:lnSpc>
                <a:spcPts val="2000"/>
              </a:lnSpc>
              <a:buNone/>
            </a:pPr>
            <a:r>
              <a:rPr lang="en-US" sz="1250" dirty="0">
                <a:solidFill>
                  <a:srgbClr val="DAD8E9"/>
                </a:solidFill>
                <a:latin typeface="Mukta Light" pitchFamily="34" charset="0"/>
                <a:ea typeface="Mukta Light" pitchFamily="34" charset="-122"/>
                <a:cs typeface="Mukta Light" pitchFamily="34" charset="-120"/>
              </a:rPr>
              <a:t>Simplifica uniones de tablas complejas.</a:t>
            </a:r>
            <a:endParaRPr lang="en-US" sz="1250" dirty="0"/>
          </a:p>
        </p:txBody>
      </p:sp>
      <p:sp>
        <p:nvSpPr>
          <p:cNvPr id="16" name="Text 9"/>
          <p:cNvSpPr/>
          <p:nvPr/>
        </p:nvSpPr>
        <p:spPr>
          <a:xfrm>
            <a:off x="569000" y="7391043"/>
            <a:ext cx="13492401" cy="260152"/>
          </a:xfrm>
          <a:prstGeom prst="rect">
            <a:avLst/>
          </a:prstGeom>
          <a:noFill/>
          <a:ln/>
        </p:spPr>
        <p:txBody>
          <a:bodyPr wrap="none" lIns="0" tIns="0" rIns="0" bIns="0" rtlCol="0" anchor="t"/>
          <a:lstStyle/>
          <a:p>
            <a:pPr algn="l" indent="0" marL="0">
              <a:lnSpc>
                <a:spcPts val="2000"/>
              </a:lnSpc>
              <a:buNone/>
            </a:pPr>
            <a:r>
              <a:rPr lang="en-US" sz="1250" dirty="0">
                <a:solidFill>
                  <a:srgbClr val="DAD8E9"/>
                </a:solidFill>
                <a:latin typeface="Mukta Light" pitchFamily="34" charset="0"/>
                <a:ea typeface="Mukta Light" pitchFamily="34" charset="-122"/>
                <a:cs typeface="Mukta Light" pitchFamily="34" charset="-120"/>
              </a:rPr>
              <a:t>Las llaves foráneas mantienen la integridad de los datos. Normalizan la base de datos, reduciendo redundancia. Modelan relaciones entre entidades. Simplifican la unión de tablas.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4037" y="2017395"/>
            <a:ext cx="6240899" cy="685800"/>
          </a:xfrm>
          <a:prstGeom prst="rect">
            <a:avLst/>
          </a:prstGeom>
          <a:noFill/>
          <a:ln/>
        </p:spPr>
        <p:txBody>
          <a:bodyPr wrap="none" lIns="0" tIns="0" rIns="0" bIns="0" rtlCol="0" anchor="t"/>
          <a:lstStyle/>
          <a:p>
            <a:pPr algn="l" indent="0" marL="0">
              <a:lnSpc>
                <a:spcPts val="5400"/>
              </a:lnSpc>
              <a:buNone/>
            </a:pPr>
            <a:r>
              <a:rPr lang="en-US" sz="4300" dirty="0">
                <a:solidFill>
                  <a:srgbClr val="C6BFEE"/>
                </a:solidFill>
                <a:latin typeface="Prompt Medium" pitchFamily="34" charset="0"/>
                <a:ea typeface="Prompt Medium" pitchFamily="34" charset="-122"/>
                <a:cs typeface="Prompt Medium" pitchFamily="34" charset="-120"/>
              </a:rPr>
              <a:t>Relación Uno a Muchos</a:t>
            </a:r>
            <a:endParaRPr lang="en-US" sz="4300" dirty="0"/>
          </a:p>
        </p:txBody>
      </p:sp>
      <p:sp>
        <p:nvSpPr>
          <p:cNvPr id="3" name="Text 1"/>
          <p:cNvSpPr/>
          <p:nvPr/>
        </p:nvSpPr>
        <p:spPr>
          <a:xfrm>
            <a:off x="864037" y="3320296"/>
            <a:ext cx="3162181" cy="342900"/>
          </a:xfrm>
          <a:prstGeom prst="rect">
            <a:avLst/>
          </a:prstGeom>
          <a:noFill/>
          <a:ln/>
        </p:spPr>
        <p:txBody>
          <a:bodyPr wrap="none" lIns="0" tIns="0" rIns="0" bIns="0" rtlCol="0" anchor="t"/>
          <a:lstStyle/>
          <a:p>
            <a:pPr algn="l" indent="0" marL="0">
              <a:lnSpc>
                <a:spcPts val="2700"/>
              </a:lnSpc>
              <a:buNone/>
            </a:pPr>
            <a:r>
              <a:rPr lang="en-US" sz="2150" dirty="0">
                <a:solidFill>
                  <a:srgbClr val="C6BFEE"/>
                </a:solidFill>
                <a:latin typeface="Prompt Medium" pitchFamily="34" charset="0"/>
                <a:ea typeface="Prompt Medium" pitchFamily="34" charset="-122"/>
                <a:cs typeface="Prompt Medium" pitchFamily="34" charset="-120"/>
              </a:rPr>
              <a:t>Un Padre, Muchos Hijos</a:t>
            </a:r>
            <a:endParaRPr lang="en-US" sz="2150" dirty="0"/>
          </a:p>
        </p:txBody>
      </p:sp>
      <p:sp>
        <p:nvSpPr>
          <p:cNvPr id="4" name="Text 2"/>
          <p:cNvSpPr/>
          <p:nvPr/>
        </p:nvSpPr>
        <p:spPr>
          <a:xfrm>
            <a:off x="864037" y="3910013"/>
            <a:ext cx="6150054" cy="395049"/>
          </a:xfrm>
          <a:prstGeom prst="rect">
            <a:avLst/>
          </a:prstGeom>
          <a:noFill/>
          <a:ln/>
        </p:spPr>
        <p:txBody>
          <a:bodyPr wrap="non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Un registro "padre" se asocia con muchos "hijos".</a:t>
            </a:r>
            <a:endParaRPr lang="en-US" sz="1900" dirty="0"/>
          </a:p>
        </p:txBody>
      </p:sp>
      <p:sp>
        <p:nvSpPr>
          <p:cNvPr id="5" name="Text 3"/>
          <p:cNvSpPr/>
          <p:nvPr/>
        </p:nvSpPr>
        <p:spPr>
          <a:xfrm>
            <a:off x="864037" y="4527233"/>
            <a:ext cx="6150054" cy="395049"/>
          </a:xfrm>
          <a:prstGeom prst="rect">
            <a:avLst/>
          </a:prstGeom>
          <a:noFill/>
          <a:ln/>
        </p:spPr>
        <p:txBody>
          <a:bodyPr wrap="non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Por ejemplo, un cliente puede tener múltiples pedidos.</a:t>
            </a:r>
            <a:endParaRPr lang="en-US" sz="1900" dirty="0"/>
          </a:p>
        </p:txBody>
      </p:sp>
      <p:sp>
        <p:nvSpPr>
          <p:cNvPr id="6" name="Text 4"/>
          <p:cNvSpPr/>
          <p:nvPr/>
        </p:nvSpPr>
        <p:spPr>
          <a:xfrm>
            <a:off x="7623929" y="3320296"/>
            <a:ext cx="2909173" cy="342900"/>
          </a:xfrm>
          <a:prstGeom prst="rect">
            <a:avLst/>
          </a:prstGeom>
          <a:noFill/>
          <a:ln/>
        </p:spPr>
        <p:txBody>
          <a:bodyPr wrap="none" lIns="0" tIns="0" rIns="0" bIns="0" rtlCol="0" anchor="t"/>
          <a:lstStyle/>
          <a:p>
            <a:pPr algn="l" indent="0" marL="0">
              <a:lnSpc>
                <a:spcPts val="2700"/>
              </a:lnSpc>
              <a:buNone/>
            </a:pPr>
            <a:r>
              <a:rPr lang="en-US" sz="2150" dirty="0">
                <a:solidFill>
                  <a:srgbClr val="C6BFEE"/>
                </a:solidFill>
                <a:latin typeface="Prompt Medium" pitchFamily="34" charset="0"/>
                <a:ea typeface="Prompt Medium" pitchFamily="34" charset="-122"/>
                <a:cs typeface="Prompt Medium" pitchFamily="34" charset="-120"/>
              </a:rPr>
              <a:t>Clave Foránea en Hija</a:t>
            </a:r>
            <a:endParaRPr lang="en-US" sz="2150" dirty="0"/>
          </a:p>
        </p:txBody>
      </p:sp>
      <p:sp>
        <p:nvSpPr>
          <p:cNvPr id="7" name="Text 5"/>
          <p:cNvSpPr/>
          <p:nvPr/>
        </p:nvSpPr>
        <p:spPr>
          <a:xfrm>
            <a:off x="7623929" y="3910013"/>
            <a:ext cx="6150054" cy="395049"/>
          </a:xfrm>
          <a:prstGeom prst="rect">
            <a:avLst/>
          </a:prstGeom>
          <a:noFill/>
          <a:ln/>
        </p:spPr>
        <p:txBody>
          <a:bodyPr wrap="non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La llave primaria del padre es foránea en la hija.</a:t>
            </a:r>
            <a:endParaRPr lang="en-US" sz="1900" dirty="0"/>
          </a:p>
        </p:txBody>
      </p:sp>
      <p:sp>
        <p:nvSpPr>
          <p:cNvPr id="8" name="Text 6"/>
          <p:cNvSpPr/>
          <p:nvPr/>
        </p:nvSpPr>
        <p:spPr>
          <a:xfrm>
            <a:off x="7623929" y="4527233"/>
            <a:ext cx="6150054" cy="395049"/>
          </a:xfrm>
          <a:prstGeom prst="rect">
            <a:avLst/>
          </a:prstGeom>
          <a:noFill/>
          <a:ln/>
        </p:spPr>
        <p:txBody>
          <a:bodyPr wrap="non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Cliente (id=123) tiene Pedidos (456, 789, 101).</a:t>
            </a:r>
            <a:endParaRPr lang="en-US" sz="1900" dirty="0"/>
          </a:p>
        </p:txBody>
      </p:sp>
      <p:sp>
        <p:nvSpPr>
          <p:cNvPr id="9" name="Text 7"/>
          <p:cNvSpPr/>
          <p:nvPr/>
        </p:nvSpPr>
        <p:spPr>
          <a:xfrm>
            <a:off x="864037" y="5422106"/>
            <a:ext cx="12902327" cy="790099"/>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Esta relación permite que un registro en la tabla "padre" se conecte con varios registros en la tabla "hija". Por ejemplo, un cliente puede realizar muchos pedidos. La llave primaria del cliente se convierte en llave foránea en cada pedido.</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4037" y="2071568"/>
            <a:ext cx="6240899" cy="685800"/>
          </a:xfrm>
          <a:prstGeom prst="rect">
            <a:avLst/>
          </a:prstGeom>
          <a:noFill/>
          <a:ln/>
        </p:spPr>
        <p:txBody>
          <a:bodyPr wrap="none" lIns="0" tIns="0" rIns="0" bIns="0" rtlCol="0" anchor="t"/>
          <a:lstStyle/>
          <a:p>
            <a:pPr algn="l" indent="0" marL="0">
              <a:lnSpc>
                <a:spcPts val="5400"/>
              </a:lnSpc>
              <a:buNone/>
            </a:pPr>
            <a:r>
              <a:rPr lang="en-US" sz="4300" dirty="0">
                <a:solidFill>
                  <a:srgbClr val="C6BFEE"/>
                </a:solidFill>
                <a:latin typeface="Prompt Medium" pitchFamily="34" charset="0"/>
                <a:ea typeface="Prompt Medium" pitchFamily="34" charset="-122"/>
                <a:cs typeface="Prompt Medium" pitchFamily="34" charset="-120"/>
              </a:rPr>
              <a:t>Relación Muchos a Uno</a:t>
            </a:r>
            <a:endParaRPr lang="en-US" sz="4300" dirty="0"/>
          </a:p>
        </p:txBody>
      </p:sp>
      <p:sp>
        <p:nvSpPr>
          <p:cNvPr id="3" name="Text 1"/>
          <p:cNvSpPr/>
          <p:nvPr/>
        </p:nvSpPr>
        <p:spPr>
          <a:xfrm>
            <a:off x="864037" y="3251121"/>
            <a:ext cx="12902327" cy="395049"/>
          </a:xfrm>
          <a:prstGeom prst="rect">
            <a:avLst/>
          </a:prstGeom>
          <a:noFill/>
          <a:ln/>
        </p:spPr>
        <p:txBody>
          <a:bodyPr wrap="none" lIns="0" tIns="0" rIns="0" bIns="0" rtlCol="0" anchor="t"/>
          <a:lstStyle/>
          <a:p>
            <a:pPr algn="l" marL="342900" indent="-342900">
              <a:lnSpc>
                <a:spcPts val="3100"/>
              </a:lnSpc>
              <a:buSzPct val="100000"/>
              <a:buChar char="•"/>
            </a:pPr>
            <a:r>
              <a:rPr lang="en-US" sz="1900" dirty="0">
                <a:solidFill>
                  <a:srgbClr val="DAD8E9"/>
                </a:solidFill>
                <a:latin typeface="Mukta Light" pitchFamily="34" charset="0"/>
                <a:ea typeface="Mukta Light" pitchFamily="34" charset="-122"/>
                <a:cs typeface="Mukta Light" pitchFamily="34" charset="-120"/>
              </a:rPr>
              <a:t>Múltiples "hijos" se vinculan a un "padre".</a:t>
            </a:r>
            <a:endParaRPr lang="en-US" sz="1900" dirty="0"/>
          </a:p>
        </p:txBody>
      </p:sp>
      <p:sp>
        <p:nvSpPr>
          <p:cNvPr id="4" name="Text 2"/>
          <p:cNvSpPr/>
          <p:nvPr/>
        </p:nvSpPr>
        <p:spPr>
          <a:xfrm>
            <a:off x="864037" y="3732490"/>
            <a:ext cx="12902327" cy="395049"/>
          </a:xfrm>
          <a:prstGeom prst="rect">
            <a:avLst/>
          </a:prstGeom>
          <a:noFill/>
          <a:ln/>
        </p:spPr>
        <p:txBody>
          <a:bodyPr wrap="none" lIns="0" tIns="0" rIns="0" bIns="0" rtlCol="0" anchor="t"/>
          <a:lstStyle/>
          <a:p>
            <a:pPr algn="l" marL="342900" indent="-342900">
              <a:lnSpc>
                <a:spcPts val="3100"/>
              </a:lnSpc>
              <a:buSzPct val="100000"/>
              <a:buChar char="•"/>
            </a:pPr>
            <a:r>
              <a:rPr lang="en-US" sz="1900" dirty="0">
                <a:solidFill>
                  <a:srgbClr val="DAD8E9"/>
                </a:solidFill>
                <a:latin typeface="Mukta Light" pitchFamily="34" charset="0"/>
                <a:ea typeface="Mukta Light" pitchFamily="34" charset="-122"/>
                <a:cs typeface="Mukta Light" pitchFamily="34" charset="-120"/>
              </a:rPr>
              <a:t>Varios pedidos pertenecen a un cliente.</a:t>
            </a:r>
            <a:endParaRPr lang="en-US" sz="1900" dirty="0"/>
          </a:p>
        </p:txBody>
      </p:sp>
      <p:sp>
        <p:nvSpPr>
          <p:cNvPr id="5" name="Text 3"/>
          <p:cNvSpPr/>
          <p:nvPr/>
        </p:nvSpPr>
        <p:spPr>
          <a:xfrm>
            <a:off x="864037" y="4213860"/>
            <a:ext cx="12902327" cy="395049"/>
          </a:xfrm>
          <a:prstGeom prst="rect">
            <a:avLst/>
          </a:prstGeom>
          <a:noFill/>
          <a:ln/>
        </p:spPr>
        <p:txBody>
          <a:bodyPr wrap="none" lIns="0" tIns="0" rIns="0" bIns="0" rtlCol="0" anchor="t"/>
          <a:lstStyle/>
          <a:p>
            <a:pPr algn="l" marL="342900" indent="-342900">
              <a:lnSpc>
                <a:spcPts val="3100"/>
              </a:lnSpc>
              <a:buSzPct val="100000"/>
              <a:buChar char="•"/>
            </a:pPr>
            <a:r>
              <a:rPr lang="en-US" sz="1900" dirty="0">
                <a:solidFill>
                  <a:srgbClr val="DAD8E9"/>
                </a:solidFill>
                <a:latin typeface="Mukta Light" pitchFamily="34" charset="0"/>
                <a:ea typeface="Mukta Light" pitchFamily="34" charset="-122"/>
                <a:cs typeface="Mukta Light" pitchFamily="34" charset="-120"/>
              </a:rPr>
              <a:t>La tabla "Pedidos" tiene una llave foránea.</a:t>
            </a:r>
            <a:endParaRPr lang="en-US" sz="1900" dirty="0"/>
          </a:p>
        </p:txBody>
      </p:sp>
      <p:sp>
        <p:nvSpPr>
          <p:cNvPr id="6" name="Text 4"/>
          <p:cNvSpPr/>
          <p:nvPr/>
        </p:nvSpPr>
        <p:spPr>
          <a:xfrm>
            <a:off x="864037" y="4695230"/>
            <a:ext cx="12902327" cy="395049"/>
          </a:xfrm>
          <a:prstGeom prst="rect">
            <a:avLst/>
          </a:prstGeom>
          <a:noFill/>
          <a:ln/>
        </p:spPr>
        <p:txBody>
          <a:bodyPr wrap="none" lIns="0" tIns="0" rIns="0" bIns="0" rtlCol="0" anchor="t"/>
          <a:lstStyle/>
          <a:p>
            <a:pPr algn="l" marL="342900" indent="-342900">
              <a:lnSpc>
                <a:spcPts val="3100"/>
              </a:lnSpc>
              <a:buSzPct val="100000"/>
              <a:buChar char="•"/>
            </a:pPr>
            <a:r>
              <a:rPr lang="en-US" sz="1900" dirty="0">
                <a:solidFill>
                  <a:srgbClr val="DAD8E9"/>
                </a:solidFill>
                <a:latin typeface="Mukta Light" pitchFamily="34" charset="0"/>
                <a:ea typeface="Mukta Light" pitchFamily="34" charset="-122"/>
                <a:cs typeface="Mukta Light" pitchFamily="34" charset="-120"/>
              </a:rPr>
              <a:t>Pedidos (456, 789, 101) son del Cliente (123).</a:t>
            </a:r>
            <a:endParaRPr lang="en-US" sz="1900" dirty="0"/>
          </a:p>
        </p:txBody>
      </p:sp>
      <p:sp>
        <p:nvSpPr>
          <p:cNvPr id="7" name="Text 5"/>
          <p:cNvSpPr/>
          <p:nvPr/>
        </p:nvSpPr>
        <p:spPr>
          <a:xfrm>
            <a:off x="864037" y="5367933"/>
            <a:ext cx="12902327" cy="790099"/>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En esta relación, varios registros "hijos" se conectan a un solo registro "padre". Un pedido puede ser realizado por un solo cliente, pero un cliente puede tener varios pedidos. Es el inverso de la relación uno a muchos.</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437" y="1042392"/>
            <a:ext cx="7415927" cy="1371600"/>
          </a:xfrm>
          <a:prstGeom prst="rect">
            <a:avLst/>
          </a:prstGeom>
          <a:noFill/>
          <a:ln/>
        </p:spPr>
        <p:txBody>
          <a:bodyPr wrap="square" lIns="0" tIns="0" rIns="0" bIns="0" rtlCol="0" anchor="t"/>
          <a:lstStyle/>
          <a:p>
            <a:pPr algn="l" indent="0" marL="0">
              <a:lnSpc>
                <a:spcPts val="5400"/>
              </a:lnSpc>
              <a:buNone/>
            </a:pPr>
            <a:r>
              <a:rPr lang="en-US" sz="4300" dirty="0">
                <a:solidFill>
                  <a:srgbClr val="C6BFEE"/>
                </a:solidFill>
                <a:latin typeface="Prompt Medium" pitchFamily="34" charset="0"/>
                <a:ea typeface="Prompt Medium" pitchFamily="34" charset="-122"/>
                <a:cs typeface="Prompt Medium" pitchFamily="34" charset="-120"/>
              </a:rPr>
              <a:t>Ejemplo Práctico: Clientes y Pedidos</a:t>
            </a:r>
            <a:endParaRPr lang="en-US" sz="4300" dirty="0"/>
          </a:p>
        </p:txBody>
      </p:sp>
      <p:sp>
        <p:nvSpPr>
          <p:cNvPr id="4" name="Shape 1"/>
          <p:cNvSpPr/>
          <p:nvPr/>
        </p:nvSpPr>
        <p:spPr>
          <a:xfrm>
            <a:off x="6350437" y="2784277"/>
            <a:ext cx="7415927" cy="2545080"/>
          </a:xfrm>
          <a:prstGeom prst="roundRect">
            <a:avLst>
              <a:gd name="adj" fmla="val 4074"/>
            </a:avLst>
          </a:prstGeom>
          <a:noFill/>
          <a:ln w="15240">
            <a:solidFill>
              <a:srgbClr val="FFFFFF">
                <a:alpha val="24000"/>
              </a:srgbClr>
            </a:solidFill>
            <a:prstDash val="solid"/>
          </a:ln>
        </p:spPr>
      </p:sp>
      <p:sp>
        <p:nvSpPr>
          <p:cNvPr id="5" name="Shape 2"/>
          <p:cNvSpPr/>
          <p:nvPr/>
        </p:nvSpPr>
        <p:spPr>
          <a:xfrm>
            <a:off x="6365677" y="2799517"/>
            <a:ext cx="7384613" cy="706517"/>
          </a:xfrm>
          <a:prstGeom prst="rect">
            <a:avLst/>
          </a:prstGeom>
          <a:solidFill>
            <a:srgbClr val="FFFFFF">
              <a:alpha val="4000"/>
            </a:srgbClr>
          </a:solidFill>
          <a:ln/>
        </p:spPr>
      </p:sp>
      <p:sp>
        <p:nvSpPr>
          <p:cNvPr id="6" name="Text 3"/>
          <p:cNvSpPr/>
          <p:nvPr/>
        </p:nvSpPr>
        <p:spPr>
          <a:xfrm>
            <a:off x="6613327" y="2955250"/>
            <a:ext cx="1963817" cy="395049"/>
          </a:xfrm>
          <a:prstGeom prst="rect">
            <a:avLst/>
          </a:prstGeom>
          <a:noFill/>
          <a:ln/>
        </p:spPr>
        <p:txBody>
          <a:bodyPr wrap="non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Tabla</a:t>
            </a:r>
            <a:endParaRPr lang="en-US" sz="1900" dirty="0"/>
          </a:p>
        </p:txBody>
      </p:sp>
      <p:sp>
        <p:nvSpPr>
          <p:cNvPr id="7" name="Text 4"/>
          <p:cNvSpPr/>
          <p:nvPr/>
        </p:nvSpPr>
        <p:spPr>
          <a:xfrm>
            <a:off x="9078397" y="2955250"/>
            <a:ext cx="1960007" cy="395049"/>
          </a:xfrm>
          <a:prstGeom prst="rect">
            <a:avLst/>
          </a:prstGeom>
          <a:noFill/>
          <a:ln/>
        </p:spPr>
        <p:txBody>
          <a:bodyPr wrap="non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Columnas Clave</a:t>
            </a:r>
            <a:endParaRPr lang="en-US" sz="1900" dirty="0"/>
          </a:p>
        </p:txBody>
      </p:sp>
      <p:sp>
        <p:nvSpPr>
          <p:cNvPr id="8" name="Text 5"/>
          <p:cNvSpPr/>
          <p:nvPr/>
        </p:nvSpPr>
        <p:spPr>
          <a:xfrm>
            <a:off x="11539657" y="2955250"/>
            <a:ext cx="1963817" cy="395049"/>
          </a:xfrm>
          <a:prstGeom prst="rect">
            <a:avLst/>
          </a:prstGeom>
          <a:noFill/>
          <a:ln/>
        </p:spPr>
        <p:txBody>
          <a:bodyPr wrap="non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Descripción</a:t>
            </a:r>
            <a:endParaRPr lang="en-US" sz="1900" dirty="0"/>
          </a:p>
        </p:txBody>
      </p:sp>
      <p:sp>
        <p:nvSpPr>
          <p:cNvPr id="9" name="Shape 6"/>
          <p:cNvSpPr/>
          <p:nvPr/>
        </p:nvSpPr>
        <p:spPr>
          <a:xfrm>
            <a:off x="6365677" y="3506033"/>
            <a:ext cx="7384613" cy="706517"/>
          </a:xfrm>
          <a:prstGeom prst="rect">
            <a:avLst/>
          </a:prstGeom>
          <a:solidFill>
            <a:srgbClr val="000000">
              <a:alpha val="4000"/>
            </a:srgbClr>
          </a:solidFill>
          <a:ln/>
        </p:spPr>
      </p:sp>
      <p:sp>
        <p:nvSpPr>
          <p:cNvPr id="10" name="Text 7"/>
          <p:cNvSpPr/>
          <p:nvPr/>
        </p:nvSpPr>
        <p:spPr>
          <a:xfrm>
            <a:off x="6613327" y="3661767"/>
            <a:ext cx="1963817" cy="395049"/>
          </a:xfrm>
          <a:prstGeom prst="rect">
            <a:avLst/>
          </a:prstGeom>
          <a:noFill/>
          <a:ln/>
        </p:spPr>
        <p:txBody>
          <a:bodyPr wrap="non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Clientes</a:t>
            </a:r>
            <a:endParaRPr lang="en-US" sz="1900" dirty="0"/>
          </a:p>
        </p:txBody>
      </p:sp>
      <p:sp>
        <p:nvSpPr>
          <p:cNvPr id="11" name="Text 8"/>
          <p:cNvSpPr/>
          <p:nvPr/>
        </p:nvSpPr>
        <p:spPr>
          <a:xfrm>
            <a:off x="9078397" y="3661767"/>
            <a:ext cx="1960007" cy="395049"/>
          </a:xfrm>
          <a:prstGeom prst="rect">
            <a:avLst/>
          </a:prstGeom>
          <a:noFill/>
          <a:ln/>
        </p:spPr>
        <p:txBody>
          <a:bodyPr wrap="non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id_cliente (PK)</a:t>
            </a:r>
            <a:endParaRPr lang="en-US" sz="1900" dirty="0"/>
          </a:p>
        </p:txBody>
      </p:sp>
      <p:sp>
        <p:nvSpPr>
          <p:cNvPr id="12" name="Text 9"/>
          <p:cNvSpPr/>
          <p:nvPr/>
        </p:nvSpPr>
        <p:spPr>
          <a:xfrm>
            <a:off x="11539657" y="3661767"/>
            <a:ext cx="1963817" cy="395049"/>
          </a:xfrm>
          <a:prstGeom prst="rect">
            <a:avLst/>
          </a:prstGeom>
          <a:noFill/>
          <a:ln/>
        </p:spPr>
        <p:txBody>
          <a:bodyPr wrap="non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Datos del cliente.</a:t>
            </a:r>
            <a:endParaRPr lang="en-US" sz="1900" dirty="0"/>
          </a:p>
        </p:txBody>
      </p:sp>
      <p:sp>
        <p:nvSpPr>
          <p:cNvPr id="13" name="Shape 10"/>
          <p:cNvSpPr/>
          <p:nvPr/>
        </p:nvSpPr>
        <p:spPr>
          <a:xfrm>
            <a:off x="6365677" y="4212550"/>
            <a:ext cx="7384613" cy="1101566"/>
          </a:xfrm>
          <a:prstGeom prst="rect">
            <a:avLst/>
          </a:prstGeom>
          <a:solidFill>
            <a:srgbClr val="FFFFFF">
              <a:alpha val="4000"/>
            </a:srgbClr>
          </a:solidFill>
          <a:ln/>
        </p:spPr>
      </p:sp>
      <p:sp>
        <p:nvSpPr>
          <p:cNvPr id="14" name="Text 11"/>
          <p:cNvSpPr/>
          <p:nvPr/>
        </p:nvSpPr>
        <p:spPr>
          <a:xfrm>
            <a:off x="6613327" y="4368284"/>
            <a:ext cx="1963817" cy="395049"/>
          </a:xfrm>
          <a:prstGeom prst="rect">
            <a:avLst/>
          </a:prstGeom>
          <a:noFill/>
          <a:ln/>
        </p:spPr>
        <p:txBody>
          <a:bodyPr wrap="non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Pedidos</a:t>
            </a:r>
            <a:endParaRPr lang="en-US" sz="1900" dirty="0"/>
          </a:p>
        </p:txBody>
      </p:sp>
      <p:sp>
        <p:nvSpPr>
          <p:cNvPr id="15" name="Text 12"/>
          <p:cNvSpPr/>
          <p:nvPr/>
        </p:nvSpPr>
        <p:spPr>
          <a:xfrm>
            <a:off x="9078397" y="4368284"/>
            <a:ext cx="1960007" cy="790099"/>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id_pedido (PK), id_cliente (FK)</a:t>
            </a:r>
            <a:endParaRPr lang="en-US" sz="1900" dirty="0"/>
          </a:p>
        </p:txBody>
      </p:sp>
      <p:sp>
        <p:nvSpPr>
          <p:cNvPr id="16" name="Text 13"/>
          <p:cNvSpPr/>
          <p:nvPr/>
        </p:nvSpPr>
        <p:spPr>
          <a:xfrm>
            <a:off x="11539657" y="4368284"/>
            <a:ext cx="1963817" cy="790099"/>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Detalles de cada pedido.</a:t>
            </a:r>
            <a:endParaRPr lang="en-US" sz="1900" dirty="0"/>
          </a:p>
        </p:txBody>
      </p:sp>
      <p:sp>
        <p:nvSpPr>
          <p:cNvPr id="17" name="Text 14"/>
          <p:cNvSpPr/>
          <p:nvPr/>
        </p:nvSpPr>
        <p:spPr>
          <a:xfrm>
            <a:off x="6350437" y="5607010"/>
            <a:ext cx="7415927" cy="1580198"/>
          </a:xfrm>
          <a:prstGeom prst="rect">
            <a:avLst/>
          </a:prstGeom>
          <a:noFill/>
          <a:ln/>
        </p:spPr>
        <p:txBody>
          <a:bodyPr wrap="square" lIns="0" tIns="0" rIns="0" bIns="0" rtlCol="0" anchor="t"/>
          <a:lstStyle/>
          <a:p>
            <a:pPr algn="l" indent="0" marL="0">
              <a:lnSpc>
                <a:spcPts val="3100"/>
              </a:lnSpc>
              <a:buNone/>
            </a:pPr>
            <a:r>
              <a:rPr lang="en-US" sz="1900" dirty="0">
                <a:solidFill>
                  <a:srgbClr val="DAD8E9"/>
                </a:solidFill>
                <a:latin typeface="Mukta Light" pitchFamily="34" charset="0"/>
                <a:ea typeface="Mukta Light" pitchFamily="34" charset="-122"/>
                <a:cs typeface="Mukta Light" pitchFamily="34" charset="-120"/>
              </a:rPr>
              <a:t>La tabla "Clientes" contiene los datos de cada cliente. La tabla "Pedidos" registra cada orden. La columna "id_cliente" en "Pedidos" es la llave foránea. Esta llave foránea conecta cada pedido con su cliente correspondiente.</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02799" y="563285"/>
            <a:ext cx="7711202" cy="1137047"/>
          </a:xfrm>
          <a:prstGeom prst="rect">
            <a:avLst/>
          </a:prstGeom>
          <a:noFill/>
          <a:ln/>
        </p:spPr>
        <p:txBody>
          <a:bodyPr wrap="square" lIns="0" tIns="0" rIns="0" bIns="0" rtlCol="0" anchor="t"/>
          <a:lstStyle/>
          <a:p>
            <a:pPr algn="l" indent="0" marL="0">
              <a:lnSpc>
                <a:spcPts val="4450"/>
              </a:lnSpc>
              <a:buNone/>
            </a:pPr>
            <a:r>
              <a:rPr lang="en-US" sz="3550" dirty="0">
                <a:solidFill>
                  <a:srgbClr val="C6BFEE"/>
                </a:solidFill>
                <a:latin typeface="Prompt Medium" pitchFamily="34" charset="0"/>
                <a:ea typeface="Prompt Medium" pitchFamily="34" charset="-122"/>
                <a:cs typeface="Prompt Medium" pitchFamily="34" charset="-120"/>
              </a:rPr>
              <a:t>Beneficios de Usar Llaves Foráneas</a:t>
            </a:r>
            <a:endParaRPr lang="en-US" sz="3550" dirty="0"/>
          </a:p>
        </p:txBody>
      </p:sp>
      <p:sp>
        <p:nvSpPr>
          <p:cNvPr id="4" name="Shape 1"/>
          <p:cNvSpPr/>
          <p:nvPr/>
        </p:nvSpPr>
        <p:spPr>
          <a:xfrm>
            <a:off x="6202799" y="2007275"/>
            <a:ext cx="460534" cy="460534"/>
          </a:xfrm>
          <a:prstGeom prst="roundRect">
            <a:avLst>
              <a:gd name="adj" fmla="val 18668"/>
            </a:avLst>
          </a:prstGeom>
          <a:solidFill>
            <a:srgbClr val="542C49"/>
          </a:solidFill>
          <a:ln w="7620">
            <a:solidFill>
              <a:srgbClr val="6D4562"/>
            </a:solidFill>
            <a:prstDash val="solid"/>
          </a:ln>
        </p:spPr>
      </p:sp>
      <p:pic>
        <p:nvPicPr>
          <p:cNvPr id="5" name="Image 1" descr="preencoded.png">    </p:cNvPr>
          <p:cNvPicPr>
            <a:picLocks noChangeAspect="1"/>
          </p:cNvPicPr>
          <p:nvPr/>
        </p:nvPicPr>
        <p:blipFill>
          <a:blip r:embed="rId2"/>
          <a:stretch>
            <a:fillRect/>
          </a:stretch>
        </p:blipFill>
        <p:spPr>
          <a:xfrm>
            <a:off x="6296620" y="2066985"/>
            <a:ext cx="272891" cy="341114"/>
          </a:xfrm>
          <a:prstGeom prst="rect">
            <a:avLst/>
          </a:prstGeom>
        </p:spPr>
      </p:pic>
      <p:sp>
        <p:nvSpPr>
          <p:cNvPr id="6" name="Text 2"/>
          <p:cNvSpPr/>
          <p:nvPr/>
        </p:nvSpPr>
        <p:spPr>
          <a:xfrm>
            <a:off x="6868001" y="2077522"/>
            <a:ext cx="2274332" cy="284202"/>
          </a:xfrm>
          <a:prstGeom prst="rect">
            <a:avLst/>
          </a:prstGeom>
          <a:noFill/>
          <a:ln/>
        </p:spPr>
        <p:txBody>
          <a:bodyPr wrap="none" lIns="0" tIns="0" rIns="0" bIns="0" rtlCol="0" anchor="t"/>
          <a:lstStyle/>
          <a:p>
            <a:pPr algn="l" indent="0" marL="0">
              <a:lnSpc>
                <a:spcPts val="2200"/>
              </a:lnSpc>
              <a:buNone/>
            </a:pPr>
            <a:r>
              <a:rPr lang="en-US" sz="1750" dirty="0">
                <a:solidFill>
                  <a:srgbClr val="DAD8E9"/>
                </a:solidFill>
                <a:latin typeface="Prompt Medium" pitchFamily="34" charset="0"/>
                <a:ea typeface="Prompt Medium" pitchFamily="34" charset="-122"/>
                <a:cs typeface="Prompt Medium" pitchFamily="34" charset="-120"/>
              </a:rPr>
              <a:t>Mayor Integridad</a:t>
            </a:r>
            <a:endParaRPr lang="en-US" sz="1750" dirty="0"/>
          </a:p>
        </p:txBody>
      </p:sp>
      <p:sp>
        <p:nvSpPr>
          <p:cNvPr id="7" name="Text 3"/>
          <p:cNvSpPr/>
          <p:nvPr/>
        </p:nvSpPr>
        <p:spPr>
          <a:xfrm>
            <a:off x="6868001" y="2484477"/>
            <a:ext cx="7046000" cy="327422"/>
          </a:xfrm>
          <a:prstGeom prst="rect">
            <a:avLst/>
          </a:prstGeom>
          <a:noFill/>
          <a:ln/>
        </p:spPr>
        <p:txBody>
          <a:bodyPr wrap="none" lIns="0" tIns="0" rIns="0" bIns="0" rtlCol="0" anchor="t"/>
          <a:lstStyle/>
          <a:p>
            <a:pPr algn="l" indent="0" marL="0">
              <a:lnSpc>
                <a:spcPts val="2550"/>
              </a:lnSpc>
              <a:buNone/>
            </a:pPr>
            <a:r>
              <a:rPr lang="en-US" sz="1600" dirty="0">
                <a:solidFill>
                  <a:srgbClr val="DAD8E9"/>
                </a:solidFill>
                <a:latin typeface="Mukta Light" pitchFamily="34" charset="0"/>
                <a:ea typeface="Mukta Light" pitchFamily="34" charset="-122"/>
                <a:cs typeface="Mukta Light" pitchFamily="34" charset="-120"/>
              </a:rPr>
              <a:t>Mejoran la fiabilidad de los datos.</a:t>
            </a:r>
            <a:endParaRPr lang="en-US" sz="1600" dirty="0"/>
          </a:p>
        </p:txBody>
      </p:sp>
      <p:sp>
        <p:nvSpPr>
          <p:cNvPr id="8" name="Shape 4"/>
          <p:cNvSpPr/>
          <p:nvPr/>
        </p:nvSpPr>
        <p:spPr>
          <a:xfrm>
            <a:off x="6202799" y="3221236"/>
            <a:ext cx="460534" cy="460534"/>
          </a:xfrm>
          <a:prstGeom prst="roundRect">
            <a:avLst>
              <a:gd name="adj" fmla="val 18668"/>
            </a:avLst>
          </a:prstGeom>
          <a:solidFill>
            <a:srgbClr val="542C49"/>
          </a:solidFill>
          <a:ln w="7620">
            <a:solidFill>
              <a:srgbClr val="6D4562"/>
            </a:solidFill>
            <a:prstDash val="solid"/>
          </a:ln>
        </p:spPr>
      </p:sp>
      <p:pic>
        <p:nvPicPr>
          <p:cNvPr id="9" name="Image 2" descr="preencoded.png">    </p:cNvPr>
          <p:cNvPicPr>
            <a:picLocks noChangeAspect="1"/>
          </p:cNvPicPr>
          <p:nvPr/>
        </p:nvPicPr>
        <p:blipFill>
          <a:blip r:embed="rId3"/>
          <a:stretch>
            <a:fillRect/>
          </a:stretch>
        </p:blipFill>
        <p:spPr>
          <a:xfrm>
            <a:off x="6296620" y="3280946"/>
            <a:ext cx="272891" cy="341114"/>
          </a:xfrm>
          <a:prstGeom prst="rect">
            <a:avLst/>
          </a:prstGeom>
        </p:spPr>
      </p:pic>
      <p:sp>
        <p:nvSpPr>
          <p:cNvPr id="10" name="Text 5"/>
          <p:cNvSpPr/>
          <p:nvPr/>
        </p:nvSpPr>
        <p:spPr>
          <a:xfrm>
            <a:off x="6868001" y="3291483"/>
            <a:ext cx="2274332" cy="284202"/>
          </a:xfrm>
          <a:prstGeom prst="rect">
            <a:avLst/>
          </a:prstGeom>
          <a:noFill/>
          <a:ln/>
        </p:spPr>
        <p:txBody>
          <a:bodyPr wrap="none" lIns="0" tIns="0" rIns="0" bIns="0" rtlCol="0" anchor="t"/>
          <a:lstStyle/>
          <a:p>
            <a:pPr algn="l" indent="0" marL="0">
              <a:lnSpc>
                <a:spcPts val="2200"/>
              </a:lnSpc>
              <a:buNone/>
            </a:pPr>
            <a:r>
              <a:rPr lang="en-US" sz="1750" dirty="0">
                <a:solidFill>
                  <a:srgbClr val="DAD8E9"/>
                </a:solidFill>
                <a:latin typeface="Prompt Medium" pitchFamily="34" charset="0"/>
                <a:ea typeface="Prompt Medium" pitchFamily="34" charset="-122"/>
                <a:cs typeface="Prompt Medium" pitchFamily="34" charset="-120"/>
              </a:rPr>
              <a:t>Consultas Claras</a:t>
            </a:r>
            <a:endParaRPr lang="en-US" sz="1750" dirty="0"/>
          </a:p>
        </p:txBody>
      </p:sp>
      <p:sp>
        <p:nvSpPr>
          <p:cNvPr id="11" name="Text 6"/>
          <p:cNvSpPr/>
          <p:nvPr/>
        </p:nvSpPr>
        <p:spPr>
          <a:xfrm>
            <a:off x="6868001" y="3698438"/>
            <a:ext cx="7046000" cy="327422"/>
          </a:xfrm>
          <a:prstGeom prst="rect">
            <a:avLst/>
          </a:prstGeom>
          <a:noFill/>
          <a:ln/>
        </p:spPr>
        <p:txBody>
          <a:bodyPr wrap="none" lIns="0" tIns="0" rIns="0" bIns="0" rtlCol="0" anchor="t"/>
          <a:lstStyle/>
          <a:p>
            <a:pPr algn="l" indent="0" marL="0">
              <a:lnSpc>
                <a:spcPts val="2550"/>
              </a:lnSpc>
              <a:buNone/>
            </a:pPr>
            <a:r>
              <a:rPr lang="en-US" sz="1600" dirty="0">
                <a:solidFill>
                  <a:srgbClr val="DAD8E9"/>
                </a:solidFill>
                <a:latin typeface="Mukta Light" pitchFamily="34" charset="0"/>
                <a:ea typeface="Mukta Light" pitchFamily="34" charset="-122"/>
                <a:cs typeface="Mukta Light" pitchFamily="34" charset="-120"/>
              </a:rPr>
              <a:t>Hacen las consultas más fáciles.</a:t>
            </a:r>
            <a:endParaRPr lang="en-US" sz="1600" dirty="0"/>
          </a:p>
        </p:txBody>
      </p:sp>
      <p:sp>
        <p:nvSpPr>
          <p:cNvPr id="12" name="Shape 7"/>
          <p:cNvSpPr/>
          <p:nvPr/>
        </p:nvSpPr>
        <p:spPr>
          <a:xfrm>
            <a:off x="6202799" y="4435197"/>
            <a:ext cx="460534" cy="460534"/>
          </a:xfrm>
          <a:prstGeom prst="roundRect">
            <a:avLst>
              <a:gd name="adj" fmla="val 18668"/>
            </a:avLst>
          </a:prstGeom>
          <a:solidFill>
            <a:srgbClr val="542C49"/>
          </a:solidFill>
          <a:ln w="7620">
            <a:solidFill>
              <a:srgbClr val="6D4562"/>
            </a:solidFill>
            <a:prstDash val="solid"/>
          </a:ln>
        </p:spPr>
      </p:sp>
      <p:pic>
        <p:nvPicPr>
          <p:cNvPr id="13" name="Image 3" descr="preencoded.png">    </p:cNvPr>
          <p:cNvPicPr>
            <a:picLocks noChangeAspect="1"/>
          </p:cNvPicPr>
          <p:nvPr/>
        </p:nvPicPr>
        <p:blipFill>
          <a:blip r:embed="rId4"/>
          <a:stretch>
            <a:fillRect/>
          </a:stretch>
        </p:blipFill>
        <p:spPr>
          <a:xfrm>
            <a:off x="6296620" y="4494907"/>
            <a:ext cx="272891" cy="341114"/>
          </a:xfrm>
          <a:prstGeom prst="rect">
            <a:avLst/>
          </a:prstGeom>
        </p:spPr>
      </p:pic>
      <p:sp>
        <p:nvSpPr>
          <p:cNvPr id="14" name="Text 8"/>
          <p:cNvSpPr/>
          <p:nvPr/>
        </p:nvSpPr>
        <p:spPr>
          <a:xfrm>
            <a:off x="6868001" y="4505444"/>
            <a:ext cx="2274332" cy="284202"/>
          </a:xfrm>
          <a:prstGeom prst="rect">
            <a:avLst/>
          </a:prstGeom>
          <a:noFill/>
          <a:ln/>
        </p:spPr>
        <p:txBody>
          <a:bodyPr wrap="none" lIns="0" tIns="0" rIns="0" bIns="0" rtlCol="0" anchor="t"/>
          <a:lstStyle/>
          <a:p>
            <a:pPr algn="l" indent="0" marL="0">
              <a:lnSpc>
                <a:spcPts val="2200"/>
              </a:lnSpc>
              <a:buNone/>
            </a:pPr>
            <a:r>
              <a:rPr lang="en-US" sz="1750" dirty="0">
                <a:solidFill>
                  <a:srgbClr val="DAD8E9"/>
                </a:solidFill>
                <a:latin typeface="Prompt Medium" pitchFamily="34" charset="0"/>
                <a:ea typeface="Prompt Medium" pitchFamily="34" charset="-122"/>
                <a:cs typeface="Prompt Medium" pitchFamily="34" charset="-120"/>
              </a:rPr>
              <a:t>Modelado Preciso</a:t>
            </a:r>
            <a:endParaRPr lang="en-US" sz="1750" dirty="0"/>
          </a:p>
        </p:txBody>
      </p:sp>
      <p:sp>
        <p:nvSpPr>
          <p:cNvPr id="15" name="Text 9"/>
          <p:cNvSpPr/>
          <p:nvPr/>
        </p:nvSpPr>
        <p:spPr>
          <a:xfrm>
            <a:off x="6868001" y="4912400"/>
            <a:ext cx="7046000" cy="327422"/>
          </a:xfrm>
          <a:prstGeom prst="rect">
            <a:avLst/>
          </a:prstGeom>
          <a:noFill/>
          <a:ln/>
        </p:spPr>
        <p:txBody>
          <a:bodyPr wrap="none" lIns="0" tIns="0" rIns="0" bIns="0" rtlCol="0" anchor="t"/>
          <a:lstStyle/>
          <a:p>
            <a:pPr algn="l" indent="0" marL="0">
              <a:lnSpc>
                <a:spcPts val="2550"/>
              </a:lnSpc>
              <a:buNone/>
            </a:pPr>
            <a:r>
              <a:rPr lang="en-US" sz="1600" dirty="0">
                <a:solidFill>
                  <a:srgbClr val="DAD8E9"/>
                </a:solidFill>
                <a:latin typeface="Mukta Light" pitchFamily="34" charset="0"/>
                <a:ea typeface="Mukta Light" pitchFamily="34" charset="-122"/>
                <a:cs typeface="Mukta Light" pitchFamily="34" charset="-120"/>
              </a:rPr>
              <a:t>Representan relaciones fielmente.</a:t>
            </a:r>
            <a:endParaRPr lang="en-US" sz="1600" dirty="0"/>
          </a:p>
        </p:txBody>
      </p:sp>
      <p:sp>
        <p:nvSpPr>
          <p:cNvPr id="16" name="Shape 10"/>
          <p:cNvSpPr/>
          <p:nvPr/>
        </p:nvSpPr>
        <p:spPr>
          <a:xfrm>
            <a:off x="6202799" y="5649158"/>
            <a:ext cx="460534" cy="460534"/>
          </a:xfrm>
          <a:prstGeom prst="roundRect">
            <a:avLst>
              <a:gd name="adj" fmla="val 18668"/>
            </a:avLst>
          </a:prstGeom>
          <a:solidFill>
            <a:srgbClr val="542C49"/>
          </a:solidFill>
          <a:ln w="7620">
            <a:solidFill>
              <a:srgbClr val="6D4562"/>
            </a:solidFill>
            <a:prstDash val="solid"/>
          </a:ln>
        </p:spPr>
      </p:sp>
      <p:pic>
        <p:nvPicPr>
          <p:cNvPr id="17" name="Image 4" descr="preencoded.png">    </p:cNvPr>
          <p:cNvPicPr>
            <a:picLocks noChangeAspect="1"/>
          </p:cNvPicPr>
          <p:nvPr/>
        </p:nvPicPr>
        <p:blipFill>
          <a:blip r:embed="rId5"/>
          <a:stretch>
            <a:fillRect/>
          </a:stretch>
        </p:blipFill>
        <p:spPr>
          <a:xfrm>
            <a:off x="6296620" y="5708868"/>
            <a:ext cx="272891" cy="341114"/>
          </a:xfrm>
          <a:prstGeom prst="rect">
            <a:avLst/>
          </a:prstGeom>
        </p:spPr>
      </p:pic>
      <p:sp>
        <p:nvSpPr>
          <p:cNvPr id="18" name="Text 11"/>
          <p:cNvSpPr/>
          <p:nvPr/>
        </p:nvSpPr>
        <p:spPr>
          <a:xfrm>
            <a:off x="6868001" y="5719405"/>
            <a:ext cx="2274332" cy="284202"/>
          </a:xfrm>
          <a:prstGeom prst="rect">
            <a:avLst/>
          </a:prstGeom>
          <a:noFill/>
          <a:ln/>
        </p:spPr>
        <p:txBody>
          <a:bodyPr wrap="none" lIns="0" tIns="0" rIns="0" bIns="0" rtlCol="0" anchor="t"/>
          <a:lstStyle/>
          <a:p>
            <a:pPr algn="l" indent="0" marL="0">
              <a:lnSpc>
                <a:spcPts val="2200"/>
              </a:lnSpc>
              <a:buNone/>
            </a:pPr>
            <a:r>
              <a:rPr lang="en-US" sz="1750" dirty="0">
                <a:solidFill>
                  <a:srgbClr val="DAD8E9"/>
                </a:solidFill>
                <a:latin typeface="Prompt Medium" pitchFamily="34" charset="0"/>
                <a:ea typeface="Prompt Medium" pitchFamily="34" charset="-122"/>
                <a:cs typeface="Prompt Medium" pitchFamily="34" charset="-120"/>
              </a:rPr>
              <a:t>Menos Errores</a:t>
            </a:r>
            <a:endParaRPr lang="en-US" sz="1750" dirty="0"/>
          </a:p>
        </p:txBody>
      </p:sp>
      <p:sp>
        <p:nvSpPr>
          <p:cNvPr id="19" name="Text 12"/>
          <p:cNvSpPr/>
          <p:nvPr/>
        </p:nvSpPr>
        <p:spPr>
          <a:xfrm>
            <a:off x="6868001" y="6126361"/>
            <a:ext cx="7046000" cy="327422"/>
          </a:xfrm>
          <a:prstGeom prst="rect">
            <a:avLst/>
          </a:prstGeom>
          <a:noFill/>
          <a:ln/>
        </p:spPr>
        <p:txBody>
          <a:bodyPr wrap="none" lIns="0" tIns="0" rIns="0" bIns="0" rtlCol="0" anchor="t"/>
          <a:lstStyle/>
          <a:p>
            <a:pPr algn="l" indent="0" marL="0">
              <a:lnSpc>
                <a:spcPts val="2550"/>
              </a:lnSpc>
              <a:buNone/>
            </a:pPr>
            <a:r>
              <a:rPr lang="en-US" sz="1600" dirty="0">
                <a:solidFill>
                  <a:srgbClr val="DAD8E9"/>
                </a:solidFill>
                <a:latin typeface="Mukta Light" pitchFamily="34" charset="0"/>
                <a:ea typeface="Mukta Light" pitchFamily="34" charset="-122"/>
                <a:cs typeface="Mukta Light" pitchFamily="34" charset="-120"/>
              </a:rPr>
              <a:t>Reducen inconsistencias y fallos.</a:t>
            </a:r>
            <a:endParaRPr lang="en-US" sz="1600" dirty="0"/>
          </a:p>
        </p:txBody>
      </p:sp>
      <p:sp>
        <p:nvSpPr>
          <p:cNvPr id="20" name="Text 13"/>
          <p:cNvSpPr/>
          <p:nvPr/>
        </p:nvSpPr>
        <p:spPr>
          <a:xfrm>
            <a:off x="6202799" y="6684050"/>
            <a:ext cx="7711202" cy="982266"/>
          </a:xfrm>
          <a:prstGeom prst="rect">
            <a:avLst/>
          </a:prstGeom>
          <a:noFill/>
          <a:ln/>
        </p:spPr>
        <p:txBody>
          <a:bodyPr wrap="square" lIns="0" tIns="0" rIns="0" bIns="0" rtlCol="0" anchor="t"/>
          <a:lstStyle/>
          <a:p>
            <a:pPr algn="l" indent="0" marL="0">
              <a:lnSpc>
                <a:spcPts val="2550"/>
              </a:lnSpc>
              <a:buNone/>
            </a:pPr>
            <a:r>
              <a:rPr lang="en-US" sz="1600" dirty="0">
                <a:solidFill>
                  <a:srgbClr val="DAD8E9"/>
                </a:solidFill>
                <a:latin typeface="Mukta Light" pitchFamily="34" charset="0"/>
                <a:ea typeface="Mukta Light" pitchFamily="34" charset="-122"/>
                <a:cs typeface="Mukta Light" pitchFamily="34" charset="-120"/>
              </a:rPr>
              <a:t>El uso de llaves foráneas asegura la calidad de los datos. Permiten un modelado preciso de las relaciones. Reducen significativamente los errores. Hacen las consultas de la base de datos más eficientes.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0433"/>
          </a:xfrm>
          <a:prstGeom prst="rect">
            <a:avLst/>
          </a:prstGeom>
        </p:spPr>
      </p:pic>
      <p:sp>
        <p:nvSpPr>
          <p:cNvPr id="3" name="Text 0"/>
          <p:cNvSpPr/>
          <p:nvPr/>
        </p:nvSpPr>
        <p:spPr>
          <a:xfrm>
            <a:off x="6294358" y="634841"/>
            <a:ext cx="5130046" cy="641271"/>
          </a:xfrm>
          <a:prstGeom prst="rect">
            <a:avLst/>
          </a:prstGeom>
          <a:noFill/>
          <a:ln/>
        </p:spPr>
        <p:txBody>
          <a:bodyPr wrap="none" lIns="0" tIns="0" rIns="0" bIns="0" rtlCol="0" anchor="t"/>
          <a:lstStyle/>
          <a:p>
            <a:pPr algn="l" indent="0" marL="0">
              <a:lnSpc>
                <a:spcPts val="5000"/>
              </a:lnSpc>
              <a:buNone/>
            </a:pPr>
            <a:r>
              <a:rPr lang="en-US" sz="4000" dirty="0">
                <a:solidFill>
                  <a:srgbClr val="C6BFEE"/>
                </a:solidFill>
                <a:latin typeface="Prompt Medium" pitchFamily="34" charset="0"/>
                <a:ea typeface="Prompt Medium" pitchFamily="34" charset="-122"/>
                <a:cs typeface="Prompt Medium" pitchFamily="34" charset="-120"/>
              </a:rPr>
              <a:t>Conclusiones</a:t>
            </a:r>
            <a:endParaRPr lang="en-US" sz="4000" dirty="0"/>
          </a:p>
        </p:txBody>
      </p:sp>
      <p:sp>
        <p:nvSpPr>
          <p:cNvPr id="4" name="Shape 1"/>
          <p:cNvSpPr/>
          <p:nvPr/>
        </p:nvSpPr>
        <p:spPr>
          <a:xfrm>
            <a:off x="6294358" y="1622346"/>
            <a:ext cx="173117" cy="828318"/>
          </a:xfrm>
          <a:prstGeom prst="roundRect">
            <a:avLst>
              <a:gd name="adj" fmla="val 56008"/>
            </a:avLst>
          </a:prstGeom>
          <a:solidFill>
            <a:srgbClr val="542C49"/>
          </a:solidFill>
          <a:ln w="7620">
            <a:solidFill>
              <a:srgbClr val="6D4562"/>
            </a:solidFill>
            <a:prstDash val="solid"/>
          </a:ln>
        </p:spPr>
      </p:sp>
      <p:sp>
        <p:nvSpPr>
          <p:cNvPr id="5" name="Text 2"/>
          <p:cNvSpPr/>
          <p:nvPr/>
        </p:nvSpPr>
        <p:spPr>
          <a:xfrm>
            <a:off x="6813709" y="1622346"/>
            <a:ext cx="2564963" cy="320516"/>
          </a:xfrm>
          <a:prstGeom prst="rect">
            <a:avLst/>
          </a:prstGeom>
          <a:noFill/>
          <a:ln/>
        </p:spPr>
        <p:txBody>
          <a:bodyPr wrap="none" lIns="0" tIns="0" rIns="0" bIns="0" rtlCol="0" anchor="t"/>
          <a:lstStyle/>
          <a:p>
            <a:pPr algn="l" indent="0" marL="0">
              <a:lnSpc>
                <a:spcPts val="2500"/>
              </a:lnSpc>
              <a:buNone/>
            </a:pPr>
            <a:r>
              <a:rPr lang="en-US" sz="2000" dirty="0">
                <a:solidFill>
                  <a:srgbClr val="DAD8E9"/>
                </a:solidFill>
                <a:latin typeface="Prompt Medium" pitchFamily="34" charset="0"/>
                <a:ea typeface="Prompt Medium" pitchFamily="34" charset="-122"/>
                <a:cs typeface="Prompt Medium" pitchFamily="34" charset="-120"/>
              </a:rPr>
              <a:t>Diseño Esencial</a:t>
            </a:r>
            <a:endParaRPr lang="en-US" sz="2000" dirty="0"/>
          </a:p>
        </p:txBody>
      </p:sp>
      <p:sp>
        <p:nvSpPr>
          <p:cNvPr id="6" name="Text 3"/>
          <p:cNvSpPr/>
          <p:nvPr/>
        </p:nvSpPr>
        <p:spPr>
          <a:xfrm>
            <a:off x="6813709" y="2081332"/>
            <a:ext cx="7008733" cy="369332"/>
          </a:xfrm>
          <a:prstGeom prst="rect">
            <a:avLst/>
          </a:prstGeom>
          <a:noFill/>
          <a:ln/>
        </p:spPr>
        <p:txBody>
          <a:bodyPr wrap="none" lIns="0" tIns="0" rIns="0" bIns="0" rtlCol="0" anchor="t"/>
          <a:lstStyle/>
          <a:p>
            <a:pPr algn="l" indent="0" marL="0">
              <a:lnSpc>
                <a:spcPts val="2900"/>
              </a:lnSpc>
              <a:buNone/>
            </a:pPr>
            <a:r>
              <a:rPr lang="en-US" sz="1800" dirty="0">
                <a:solidFill>
                  <a:srgbClr val="DAD8E9"/>
                </a:solidFill>
                <a:latin typeface="Mukta Light" pitchFamily="34" charset="0"/>
                <a:ea typeface="Mukta Light" pitchFamily="34" charset="-122"/>
                <a:cs typeface="Mukta Light" pitchFamily="34" charset="-120"/>
              </a:rPr>
              <a:t>Son vitales para bases de datos relacionales.</a:t>
            </a:r>
            <a:endParaRPr lang="en-US" sz="1800" dirty="0"/>
          </a:p>
        </p:txBody>
      </p:sp>
      <p:sp>
        <p:nvSpPr>
          <p:cNvPr id="7" name="Shape 4"/>
          <p:cNvSpPr/>
          <p:nvPr/>
        </p:nvSpPr>
        <p:spPr>
          <a:xfrm>
            <a:off x="6640592" y="2681407"/>
            <a:ext cx="173117" cy="828318"/>
          </a:xfrm>
          <a:prstGeom prst="roundRect">
            <a:avLst>
              <a:gd name="adj" fmla="val 56008"/>
            </a:avLst>
          </a:prstGeom>
          <a:solidFill>
            <a:srgbClr val="542C49"/>
          </a:solidFill>
          <a:ln w="7620">
            <a:solidFill>
              <a:srgbClr val="6D4562"/>
            </a:solidFill>
            <a:prstDash val="solid"/>
          </a:ln>
        </p:spPr>
      </p:sp>
      <p:sp>
        <p:nvSpPr>
          <p:cNvPr id="8" name="Text 5"/>
          <p:cNvSpPr/>
          <p:nvPr/>
        </p:nvSpPr>
        <p:spPr>
          <a:xfrm>
            <a:off x="7159943" y="2681407"/>
            <a:ext cx="2564963" cy="320516"/>
          </a:xfrm>
          <a:prstGeom prst="rect">
            <a:avLst/>
          </a:prstGeom>
          <a:noFill/>
          <a:ln/>
        </p:spPr>
        <p:txBody>
          <a:bodyPr wrap="none" lIns="0" tIns="0" rIns="0" bIns="0" rtlCol="0" anchor="t"/>
          <a:lstStyle/>
          <a:p>
            <a:pPr algn="l" indent="0" marL="0">
              <a:lnSpc>
                <a:spcPts val="2500"/>
              </a:lnSpc>
              <a:buNone/>
            </a:pPr>
            <a:r>
              <a:rPr lang="en-US" sz="2000" dirty="0">
                <a:solidFill>
                  <a:srgbClr val="DAD8E9"/>
                </a:solidFill>
                <a:latin typeface="Prompt Medium" pitchFamily="34" charset="0"/>
                <a:ea typeface="Prompt Medium" pitchFamily="34" charset="-122"/>
                <a:cs typeface="Prompt Medium" pitchFamily="34" charset="-120"/>
              </a:rPr>
              <a:t>Modelado Eficiente</a:t>
            </a:r>
            <a:endParaRPr lang="en-US" sz="2000" dirty="0"/>
          </a:p>
        </p:txBody>
      </p:sp>
      <p:sp>
        <p:nvSpPr>
          <p:cNvPr id="9" name="Text 6"/>
          <p:cNvSpPr/>
          <p:nvPr/>
        </p:nvSpPr>
        <p:spPr>
          <a:xfrm>
            <a:off x="7159943" y="3140393"/>
            <a:ext cx="6662499" cy="369332"/>
          </a:xfrm>
          <a:prstGeom prst="rect">
            <a:avLst/>
          </a:prstGeom>
          <a:noFill/>
          <a:ln/>
        </p:spPr>
        <p:txBody>
          <a:bodyPr wrap="none" lIns="0" tIns="0" rIns="0" bIns="0" rtlCol="0" anchor="t"/>
          <a:lstStyle/>
          <a:p>
            <a:pPr algn="l" indent="0" marL="0">
              <a:lnSpc>
                <a:spcPts val="2900"/>
              </a:lnSpc>
              <a:buNone/>
            </a:pPr>
            <a:r>
              <a:rPr lang="en-US" sz="1800" dirty="0">
                <a:solidFill>
                  <a:srgbClr val="DAD8E9"/>
                </a:solidFill>
                <a:latin typeface="Mukta Light" pitchFamily="34" charset="0"/>
                <a:ea typeface="Mukta Light" pitchFamily="34" charset="-122"/>
                <a:cs typeface="Mukta Light" pitchFamily="34" charset="-120"/>
              </a:rPr>
              <a:t>Permiten modelar relaciones complejas.</a:t>
            </a:r>
            <a:endParaRPr lang="en-US" sz="1800" dirty="0"/>
          </a:p>
        </p:txBody>
      </p:sp>
      <p:sp>
        <p:nvSpPr>
          <p:cNvPr id="10" name="Shape 7"/>
          <p:cNvSpPr/>
          <p:nvPr/>
        </p:nvSpPr>
        <p:spPr>
          <a:xfrm>
            <a:off x="6986826" y="3740468"/>
            <a:ext cx="173117" cy="828318"/>
          </a:xfrm>
          <a:prstGeom prst="roundRect">
            <a:avLst>
              <a:gd name="adj" fmla="val 56008"/>
            </a:avLst>
          </a:prstGeom>
          <a:solidFill>
            <a:srgbClr val="542C49"/>
          </a:solidFill>
          <a:ln w="7620">
            <a:solidFill>
              <a:srgbClr val="6D4562"/>
            </a:solidFill>
            <a:prstDash val="solid"/>
          </a:ln>
        </p:spPr>
      </p:sp>
      <p:sp>
        <p:nvSpPr>
          <p:cNvPr id="11" name="Text 8"/>
          <p:cNvSpPr/>
          <p:nvPr/>
        </p:nvSpPr>
        <p:spPr>
          <a:xfrm>
            <a:off x="7506176" y="3740468"/>
            <a:ext cx="3028355" cy="320516"/>
          </a:xfrm>
          <a:prstGeom prst="rect">
            <a:avLst/>
          </a:prstGeom>
          <a:noFill/>
          <a:ln/>
        </p:spPr>
        <p:txBody>
          <a:bodyPr wrap="none" lIns="0" tIns="0" rIns="0" bIns="0" rtlCol="0" anchor="t"/>
          <a:lstStyle/>
          <a:p>
            <a:pPr algn="l" indent="0" marL="0">
              <a:lnSpc>
                <a:spcPts val="2500"/>
              </a:lnSpc>
              <a:buNone/>
            </a:pPr>
            <a:r>
              <a:rPr lang="en-US" sz="2000" dirty="0">
                <a:solidFill>
                  <a:srgbClr val="DAD8E9"/>
                </a:solidFill>
                <a:latin typeface="Prompt Medium" pitchFamily="34" charset="0"/>
                <a:ea typeface="Prompt Medium" pitchFamily="34" charset="-122"/>
                <a:cs typeface="Prompt Medium" pitchFamily="34" charset="-120"/>
              </a:rPr>
              <a:t>Consistencia Asegurada</a:t>
            </a:r>
            <a:endParaRPr lang="en-US" sz="2000" dirty="0"/>
          </a:p>
        </p:txBody>
      </p:sp>
      <p:sp>
        <p:nvSpPr>
          <p:cNvPr id="12" name="Text 9"/>
          <p:cNvSpPr/>
          <p:nvPr/>
        </p:nvSpPr>
        <p:spPr>
          <a:xfrm>
            <a:off x="7506176" y="4199453"/>
            <a:ext cx="6316266" cy="369332"/>
          </a:xfrm>
          <a:prstGeom prst="rect">
            <a:avLst/>
          </a:prstGeom>
          <a:noFill/>
          <a:ln/>
        </p:spPr>
        <p:txBody>
          <a:bodyPr wrap="none" lIns="0" tIns="0" rIns="0" bIns="0" rtlCol="0" anchor="t"/>
          <a:lstStyle/>
          <a:p>
            <a:pPr algn="l" indent="0" marL="0">
              <a:lnSpc>
                <a:spcPts val="2900"/>
              </a:lnSpc>
              <a:buNone/>
            </a:pPr>
            <a:r>
              <a:rPr lang="en-US" sz="1800" dirty="0">
                <a:solidFill>
                  <a:srgbClr val="DAD8E9"/>
                </a:solidFill>
                <a:latin typeface="Mukta Light" pitchFamily="34" charset="0"/>
                <a:ea typeface="Mukta Light" pitchFamily="34" charset="-122"/>
                <a:cs typeface="Mukta Light" pitchFamily="34" charset="-120"/>
              </a:rPr>
              <a:t>Garantizan la integridad y consistencia.</a:t>
            </a:r>
            <a:endParaRPr lang="en-US" sz="1800" dirty="0"/>
          </a:p>
        </p:txBody>
      </p:sp>
      <p:sp>
        <p:nvSpPr>
          <p:cNvPr id="13" name="Shape 10"/>
          <p:cNvSpPr/>
          <p:nvPr/>
        </p:nvSpPr>
        <p:spPr>
          <a:xfrm>
            <a:off x="7333178" y="4799528"/>
            <a:ext cx="173117" cy="828318"/>
          </a:xfrm>
          <a:prstGeom prst="roundRect">
            <a:avLst>
              <a:gd name="adj" fmla="val 56008"/>
            </a:avLst>
          </a:prstGeom>
          <a:solidFill>
            <a:srgbClr val="542C49"/>
          </a:solidFill>
          <a:ln w="7620">
            <a:solidFill>
              <a:srgbClr val="6D4562"/>
            </a:solidFill>
            <a:prstDash val="solid"/>
          </a:ln>
        </p:spPr>
      </p:sp>
      <p:sp>
        <p:nvSpPr>
          <p:cNvPr id="14" name="Text 11"/>
          <p:cNvSpPr/>
          <p:nvPr/>
        </p:nvSpPr>
        <p:spPr>
          <a:xfrm>
            <a:off x="7852529" y="4799528"/>
            <a:ext cx="2809875" cy="320516"/>
          </a:xfrm>
          <a:prstGeom prst="rect">
            <a:avLst/>
          </a:prstGeom>
          <a:noFill/>
          <a:ln/>
        </p:spPr>
        <p:txBody>
          <a:bodyPr wrap="none" lIns="0" tIns="0" rIns="0" bIns="0" rtlCol="0" anchor="t"/>
          <a:lstStyle/>
          <a:p>
            <a:pPr algn="l" indent="0" marL="0">
              <a:lnSpc>
                <a:spcPts val="2500"/>
              </a:lnSpc>
              <a:buNone/>
            </a:pPr>
            <a:r>
              <a:rPr lang="en-US" sz="2000" dirty="0">
                <a:solidFill>
                  <a:srgbClr val="DAD8E9"/>
                </a:solidFill>
                <a:latin typeface="Prompt Medium" pitchFamily="34" charset="0"/>
                <a:ea typeface="Prompt Medium" pitchFamily="34" charset="-122"/>
                <a:cs typeface="Prompt Medium" pitchFamily="34" charset="-120"/>
              </a:rPr>
              <a:t>Aplicaciones Robustas</a:t>
            </a:r>
            <a:endParaRPr lang="en-US" sz="2000" dirty="0"/>
          </a:p>
        </p:txBody>
      </p:sp>
      <p:sp>
        <p:nvSpPr>
          <p:cNvPr id="15" name="Text 12"/>
          <p:cNvSpPr/>
          <p:nvPr/>
        </p:nvSpPr>
        <p:spPr>
          <a:xfrm>
            <a:off x="7852529" y="5258514"/>
            <a:ext cx="5969913" cy="369332"/>
          </a:xfrm>
          <a:prstGeom prst="rect">
            <a:avLst/>
          </a:prstGeom>
          <a:noFill/>
          <a:ln/>
        </p:spPr>
        <p:txBody>
          <a:bodyPr wrap="none" lIns="0" tIns="0" rIns="0" bIns="0" rtlCol="0" anchor="t"/>
          <a:lstStyle/>
          <a:p>
            <a:pPr algn="l" indent="0" marL="0">
              <a:lnSpc>
                <a:spcPts val="2900"/>
              </a:lnSpc>
              <a:buNone/>
            </a:pPr>
            <a:r>
              <a:rPr lang="en-US" sz="1800" dirty="0">
                <a:solidFill>
                  <a:srgbClr val="DAD8E9"/>
                </a:solidFill>
                <a:latin typeface="Mukta Light" pitchFamily="34" charset="0"/>
                <a:ea typeface="Mukta Light" pitchFamily="34" charset="-122"/>
                <a:cs typeface="Mukta Light" pitchFamily="34" charset="-120"/>
              </a:rPr>
              <a:t>Facilitan la creación de sistemas escalables.</a:t>
            </a:r>
            <a:endParaRPr lang="en-US" sz="1800" dirty="0"/>
          </a:p>
        </p:txBody>
      </p:sp>
      <p:sp>
        <p:nvSpPr>
          <p:cNvPr id="16" name="Text 13"/>
          <p:cNvSpPr/>
          <p:nvPr/>
        </p:nvSpPr>
        <p:spPr>
          <a:xfrm>
            <a:off x="6294358" y="6118265"/>
            <a:ext cx="7528084" cy="1477328"/>
          </a:xfrm>
          <a:prstGeom prst="rect">
            <a:avLst/>
          </a:prstGeom>
          <a:noFill/>
          <a:ln/>
        </p:spPr>
        <p:txBody>
          <a:bodyPr wrap="square" lIns="0" tIns="0" rIns="0" bIns="0" rtlCol="0" anchor="t"/>
          <a:lstStyle/>
          <a:p>
            <a:pPr algn="l" indent="0" marL="0">
              <a:lnSpc>
                <a:spcPts val="2900"/>
              </a:lnSpc>
              <a:buNone/>
            </a:pPr>
            <a:r>
              <a:rPr lang="en-US" sz="1800" dirty="0">
                <a:solidFill>
                  <a:srgbClr val="DAD8E9"/>
                </a:solidFill>
                <a:latin typeface="Mukta Light" pitchFamily="34" charset="0"/>
                <a:ea typeface="Mukta Light" pitchFamily="34" charset="-122"/>
                <a:cs typeface="Mukta Light" pitchFamily="34" charset="-120"/>
              </a:rPr>
              <a:t>Las llaves foráneas son fundamentales en el diseño de bases de datos. Permiten modelar relaciones complejas de manera eficiente. Aseguran la integridad y consistencia de los datos. Son clave para construir aplicaciones robustas y escalables.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2025-06-04T21:51:50Z</dcterms:created>
  <dcterms:modified xsi:type="dcterms:W3CDTF">2025-06-04T21:51:50Z</dcterms:modified>
</cp:coreProperties>
</file>
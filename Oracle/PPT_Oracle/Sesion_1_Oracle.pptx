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Fragment Mono"/>
      <p:regular r:id="rId201314"/>
    </p:embeddedFont>
    <p:embeddedFont>
      <p:font typeface="Inter Tight"/>
      <p:regular r:id="rId201315"/>
    </p:embeddedFont>
    <p:embeddedFont>
      <p:font typeface="Inter Tight SemiBold"/>
      <p:regular r:id="rId201316"/>
    </p:embeddedFont>
    <p:embeddedFont>
      <p:font typeface="Inter Tight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a la sesión. Hoy abordaremos la integración técnica entre Oracle Database y Python desde la perspectiva de la ingeniería de software: arquitectura interna, atomicidad, optimización y operación 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esencial distinguir entre instancia y base de datos. Una instancia puede iniciarse y apagarse sin alterar la estructura física en disco, permitiendo escenarios avanzados de clúster donde múltiples instancias operan sobre el mismo almacenamiento.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Observemos el flujo de capas: el proceso cliente no toca los archivos directamente. Habla con su PGA asignada; los cambios se registran primero en la SGA y finalmente los procesos DBWR y LGWR consolidan en datafiles y redo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SCN es el corazón de la consistencia. Cuando un proceso en Python lanza una consulta de larga duración, Oracle utiliza los segmentos de undo para presentar una imagen exacta del momento de inicio sin retener locks de lectura.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optimizador no puede tomar buenas decisiones sin estadísticas fidedignas. Del mismo modo, evaluar si una transformación conviene realizarla en Python o dentro de un paquete PL/SQL define la latencia global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sistemas críticos, la combinación de RAC para alta disponibilidad local y Data Guard para contingencia geográfica asegura continuidad operacional total sin exigir cambios en la capa de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transición de Python 2 a Python 3 fue costosa pero necesaria para unificar el modelo de cadenas de bytes y texto. Hoy, Python es el entorno donde convergen la ingeniería de software y el análisis masivo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concluir: la regla fundamental en ingeniería de bases de datos es basarse en telemetría objetiva provista por AWR y ASH antes de alterar parámetros de configuración.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AFA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AFAFA"/>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515620"/>
            <a:ext cx="4063898" cy="396081"/>
          </a:xfrm>
          <a:prstGeom prst="rect">
            <a:avLst/>
          </a:prstGeom>
          <a:noFill/>
          <a:ln/>
        </p:spPr>
        <p:txBody>
          <a:bodyPr wrap="square" lIns="0" tIns="0" rIns="0" bIns="0" rtlCol="0" anchor="t">
            <a:normAutofit/>
          </a:bodyPr>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120"/>
              </a:rPr>
              <a:t>[ARCH.01]</a:t>
            </a:r>
            <a:endParaRPr lang="en-US" sz="1300" dirty="0"/>
          </a:p>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120"/>
              </a:rPr>
              <a:t>ENV:PROD SYS:RDBMS</a:t>
            </a:r>
            <a:endParaRPr lang="en-US" sz="1300" dirty="0"/>
          </a:p>
        </p:txBody>
      </p:sp>
      <p:sp>
        <p:nvSpPr>
          <p:cNvPr id="3" name="Shape 1"/>
          <p:cNvSpPr/>
          <p:nvPr/>
        </p:nvSpPr>
        <p:spPr>
          <a:xfrm>
            <a:off x="7365816" y="1016000"/>
            <a:ext cx="4190895" cy="375841"/>
          </a:xfrm>
          <a:prstGeom prst="rect">
            <a:avLst/>
          </a:prstGeom>
          <a:solidFill>
            <a:srgbClr val="1A1A1A"/>
          </a:solidFill>
          <a:ln/>
        </p:spPr>
      </p:sp>
      <p:sp>
        <p:nvSpPr>
          <p:cNvPr id="4" name="Text 2"/>
          <p:cNvSpPr/>
          <p:nvPr/>
        </p:nvSpPr>
        <p:spPr>
          <a:xfrm>
            <a:off x="7518212" y="1112520"/>
            <a:ext cx="403849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FFFFFF"/>
                </a:solidFill>
                <a:latin typeface="Fragment Mono" pitchFamily="34" charset="0"/>
                <a:ea typeface="Fragment Mono" pitchFamily="34" charset="-122"/>
                <a:cs typeface="Fragment Mono" pitchFamily="34" charset="-120"/>
              </a:rPr>
              <a:t>SESSION_INIT.SQL</a:t>
            </a:r>
            <a:endParaRPr lang="en-US" sz="1300" dirty="0"/>
          </a:p>
        </p:txBody>
      </p:sp>
      <p:sp>
        <p:nvSpPr>
          <p:cNvPr id="5" name="Shape 3"/>
          <p:cNvSpPr/>
          <p:nvPr/>
        </p:nvSpPr>
        <p:spPr>
          <a:xfrm>
            <a:off x="7365816" y="1391841"/>
            <a:ext cx="4190895" cy="1367929"/>
          </a:xfrm>
          <a:prstGeom prst="rect">
            <a:avLst/>
          </a:prstGeom>
          <a:solidFill>
            <a:srgbClr val="E6E6EA"/>
          </a:solidFill>
          <a:ln w="6350">
            <a:solidFill>
              <a:srgbClr val="1A1A1A"/>
            </a:solidFill>
            <a:prstDash val="solid"/>
          </a:ln>
        </p:spPr>
      </p:sp>
      <p:sp>
        <p:nvSpPr>
          <p:cNvPr id="6" name="Text 4"/>
          <p:cNvSpPr/>
          <p:nvPr/>
        </p:nvSpPr>
        <p:spPr>
          <a:xfrm>
            <a:off x="7600760" y="1575991"/>
            <a:ext cx="3721007" cy="999629"/>
          </a:xfrm>
          <a:prstGeom prst="rect">
            <a:avLst/>
          </a:prstGeom>
          <a:noFill/>
          <a:ln/>
        </p:spPr>
        <p:txBody>
          <a:bodyPr wrap="square" lIns="0" tIns="0" rIns="0" bIns="0" rtlCol="0" anchor="t"/>
          <a:lstStyle/>
          <a:p>
            <a:pPr algn="l" indent="0" marL="0">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Motor:</a:t>
            </a:r>
            <a:pPr algn="l" indent="0" marL="0">
              <a:lnSpc>
                <a:spcPct val="113000"/>
              </a:lnSpc>
              <a:spcAft>
                <a:spcPts val="950"/>
              </a:spcAft>
              <a:buNone/>
            </a:pPr>
            <a:r>
              <a:rPr lang="en-US" sz="1450" dirty="0">
                <a:solidFill>
                  <a:srgbClr val="000000"/>
                </a:solidFill>
                <a:latin typeface="Inter Tight" pitchFamily="34" charset="0"/>
                <a:ea typeface="Inter Tight" pitchFamily="34" charset="-122"/>
                <a:cs typeface="Inter Tight" pitchFamily="34" charset="-120"/>
              </a:rPr>
              <a:t> Oracle Database Enterprise</a:t>
            </a:r>
            <a:endParaRPr lang="en-US" sz="1450" dirty="0"/>
          </a:p>
          <a:p>
            <a:pPr algn="l" indent="0" marL="0">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Conector:</a:t>
            </a:r>
            <a:pPr algn="l" indent="0" marL="0">
              <a:lnSpc>
                <a:spcPct val="113000"/>
              </a:lnSpc>
              <a:spcAft>
                <a:spcPts val="950"/>
              </a:spcAft>
              <a:buNone/>
            </a:pPr>
            <a:r>
              <a:rPr lang="en-US" sz="1450" dirty="0">
                <a:solidFill>
                  <a:srgbClr val="000000"/>
                </a:solidFill>
                <a:latin typeface="Inter Tight" pitchFamily="34" charset="0"/>
                <a:ea typeface="Inter Tight" pitchFamily="34" charset="-122"/>
                <a:cs typeface="Inter Tight" pitchFamily="34" charset="-120"/>
              </a:rPr>
              <a:t> python-oracledb 2.x</a:t>
            </a:r>
            <a:endParaRPr lang="en-US" sz="1450" dirty="0"/>
          </a:p>
          <a:p>
            <a:pPr algn="l" indent="0" marL="0">
              <a:lnSpc>
                <a:spcPct val="113000"/>
              </a:lnSpc>
              <a:buNone/>
            </a:pPr>
            <a:r>
              <a:rPr lang="en-US" sz="1450" b="1" dirty="0">
                <a:solidFill>
                  <a:srgbClr val="000000"/>
                </a:solidFill>
                <a:latin typeface="Inter Tight Bold" pitchFamily="34" charset="0"/>
                <a:ea typeface="Inter Tight Bold" pitchFamily="34" charset="-122"/>
                <a:cs typeface="Inter Tight Bold" pitchFamily="34" charset="-120"/>
              </a:rPr>
              <a:t>Enfoque:</a:t>
            </a:r>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 Ingeniería de sistemas y rendimiento</a:t>
            </a:r>
            <a:endParaRPr lang="en-US" sz="1450" dirty="0"/>
          </a:p>
        </p:txBody>
      </p:sp>
      <p:sp>
        <p:nvSpPr>
          <p:cNvPr id="7" name="Text 5"/>
          <p:cNvSpPr/>
          <p:nvPr/>
        </p:nvSpPr>
        <p:spPr>
          <a:xfrm>
            <a:off x="609585" y="3173413"/>
            <a:ext cx="6349841" cy="1930400"/>
          </a:xfrm>
          <a:prstGeom prst="rect">
            <a:avLst/>
          </a:prstGeom>
          <a:noFill/>
          <a:ln/>
        </p:spPr>
        <p:txBody>
          <a:bodyPr wrap="square" lIns="0" tIns="0" rIns="0" bIns="0" rtlCol="0" anchor="t">
            <a:normAutofit/>
          </a:bodyPr>
          <a:lstStyle/>
          <a:p>
            <a:pPr algn="l" indent="0" marL="0">
              <a:lnSpc>
                <a:spcPct val="79000"/>
              </a:lnSpc>
              <a:buNone/>
            </a:pPr>
            <a:r>
              <a:rPr lang="en-US" sz="8000" spc="-360" kern="100" dirty="0">
                <a:solidFill>
                  <a:srgbClr val="1A1A1A"/>
                </a:solidFill>
                <a:latin typeface="Inter Tight SemiBold" pitchFamily="34" charset="0"/>
                <a:ea typeface="Inter Tight SemiBold" pitchFamily="34" charset="-122"/>
                <a:cs typeface="Inter Tight SemiBold" pitchFamily="34" charset="-120"/>
              </a:rPr>
              <a:t>Oracle &amp;</a:t>
            </a:r>
            <a:endParaRPr lang="en-US" sz="8000" dirty="0"/>
          </a:p>
          <a:p>
            <a:pPr algn="l" indent="0" marL="0">
              <a:lnSpc>
                <a:spcPct val="79000"/>
              </a:lnSpc>
              <a:buNone/>
            </a:pPr>
            <a:r>
              <a:rPr lang="en-US" sz="8000" spc="-360" kern="100" dirty="0">
                <a:solidFill>
                  <a:srgbClr val="1A1A1A"/>
                </a:solidFill>
                <a:latin typeface="Inter Tight SemiBold" pitchFamily="34" charset="0"/>
                <a:ea typeface="Inter Tight SemiBold" pitchFamily="34" charset="-122"/>
                <a:cs typeface="Inter Tight SemiBold" pitchFamily="34" charset="-120"/>
              </a:rPr>
              <a:t>Python</a:t>
            </a:r>
            <a:endParaRPr lang="en-US" sz="8000" dirty="0"/>
          </a:p>
        </p:txBody>
      </p:sp>
      <p:sp>
        <p:nvSpPr>
          <p:cNvPr id="8" name="Text 6"/>
          <p:cNvSpPr/>
          <p:nvPr/>
        </p:nvSpPr>
        <p:spPr>
          <a:xfrm>
            <a:off x="609585" y="5197793"/>
            <a:ext cx="6959426" cy="214610"/>
          </a:xfrm>
          <a:prstGeom prst="rect">
            <a:avLst/>
          </a:prstGeom>
          <a:noFill/>
          <a:ln/>
        </p:spPr>
        <p:txBody>
          <a:bodyPr wrap="none" lIns="0" tIns="0" rIns="0" bIns="0" rtlCol="0" anchor="t"/>
          <a:lstStyle/>
          <a:p>
            <a:pPr algn="l" indent="0" marL="0">
              <a:lnSpc>
                <a:spcPct val="108000"/>
              </a:lnSpc>
              <a:buNone/>
            </a:pPr>
            <a:r>
              <a:rPr lang="en-US" sz="1300" dirty="0">
                <a:solidFill>
                  <a:srgbClr val="1A1A1A"/>
                </a:solidFill>
                <a:latin typeface="Fragment Mono" pitchFamily="34" charset="0"/>
                <a:ea typeface="Fragment Mono" pitchFamily="34" charset="-122"/>
                <a:cs typeface="Fragment Mono" pitchFamily="34" charset="-120"/>
              </a:rPr>
              <a:t>UNA VISIÓN DE INGENIERÍA DE SOFTWARE Y DATOS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8786" y="439420"/>
            <a:ext cx="1163290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120"/>
              </a:rPr>
              <a:t>ARQUITECTURA DE SISTEMA</a:t>
            </a:r>
            <a:endParaRPr lang="en-US" sz="1300" dirty="0"/>
          </a:p>
        </p:txBody>
      </p:sp>
      <p:sp>
        <p:nvSpPr>
          <p:cNvPr id="3" name="Text 1"/>
          <p:cNvSpPr/>
          <p:nvPr/>
        </p:nvSpPr>
        <p:spPr>
          <a:xfrm>
            <a:off x="558786" y="760460"/>
            <a:ext cx="11074123" cy="863600"/>
          </a:xfrm>
          <a:prstGeom prst="rect">
            <a:avLst/>
          </a:prstGeom>
          <a:noFill/>
          <a:ln/>
        </p:spPr>
        <p:txBody>
          <a:bodyPr wrap="square" lIns="0" tIns="0" rIns="0" bIns="0" rtlCol="0" anchor="t">
            <a:normAutofit/>
          </a:bodyPr>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120"/>
              </a:rPr>
              <a:t>Oracle es un motor relacional con instancia y base de datos separadas</a:t>
            </a:r>
            <a:endParaRPr lang="en-US" sz="3400" dirty="0"/>
          </a:p>
        </p:txBody>
      </p:sp>
      <p:sp>
        <p:nvSpPr>
          <p:cNvPr id="4" name="Text 2"/>
          <p:cNvSpPr/>
          <p:nvPr/>
        </p:nvSpPr>
        <p:spPr>
          <a:xfrm>
            <a:off x="558786" y="1788716"/>
            <a:ext cx="11074123"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21212"/>
                </a:solidFill>
                <a:latin typeface="Inter Tight" pitchFamily="34" charset="0"/>
                <a:ea typeface="Inter Tight" pitchFamily="34" charset="-122"/>
                <a:cs typeface="Inter Tight" pitchFamily="34" charset="-120"/>
              </a:rPr>
              <a:t>Desacoplamiento estricto entre cómputo volátil y persistencia en disco</a:t>
            </a:r>
            <a:endParaRPr lang="en-US" sz="2000" dirty="0"/>
          </a:p>
        </p:txBody>
      </p:sp>
      <p:sp>
        <p:nvSpPr>
          <p:cNvPr id="5" name="Shape 3"/>
          <p:cNvSpPr/>
          <p:nvPr/>
        </p:nvSpPr>
        <p:spPr>
          <a:xfrm>
            <a:off x="558786" y="2665016"/>
            <a:ext cx="3488146" cy="6350"/>
          </a:xfrm>
          <a:prstGeom prst="rect">
            <a:avLst/>
          </a:prstGeom>
          <a:solidFill>
            <a:srgbClr val="1A1A1A"/>
          </a:solidFill>
          <a:ln/>
        </p:spPr>
      </p:sp>
      <p:sp>
        <p:nvSpPr>
          <p:cNvPr id="6" name="Shape 4"/>
          <p:cNvSpPr/>
          <p:nvPr/>
        </p:nvSpPr>
        <p:spPr>
          <a:xfrm>
            <a:off x="558786" y="2874566"/>
            <a:ext cx="1470584" cy="336649"/>
          </a:xfrm>
          <a:prstGeom prst="rect">
            <a:avLst/>
          </a:prstGeom>
          <a:solidFill>
            <a:srgbClr val="1A1A1A"/>
          </a:solidFill>
          <a:ln/>
        </p:spPr>
      </p:sp>
      <p:sp>
        <p:nvSpPr>
          <p:cNvPr id="7" name="Text 5"/>
          <p:cNvSpPr/>
          <p:nvPr/>
        </p:nvSpPr>
        <p:spPr>
          <a:xfrm>
            <a:off x="688263" y="2944590"/>
            <a:ext cx="182121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MOTOR RDBMS</a:t>
            </a:r>
            <a:endParaRPr lang="en-US" sz="1350" dirty="0"/>
          </a:p>
        </p:txBody>
      </p:sp>
      <p:sp>
        <p:nvSpPr>
          <p:cNvPr id="8" name="Text 6"/>
          <p:cNvSpPr/>
          <p:nvPr/>
        </p:nvSpPr>
        <p:spPr>
          <a:xfrm>
            <a:off x="558786" y="3377902"/>
            <a:ext cx="3488146" cy="381000"/>
          </a:xfrm>
          <a:prstGeom prst="rect">
            <a:avLst/>
          </a:prstGeom>
          <a:noFill/>
          <a:ln/>
        </p:spPr>
        <p:txBody>
          <a:bodyPr wrap="none" lIns="0" tIns="0" rIns="0" bIns="0" rtlCol="0" anchor="t"/>
          <a:lstStyle/>
          <a:p>
            <a:pPr algn="l" indent="0" marL="0">
              <a:lnSpc>
                <a:spcPct val="104000"/>
              </a:lnSpc>
              <a:buNone/>
            </a:pPr>
            <a:r>
              <a:rPr lang="en-US" sz="2400" spc="-12" kern="100" dirty="0">
                <a:solidFill>
                  <a:srgbClr val="121212"/>
                </a:solidFill>
                <a:latin typeface="Inter Tight" pitchFamily="34" charset="0"/>
                <a:ea typeface="Inter Tight" pitchFamily="34" charset="-122"/>
                <a:cs typeface="Inter Tight" pitchFamily="34" charset="-120"/>
              </a:rPr>
              <a:t>Multimodelo unificado</a:t>
            </a:r>
            <a:endParaRPr lang="en-US" sz="2400" dirty="0"/>
          </a:p>
        </p:txBody>
      </p:sp>
      <p:sp>
        <p:nvSpPr>
          <p:cNvPr id="9" name="Text 7"/>
          <p:cNvSpPr/>
          <p:nvPr/>
        </p:nvSpPr>
        <p:spPr>
          <a:xfrm>
            <a:off x="558786" y="3904714"/>
            <a:ext cx="3488146" cy="1242715"/>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1A1A1A"/>
                </a:solidFill>
                <a:latin typeface="Inter Tight" pitchFamily="34" charset="0"/>
                <a:ea typeface="Inter Tight" pitchFamily="34" charset="-122"/>
                <a:cs typeface="Inter Tight" pitchFamily="34" charset="-120"/>
              </a:rPr>
              <a:t>RDBMS (Relational Database Management System) con soporte nativo para modelos relacionales, JSON (JavaScript Object Notation), espacial y grafos dentro del mismo núcleo transaccional.</a:t>
            </a:r>
            <a:endParaRPr lang="en-US" sz="1450" dirty="0"/>
          </a:p>
        </p:txBody>
      </p:sp>
      <p:sp>
        <p:nvSpPr>
          <p:cNvPr id="10" name="Shape 8"/>
          <p:cNvSpPr/>
          <p:nvPr/>
        </p:nvSpPr>
        <p:spPr>
          <a:xfrm>
            <a:off x="4351725" y="2665016"/>
            <a:ext cx="3488146" cy="6350"/>
          </a:xfrm>
          <a:prstGeom prst="rect">
            <a:avLst/>
          </a:prstGeom>
          <a:solidFill>
            <a:srgbClr val="1A1A1A"/>
          </a:solidFill>
          <a:ln/>
        </p:spPr>
      </p:sp>
      <p:sp>
        <p:nvSpPr>
          <p:cNvPr id="11" name="Shape 9"/>
          <p:cNvSpPr/>
          <p:nvPr/>
        </p:nvSpPr>
        <p:spPr>
          <a:xfrm>
            <a:off x="4351725" y="2874566"/>
            <a:ext cx="2021333" cy="336649"/>
          </a:xfrm>
          <a:prstGeom prst="rect">
            <a:avLst/>
          </a:prstGeom>
          <a:solidFill>
            <a:srgbClr val="1A1A1A"/>
          </a:solidFill>
          <a:ln/>
        </p:spPr>
      </p:sp>
      <p:sp>
        <p:nvSpPr>
          <p:cNvPr id="12" name="Text 10"/>
          <p:cNvSpPr/>
          <p:nvPr/>
        </p:nvSpPr>
        <p:spPr>
          <a:xfrm>
            <a:off x="4481202" y="2944590"/>
            <a:ext cx="2371963"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SEPARACIÓN CLAVE</a:t>
            </a:r>
            <a:endParaRPr lang="en-US" sz="1350" dirty="0"/>
          </a:p>
        </p:txBody>
      </p:sp>
      <p:sp>
        <p:nvSpPr>
          <p:cNvPr id="13" name="Text 11"/>
          <p:cNvSpPr/>
          <p:nvPr/>
        </p:nvSpPr>
        <p:spPr>
          <a:xfrm>
            <a:off x="4351725" y="3377902"/>
            <a:ext cx="3488146" cy="381000"/>
          </a:xfrm>
          <a:prstGeom prst="rect">
            <a:avLst/>
          </a:prstGeom>
          <a:noFill/>
          <a:ln/>
        </p:spPr>
        <p:txBody>
          <a:bodyPr wrap="none" lIns="0" tIns="0" rIns="0" bIns="0" rtlCol="0" anchor="t"/>
          <a:lstStyle/>
          <a:p>
            <a:pPr algn="l" indent="0" marL="0">
              <a:lnSpc>
                <a:spcPct val="104000"/>
              </a:lnSpc>
              <a:buNone/>
            </a:pPr>
            <a:r>
              <a:rPr lang="en-US" sz="2400" spc="-12" kern="100" dirty="0">
                <a:solidFill>
                  <a:srgbClr val="121212"/>
                </a:solidFill>
                <a:latin typeface="Inter Tight" pitchFamily="34" charset="0"/>
                <a:ea typeface="Inter Tight" pitchFamily="34" charset="-122"/>
                <a:cs typeface="Inter Tight" pitchFamily="34" charset="-120"/>
              </a:rPr>
              <a:t>Instancia vs. base de datos</a:t>
            </a:r>
            <a:endParaRPr lang="en-US" sz="2400" dirty="0"/>
          </a:p>
        </p:txBody>
      </p:sp>
      <p:sp>
        <p:nvSpPr>
          <p:cNvPr id="14" name="Text 12"/>
          <p:cNvSpPr/>
          <p:nvPr/>
        </p:nvSpPr>
        <p:spPr>
          <a:xfrm>
            <a:off x="4351725" y="3904714"/>
            <a:ext cx="3488146" cy="994172"/>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1A1A1A"/>
                </a:solidFill>
                <a:latin typeface="Inter Tight" pitchFamily="34" charset="0"/>
                <a:ea typeface="Inter Tight" pitchFamily="34" charset="-122"/>
                <a:cs typeface="Inter Tight" pitchFamily="34" charset="-120"/>
              </a:rPr>
              <a:t>La </a:t>
            </a:r>
            <a:pPr algn="l" indent="0" marL="0">
              <a:lnSpc>
                <a:spcPct val="113000"/>
              </a:lnSpc>
              <a:buNone/>
            </a:pPr>
            <a:r>
              <a:rPr lang="en-US" sz="1450" b="1" dirty="0">
                <a:solidFill>
                  <a:srgbClr val="1A1A1A"/>
                </a:solidFill>
                <a:latin typeface="Inter Tight Bold" pitchFamily="34" charset="0"/>
                <a:ea typeface="Inter Tight Bold" pitchFamily="34" charset="-122"/>
                <a:cs typeface="Inter Tight Bold" pitchFamily="34" charset="-120"/>
              </a:rPr>
              <a:t>instancia</a:t>
            </a:r>
            <a:pPr algn="l" indent="0" marL="0">
              <a:lnSpc>
                <a:spcPct val="113000"/>
              </a:lnSpc>
              <a:buNone/>
            </a:pPr>
            <a:r>
              <a:rPr lang="en-US" sz="1450" dirty="0">
                <a:solidFill>
                  <a:srgbClr val="1A1A1A"/>
                </a:solidFill>
                <a:latin typeface="Inter Tight" pitchFamily="34" charset="0"/>
                <a:ea typeface="Inter Tight" pitchFamily="34" charset="-122"/>
                <a:cs typeface="Inter Tight" pitchFamily="34" charset="-120"/>
              </a:rPr>
              <a:t> comprende memoria compartida y procesos en ejecución. La </a:t>
            </a:r>
            <a:pPr algn="l" indent="0" marL="0">
              <a:lnSpc>
                <a:spcPct val="113000"/>
              </a:lnSpc>
              <a:buNone/>
            </a:pPr>
            <a:r>
              <a:rPr lang="en-US" sz="1450" b="1" dirty="0">
                <a:solidFill>
                  <a:srgbClr val="1A1A1A"/>
                </a:solidFill>
                <a:latin typeface="Inter Tight Bold" pitchFamily="34" charset="0"/>
                <a:ea typeface="Inter Tight Bold" pitchFamily="34" charset="-122"/>
                <a:cs typeface="Inter Tight Bold" pitchFamily="34" charset="-120"/>
              </a:rPr>
              <a:t>base de datos</a:t>
            </a:r>
            <a:pPr algn="l" indent="0" marL="0">
              <a:lnSpc>
                <a:spcPct val="113000"/>
              </a:lnSpc>
              <a:buNone/>
            </a:pPr>
            <a:r>
              <a:rPr lang="en-US" sz="1450" dirty="0">
                <a:solidFill>
                  <a:srgbClr val="1A1A1A"/>
                </a:solidFill>
                <a:latin typeface="Inter Tight" pitchFamily="34" charset="0"/>
                <a:ea typeface="Inter Tight" pitchFamily="34" charset="-122"/>
                <a:cs typeface="Inter Tight" pitchFamily="34" charset="-120"/>
              </a:rPr>
              <a:t> reside físicamente en disco como archivos de control, datos y bitácora.</a:t>
            </a:r>
            <a:endParaRPr lang="en-US" sz="1450" dirty="0"/>
          </a:p>
        </p:txBody>
      </p:sp>
      <p:sp>
        <p:nvSpPr>
          <p:cNvPr id="15" name="Shape 13"/>
          <p:cNvSpPr/>
          <p:nvPr/>
        </p:nvSpPr>
        <p:spPr>
          <a:xfrm>
            <a:off x="8144663" y="2665016"/>
            <a:ext cx="3488246" cy="6350"/>
          </a:xfrm>
          <a:prstGeom prst="rect">
            <a:avLst/>
          </a:prstGeom>
          <a:solidFill>
            <a:srgbClr val="1A1A1A"/>
          </a:solidFill>
          <a:ln/>
        </p:spPr>
      </p:sp>
      <p:sp>
        <p:nvSpPr>
          <p:cNvPr id="16" name="Shape 14"/>
          <p:cNvSpPr/>
          <p:nvPr/>
        </p:nvSpPr>
        <p:spPr>
          <a:xfrm>
            <a:off x="8144663" y="2874566"/>
            <a:ext cx="1690844" cy="336649"/>
          </a:xfrm>
          <a:prstGeom prst="rect">
            <a:avLst/>
          </a:prstGeom>
          <a:solidFill>
            <a:srgbClr val="1A1A1A"/>
          </a:solidFill>
          <a:ln/>
        </p:spPr>
      </p:sp>
      <p:sp>
        <p:nvSpPr>
          <p:cNvPr id="17" name="Text 15"/>
          <p:cNvSpPr/>
          <p:nvPr/>
        </p:nvSpPr>
        <p:spPr>
          <a:xfrm>
            <a:off x="8274141" y="2944590"/>
            <a:ext cx="204147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CONFIABILIDAD</a:t>
            </a:r>
            <a:endParaRPr lang="en-US" sz="1350" dirty="0"/>
          </a:p>
        </p:txBody>
      </p:sp>
      <p:sp>
        <p:nvSpPr>
          <p:cNvPr id="18" name="Text 16"/>
          <p:cNvSpPr/>
          <p:nvPr/>
        </p:nvSpPr>
        <p:spPr>
          <a:xfrm>
            <a:off x="8144663" y="3377902"/>
            <a:ext cx="3488246" cy="381000"/>
          </a:xfrm>
          <a:prstGeom prst="rect">
            <a:avLst/>
          </a:prstGeom>
          <a:noFill/>
          <a:ln/>
        </p:spPr>
        <p:txBody>
          <a:bodyPr wrap="none" lIns="0" tIns="0" rIns="0" bIns="0" rtlCol="0" anchor="t"/>
          <a:lstStyle/>
          <a:p>
            <a:pPr algn="l" indent="0" marL="0">
              <a:lnSpc>
                <a:spcPct val="104000"/>
              </a:lnSpc>
              <a:buNone/>
            </a:pPr>
            <a:r>
              <a:rPr lang="en-US" sz="2400" spc="-12" kern="100" dirty="0">
                <a:solidFill>
                  <a:srgbClr val="121212"/>
                </a:solidFill>
                <a:latin typeface="Inter Tight" pitchFamily="34" charset="0"/>
                <a:ea typeface="Inter Tight" pitchFamily="34" charset="-122"/>
                <a:cs typeface="Inter Tight" pitchFamily="34" charset="-120"/>
              </a:rPr>
              <a:t>ACID y disponibilidad</a:t>
            </a:r>
            <a:endParaRPr lang="en-US" sz="2400" dirty="0"/>
          </a:p>
        </p:txBody>
      </p:sp>
      <p:sp>
        <p:nvSpPr>
          <p:cNvPr id="19" name="Text 17"/>
          <p:cNvSpPr/>
          <p:nvPr/>
        </p:nvSpPr>
        <p:spPr>
          <a:xfrm>
            <a:off x="8144663" y="3904714"/>
            <a:ext cx="3488246" cy="994172"/>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1A1A1A"/>
                </a:solidFill>
                <a:latin typeface="Inter Tight" pitchFamily="34" charset="0"/>
                <a:ea typeface="Inter Tight" pitchFamily="34" charset="-122"/>
                <a:cs typeface="Inter Tight" pitchFamily="34" charset="-120"/>
              </a:rPr>
              <a:t>Garantías formales de transacciones ACID (Atomicidad, Consistencia, Aislamiento y Durabilidad) con capacidades de failover y tolerancia a fallos de hardware en caliente.</a:t>
            </a:r>
            <a:endParaRPr lang="en-US" sz="1450" dirty="0"/>
          </a:p>
        </p:txBody>
      </p:sp>
      <p:sp>
        <p:nvSpPr>
          <p:cNvPr id="20" name="Shape 18"/>
          <p:cNvSpPr/>
          <p:nvPr/>
        </p:nvSpPr>
        <p:spPr>
          <a:xfrm>
            <a:off x="558786" y="5769967"/>
            <a:ext cx="11074123" cy="31651"/>
          </a:xfrm>
          <a:prstGeom prst="roundRect">
            <a:avLst>
              <a:gd name="adj" fmla="val 49998"/>
            </a:avLst>
          </a:prstGeom>
          <a:solidFill>
            <a:srgbClr val="1A1A1A"/>
          </a:solidFill>
          <a:ln/>
        </p:spPr>
      </p:sp>
      <p:sp>
        <p:nvSpPr>
          <p:cNvPr id="21" name="Text 19"/>
          <p:cNvSpPr/>
          <p:nvPr/>
        </p:nvSpPr>
        <p:spPr>
          <a:xfrm>
            <a:off x="558786" y="6051272"/>
            <a:ext cx="11074123" cy="429220"/>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120"/>
              </a:rPr>
              <a:t>GARANTÍA ARQUITECTÓNICA: SI LA INSTANCIA CAE, LOS ARCHIVOS EN ALMACENAMIENTO PRESERVAN LA INTEGRIDAD DEL ESTADO.</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58786" y="363220"/>
            <a:ext cx="1163290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120"/>
              </a:rPr>
              <a:t>ANATOMÍA INTERNA</a:t>
            </a:r>
            <a:endParaRPr lang="en-US" sz="1300" dirty="0"/>
          </a:p>
        </p:txBody>
      </p:sp>
      <p:sp>
        <p:nvSpPr>
          <p:cNvPr id="3" name="Text 1"/>
          <p:cNvSpPr/>
          <p:nvPr/>
        </p:nvSpPr>
        <p:spPr>
          <a:xfrm>
            <a:off x="558786" y="684260"/>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120"/>
              </a:rPr>
              <a:t>La instancia: SGA, PGA, procesos de fondo y archivos</a:t>
            </a:r>
            <a:endParaRPr lang="en-US" sz="3400" dirty="0"/>
          </a:p>
        </p:txBody>
      </p:sp>
      <p:sp>
        <p:nvSpPr>
          <p:cNvPr id="4" name="Shape 2"/>
          <p:cNvSpPr/>
          <p:nvPr/>
        </p:nvSpPr>
        <p:spPr>
          <a:xfrm>
            <a:off x="558786" y="1287066"/>
            <a:ext cx="11074123" cy="375841"/>
          </a:xfrm>
          <a:prstGeom prst="rect">
            <a:avLst/>
          </a:prstGeom>
          <a:solidFill>
            <a:srgbClr val="1A1A1A"/>
          </a:solidFill>
          <a:ln/>
        </p:spPr>
      </p:sp>
      <p:sp>
        <p:nvSpPr>
          <p:cNvPr id="5" name="Text 3"/>
          <p:cNvSpPr/>
          <p:nvPr/>
        </p:nvSpPr>
        <p:spPr>
          <a:xfrm>
            <a:off x="711182" y="1383586"/>
            <a:ext cx="10921727"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FFFFFF"/>
                </a:solidFill>
                <a:latin typeface="Fragment Mono" pitchFamily="34" charset="0"/>
                <a:ea typeface="Fragment Mono" pitchFamily="34" charset="-122"/>
                <a:cs typeface="Fragment Mono" pitchFamily="34" charset="-120"/>
              </a:rPr>
              <a:t>ARCHITECTURE_LAYERS.DIAG</a:t>
            </a:r>
            <a:endParaRPr lang="en-US" sz="1300" dirty="0"/>
          </a:p>
        </p:txBody>
      </p:sp>
      <p:sp>
        <p:nvSpPr>
          <p:cNvPr id="6" name="Shape 4"/>
          <p:cNvSpPr/>
          <p:nvPr/>
        </p:nvSpPr>
        <p:spPr>
          <a:xfrm>
            <a:off x="558786" y="1662906"/>
            <a:ext cx="11074123" cy="4245173"/>
          </a:xfrm>
          <a:prstGeom prst="rect">
            <a:avLst/>
          </a:prstGeom>
          <a:solidFill>
            <a:srgbClr val="E6E6EA"/>
          </a:solidFill>
          <a:ln w="6350">
            <a:solidFill>
              <a:srgbClr val="1A1A1A"/>
            </a:solidFill>
            <a:prstDash val="solid"/>
          </a:ln>
        </p:spPr>
      </p:sp>
      <p:sp>
        <p:nvSpPr>
          <p:cNvPr id="7" name="Shape 5"/>
          <p:cNvSpPr/>
          <p:nvPr/>
        </p:nvSpPr>
        <p:spPr>
          <a:xfrm>
            <a:off x="869928" y="1897856"/>
            <a:ext cx="2498662" cy="3775273"/>
          </a:xfrm>
          <a:prstGeom prst="rect">
            <a:avLst/>
          </a:prstGeom>
          <a:solidFill>
            <a:srgbClr val="FFFFFF"/>
          </a:solidFill>
          <a:ln w="6350">
            <a:solidFill>
              <a:srgbClr val="1A1A1A"/>
            </a:solidFill>
            <a:prstDash val="solid"/>
          </a:ln>
        </p:spPr>
      </p:sp>
      <p:sp>
        <p:nvSpPr>
          <p:cNvPr id="8" name="Shape 6"/>
          <p:cNvSpPr/>
          <p:nvPr/>
        </p:nvSpPr>
        <p:spPr>
          <a:xfrm>
            <a:off x="1028674" y="2056606"/>
            <a:ext cx="1911203" cy="336649"/>
          </a:xfrm>
          <a:prstGeom prst="rect">
            <a:avLst/>
          </a:prstGeom>
          <a:solidFill>
            <a:srgbClr val="1A1A1A"/>
          </a:solidFill>
          <a:ln/>
        </p:spPr>
      </p:sp>
      <p:sp>
        <p:nvSpPr>
          <p:cNvPr id="9" name="Text 7"/>
          <p:cNvSpPr/>
          <p:nvPr/>
        </p:nvSpPr>
        <p:spPr>
          <a:xfrm>
            <a:off x="1158151" y="2126631"/>
            <a:ext cx="2210439"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CAPA 1: CLIENTE</a:t>
            </a:r>
            <a:endParaRPr lang="en-US" sz="1350" dirty="0"/>
          </a:p>
        </p:txBody>
      </p:sp>
      <p:sp>
        <p:nvSpPr>
          <p:cNvPr id="10" name="Text 8"/>
          <p:cNvSpPr/>
          <p:nvPr/>
        </p:nvSpPr>
        <p:spPr>
          <a:xfrm>
            <a:off x="1028674" y="2595662"/>
            <a:ext cx="2181170"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120"/>
              </a:rPr>
              <a:t>Aplicación Python</a:t>
            </a:r>
            <a:endParaRPr lang="en-US" sz="1900" dirty="0"/>
          </a:p>
        </p:txBody>
      </p:sp>
      <p:sp>
        <p:nvSpPr>
          <p:cNvPr id="11" name="Text 9"/>
          <p:cNvSpPr/>
          <p:nvPr/>
        </p:nvSpPr>
        <p:spPr>
          <a:xfrm>
            <a:off x="1028674" y="3042305"/>
            <a:ext cx="2181170" cy="1491258"/>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El script del cliente ejecuta llamadas SQL. La biblioteca establece una sesión dedicada o solicita una conexión al pool de servidores.</a:t>
            </a:r>
            <a:endParaRPr lang="en-US" sz="1450" dirty="0"/>
          </a:p>
        </p:txBody>
      </p:sp>
      <p:sp>
        <p:nvSpPr>
          <p:cNvPr id="12" name="Shape 10"/>
          <p:cNvSpPr/>
          <p:nvPr/>
        </p:nvSpPr>
        <p:spPr>
          <a:xfrm>
            <a:off x="3520987" y="1897856"/>
            <a:ext cx="2498662" cy="3775273"/>
          </a:xfrm>
          <a:prstGeom prst="rect">
            <a:avLst/>
          </a:prstGeom>
          <a:solidFill>
            <a:srgbClr val="FFFFFF"/>
          </a:solidFill>
          <a:ln w="6350">
            <a:solidFill>
              <a:srgbClr val="1A1A1A"/>
            </a:solidFill>
            <a:prstDash val="solid"/>
          </a:ln>
        </p:spPr>
      </p:sp>
      <p:sp>
        <p:nvSpPr>
          <p:cNvPr id="13" name="Shape 11"/>
          <p:cNvSpPr/>
          <p:nvPr/>
        </p:nvSpPr>
        <p:spPr>
          <a:xfrm>
            <a:off x="3679733" y="2056606"/>
            <a:ext cx="1470584" cy="336649"/>
          </a:xfrm>
          <a:prstGeom prst="rect">
            <a:avLst/>
          </a:prstGeom>
          <a:solidFill>
            <a:srgbClr val="1A1A1A"/>
          </a:solidFill>
          <a:ln/>
        </p:spPr>
      </p:sp>
      <p:sp>
        <p:nvSpPr>
          <p:cNvPr id="14" name="Text 12"/>
          <p:cNvSpPr/>
          <p:nvPr/>
        </p:nvSpPr>
        <p:spPr>
          <a:xfrm>
            <a:off x="3809210" y="2126631"/>
            <a:ext cx="182121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CAPA 2: PGA</a:t>
            </a:r>
            <a:endParaRPr lang="en-US" sz="1350" dirty="0"/>
          </a:p>
        </p:txBody>
      </p:sp>
      <p:sp>
        <p:nvSpPr>
          <p:cNvPr id="15" name="Text 13"/>
          <p:cNvSpPr/>
          <p:nvPr/>
        </p:nvSpPr>
        <p:spPr>
          <a:xfrm>
            <a:off x="3679733" y="2595662"/>
            <a:ext cx="2181170"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120"/>
              </a:rPr>
              <a:t>Memoria privada</a:t>
            </a:r>
            <a:endParaRPr lang="en-US" sz="1900" dirty="0"/>
          </a:p>
        </p:txBody>
      </p:sp>
      <p:sp>
        <p:nvSpPr>
          <p:cNvPr id="16" name="Text 14"/>
          <p:cNvSpPr/>
          <p:nvPr/>
        </p:nvSpPr>
        <p:spPr>
          <a:xfrm>
            <a:off x="3679733" y="3042305"/>
            <a:ext cx="2181170" cy="1491258"/>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PGA (Program Global Area): asignada a cada proceso servidor individual. Alberga áreas de ordenamiento (sort area), cursores y variables de sesión.</a:t>
            </a:r>
            <a:endParaRPr lang="en-US" sz="1450" dirty="0"/>
          </a:p>
        </p:txBody>
      </p:sp>
      <p:sp>
        <p:nvSpPr>
          <p:cNvPr id="17" name="Shape 15"/>
          <p:cNvSpPr/>
          <p:nvPr/>
        </p:nvSpPr>
        <p:spPr>
          <a:xfrm>
            <a:off x="6172046" y="1897856"/>
            <a:ext cx="2498662" cy="3775273"/>
          </a:xfrm>
          <a:prstGeom prst="rect">
            <a:avLst/>
          </a:prstGeom>
          <a:solidFill>
            <a:srgbClr val="FFFFFF"/>
          </a:solidFill>
          <a:ln w="6350">
            <a:solidFill>
              <a:srgbClr val="1A1A1A"/>
            </a:solidFill>
            <a:prstDash val="solid"/>
          </a:ln>
        </p:spPr>
      </p:sp>
      <p:sp>
        <p:nvSpPr>
          <p:cNvPr id="18" name="Shape 16"/>
          <p:cNvSpPr/>
          <p:nvPr/>
        </p:nvSpPr>
        <p:spPr>
          <a:xfrm>
            <a:off x="6330792" y="2056606"/>
            <a:ext cx="2181170" cy="543917"/>
          </a:xfrm>
          <a:prstGeom prst="rect">
            <a:avLst/>
          </a:prstGeom>
          <a:solidFill>
            <a:srgbClr val="1A1A1A"/>
          </a:solidFill>
          <a:ln/>
        </p:spPr>
      </p:sp>
      <p:sp>
        <p:nvSpPr>
          <p:cNvPr id="19" name="Text 17"/>
          <p:cNvSpPr/>
          <p:nvPr/>
        </p:nvSpPr>
        <p:spPr>
          <a:xfrm>
            <a:off x="6460269" y="2126631"/>
            <a:ext cx="1922216" cy="414536"/>
          </a:xfrm>
          <a:prstGeom prst="rect">
            <a:avLst/>
          </a:prstGeom>
          <a:noFill/>
          <a:ln/>
        </p:spPr>
        <p:txBody>
          <a:bodyPr wrap="square" lIns="0" tIns="0" rIns="0" bIns="0" rtlCol="0" anchor="t">
            <a:normAutofit/>
          </a:bodyPr>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CAPA 3: SGA &amp; DAEMONS</a:t>
            </a:r>
            <a:endParaRPr lang="en-US" sz="1350" dirty="0"/>
          </a:p>
        </p:txBody>
      </p:sp>
      <p:sp>
        <p:nvSpPr>
          <p:cNvPr id="20" name="Text 18"/>
          <p:cNvSpPr/>
          <p:nvPr/>
        </p:nvSpPr>
        <p:spPr>
          <a:xfrm>
            <a:off x="6330792" y="2802930"/>
            <a:ext cx="2181170"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120"/>
              </a:rPr>
              <a:t>SGA + Procesos</a:t>
            </a:r>
            <a:endParaRPr lang="en-US" sz="1900" dirty="0"/>
          </a:p>
        </p:txBody>
      </p:sp>
      <p:sp>
        <p:nvSpPr>
          <p:cNvPr id="21" name="Text 19"/>
          <p:cNvSpPr/>
          <p:nvPr/>
        </p:nvSpPr>
        <p:spPr>
          <a:xfrm>
            <a:off x="6330792" y="3249573"/>
            <a:ext cx="2181170" cy="2236887"/>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SGA (System Global Area) compartida: buffer cache, shared pool y redo buffer. Coordinada por DBWR (Database Writer), LGWR (Log Writer), CKPT (Checkpoint), SMON (System Monitor) y PMON (Process Monitor).</a:t>
            </a:r>
            <a:endParaRPr lang="en-US" sz="1450" dirty="0"/>
          </a:p>
        </p:txBody>
      </p:sp>
      <p:sp>
        <p:nvSpPr>
          <p:cNvPr id="22" name="Shape 20"/>
          <p:cNvSpPr/>
          <p:nvPr/>
        </p:nvSpPr>
        <p:spPr>
          <a:xfrm>
            <a:off x="8823104" y="1897856"/>
            <a:ext cx="2498662" cy="3775273"/>
          </a:xfrm>
          <a:prstGeom prst="rect">
            <a:avLst/>
          </a:prstGeom>
          <a:solidFill>
            <a:srgbClr val="FFFFFF"/>
          </a:solidFill>
          <a:ln w="6350">
            <a:solidFill>
              <a:srgbClr val="1A1A1A"/>
            </a:solidFill>
            <a:prstDash val="solid"/>
          </a:ln>
        </p:spPr>
      </p:sp>
      <p:sp>
        <p:nvSpPr>
          <p:cNvPr id="23" name="Shape 21"/>
          <p:cNvSpPr/>
          <p:nvPr/>
        </p:nvSpPr>
        <p:spPr>
          <a:xfrm>
            <a:off x="8981850" y="2056606"/>
            <a:ext cx="2181170" cy="543917"/>
          </a:xfrm>
          <a:prstGeom prst="rect">
            <a:avLst/>
          </a:prstGeom>
          <a:solidFill>
            <a:srgbClr val="1A1A1A"/>
          </a:solidFill>
          <a:ln/>
        </p:spPr>
      </p:sp>
      <p:sp>
        <p:nvSpPr>
          <p:cNvPr id="24" name="Text 22"/>
          <p:cNvSpPr/>
          <p:nvPr/>
        </p:nvSpPr>
        <p:spPr>
          <a:xfrm>
            <a:off x="9111328" y="2126631"/>
            <a:ext cx="1922216" cy="414536"/>
          </a:xfrm>
          <a:prstGeom prst="rect">
            <a:avLst/>
          </a:prstGeom>
          <a:noFill/>
          <a:ln/>
        </p:spPr>
        <p:txBody>
          <a:bodyPr wrap="square" lIns="0" tIns="0" rIns="0" bIns="0" rtlCol="0" anchor="t">
            <a:normAutofit/>
          </a:bodyPr>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CAPA 4: ALMACENAMIENTO</a:t>
            </a:r>
            <a:endParaRPr lang="en-US" sz="1350" dirty="0"/>
          </a:p>
        </p:txBody>
      </p:sp>
      <p:sp>
        <p:nvSpPr>
          <p:cNvPr id="25" name="Text 23"/>
          <p:cNvSpPr/>
          <p:nvPr/>
        </p:nvSpPr>
        <p:spPr>
          <a:xfrm>
            <a:off x="8981850" y="2802930"/>
            <a:ext cx="2181170"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120"/>
              </a:rPr>
              <a:t>Archivos físicos</a:t>
            </a:r>
            <a:endParaRPr lang="en-US" sz="1900" dirty="0"/>
          </a:p>
        </p:txBody>
      </p:sp>
      <p:sp>
        <p:nvSpPr>
          <p:cNvPr id="26" name="Text 24"/>
          <p:cNvSpPr/>
          <p:nvPr/>
        </p:nvSpPr>
        <p:spPr>
          <a:xfrm>
            <a:off x="8981850" y="3249573"/>
            <a:ext cx="2181170" cy="1491258"/>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Persistencia en disco mediante datafiles (tablas e índices), control files (metadatos del estado del clúster) y redo logs (trazabilidad transaccional).</a:t>
            </a:r>
            <a:endParaRPr lang="en-US" sz="1450" dirty="0"/>
          </a:p>
        </p:txBody>
      </p:sp>
      <p:sp>
        <p:nvSpPr>
          <p:cNvPr id="27" name="Shape 25"/>
          <p:cNvSpPr/>
          <p:nvPr/>
        </p:nvSpPr>
        <p:spPr>
          <a:xfrm>
            <a:off x="558786" y="5908080"/>
            <a:ext cx="11074123" cy="645120"/>
          </a:xfrm>
          <a:prstGeom prst="rect">
            <a:avLst/>
          </a:prstGeom>
          <a:solidFill>
            <a:srgbClr val="E6E6EA"/>
          </a:solidFill>
          <a:ln w="6350">
            <a:solidFill>
              <a:srgbClr val="1A1A1A"/>
            </a:solidFill>
            <a:prstDash val="solid"/>
          </a:ln>
        </p:spPr>
      </p:sp>
      <p:sp>
        <p:nvSpPr>
          <p:cNvPr id="28" name="Text 26"/>
          <p:cNvSpPr/>
          <p:nvPr/>
        </p:nvSpPr>
        <p:spPr>
          <a:xfrm>
            <a:off x="844529" y="6019522"/>
            <a:ext cx="10502637" cy="429220"/>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000000"/>
                </a:solidFill>
                <a:latin typeface="Fragment Mono" pitchFamily="34" charset="0"/>
                <a:ea typeface="Fragment Mono" pitchFamily="34" charset="-122"/>
                <a:cs typeface="Fragment Mono" pitchFamily="34" charset="-120"/>
              </a:rPr>
              <a:t>FLUJO DE EJECUCIÓN: CLIENTE → CONEXIÓN DEDICADA/PGA → MEMORIA COMPARTIDA SGA → SINCRONIZACIÓN A DISCO MEDIANTE DBWR Y LGWR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8786" y="414020"/>
            <a:ext cx="1163290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120"/>
              </a:rPr>
              <a:t>INTEGRIDAD Y CONCURRENCIA</a:t>
            </a:r>
            <a:endParaRPr lang="en-US" sz="1300" dirty="0"/>
          </a:p>
        </p:txBody>
      </p:sp>
      <p:sp>
        <p:nvSpPr>
          <p:cNvPr id="3" name="Text 1"/>
          <p:cNvSpPr/>
          <p:nvPr/>
        </p:nvSpPr>
        <p:spPr>
          <a:xfrm>
            <a:off x="558786" y="735060"/>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120"/>
              </a:rPr>
              <a:t>Conceptos clave: transacciones, redo y undo</a:t>
            </a:r>
            <a:endParaRPr lang="en-US" sz="3400" dirty="0"/>
          </a:p>
        </p:txBody>
      </p:sp>
      <p:sp>
        <p:nvSpPr>
          <p:cNvPr id="4" name="Text 2"/>
          <p:cNvSpPr/>
          <p:nvPr/>
        </p:nvSpPr>
        <p:spPr>
          <a:xfrm>
            <a:off x="558786" y="1331516"/>
            <a:ext cx="11074123"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21212"/>
                </a:solidFill>
                <a:latin typeface="Inter Tight" pitchFamily="34" charset="0"/>
                <a:ea typeface="Inter Tight" pitchFamily="34" charset="-122"/>
                <a:cs typeface="Inter Tight" pitchFamily="34" charset="-120"/>
              </a:rPr>
              <a:t>Mecanismos fundamentales de recuperación, aislamiento y consistencia</a:t>
            </a:r>
            <a:endParaRPr lang="en-US" sz="2000" dirty="0"/>
          </a:p>
        </p:txBody>
      </p:sp>
      <p:sp>
        <p:nvSpPr>
          <p:cNvPr id="5" name="Shape 3"/>
          <p:cNvSpPr/>
          <p:nvPr/>
        </p:nvSpPr>
        <p:spPr>
          <a:xfrm>
            <a:off x="558786" y="2175073"/>
            <a:ext cx="3488146" cy="3021707"/>
          </a:xfrm>
          <a:prstGeom prst="rect">
            <a:avLst/>
          </a:prstGeom>
          <a:solidFill>
            <a:srgbClr val="E6E6EA"/>
          </a:solidFill>
          <a:ln w="6350">
            <a:solidFill>
              <a:srgbClr val="1A1A1A"/>
            </a:solidFill>
            <a:prstDash val="solid"/>
          </a:ln>
        </p:spPr>
      </p:sp>
      <p:sp>
        <p:nvSpPr>
          <p:cNvPr id="6" name="Shape 4"/>
          <p:cNvSpPr/>
          <p:nvPr/>
        </p:nvSpPr>
        <p:spPr>
          <a:xfrm>
            <a:off x="793730" y="2410023"/>
            <a:ext cx="1580714" cy="336649"/>
          </a:xfrm>
          <a:prstGeom prst="rect">
            <a:avLst/>
          </a:prstGeom>
          <a:solidFill>
            <a:srgbClr val="1A1A1A"/>
          </a:solidFill>
          <a:ln/>
        </p:spPr>
      </p:sp>
      <p:sp>
        <p:nvSpPr>
          <p:cNvPr id="7" name="Text 5"/>
          <p:cNvSpPr/>
          <p:nvPr/>
        </p:nvSpPr>
        <p:spPr>
          <a:xfrm>
            <a:off x="923207" y="2480048"/>
            <a:ext cx="193134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RECUPERACIÓN</a:t>
            </a:r>
            <a:endParaRPr lang="en-US" sz="1350" dirty="0"/>
          </a:p>
        </p:txBody>
      </p:sp>
      <p:sp>
        <p:nvSpPr>
          <p:cNvPr id="8" name="Text 6"/>
          <p:cNvSpPr/>
          <p:nvPr/>
        </p:nvSpPr>
        <p:spPr>
          <a:xfrm>
            <a:off x="793730" y="2948285"/>
            <a:ext cx="3018258" cy="381000"/>
          </a:xfrm>
          <a:prstGeom prst="rect">
            <a:avLst/>
          </a:prstGeom>
          <a:noFill/>
          <a:ln/>
        </p:spPr>
        <p:txBody>
          <a:bodyPr wrap="none" lIns="0" tIns="0" rIns="0" bIns="0" rtlCol="0" anchor="t"/>
          <a:lstStyle/>
          <a:p>
            <a:pPr algn="l" indent="0" marL="0">
              <a:lnSpc>
                <a:spcPct val="104000"/>
              </a:lnSpc>
              <a:buNone/>
            </a:pPr>
            <a:r>
              <a:rPr lang="en-US" sz="2400" spc="-12" kern="100" dirty="0">
                <a:solidFill>
                  <a:srgbClr val="000000"/>
                </a:solidFill>
                <a:latin typeface="Inter Tight" pitchFamily="34" charset="0"/>
                <a:ea typeface="Inter Tight" pitchFamily="34" charset="-122"/>
                <a:cs typeface="Inter Tight" pitchFamily="34" charset="-120"/>
              </a:rPr>
              <a:t>Redo logs</a:t>
            </a:r>
            <a:endParaRPr lang="en-US" sz="2400" dirty="0"/>
          </a:p>
        </p:txBody>
      </p:sp>
      <p:sp>
        <p:nvSpPr>
          <p:cNvPr id="9" name="Text 7"/>
          <p:cNvSpPr/>
          <p:nvPr/>
        </p:nvSpPr>
        <p:spPr>
          <a:xfrm>
            <a:off x="793730" y="3475097"/>
            <a:ext cx="3018258" cy="1242715"/>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El </a:t>
            </a:r>
            <a:pPr algn="l" indent="0" marL="0">
              <a:lnSpc>
                <a:spcPct val="113000"/>
              </a:lnSpc>
              <a:buNone/>
            </a:pPr>
            <a:r>
              <a:rPr lang="en-US" sz="1450" b="1" dirty="0">
                <a:solidFill>
                  <a:srgbClr val="000000"/>
                </a:solidFill>
                <a:latin typeface="Inter Tight Bold" pitchFamily="34" charset="0"/>
                <a:ea typeface="Inter Tight Bold" pitchFamily="34" charset="-122"/>
                <a:cs typeface="Inter Tight Bold" pitchFamily="34" charset="-120"/>
              </a:rPr>
              <a:t>redo</a:t>
            </a:r>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 garantiza la recuperación completa ante fallos (roll-forward). Registra de forma secuencial cada cambio en bloques de datos antes de que se confirme la transacción.</a:t>
            </a:r>
            <a:endParaRPr lang="en-US" sz="1450" dirty="0"/>
          </a:p>
        </p:txBody>
      </p:sp>
      <p:sp>
        <p:nvSpPr>
          <p:cNvPr id="10" name="Shape 8"/>
          <p:cNvSpPr/>
          <p:nvPr/>
        </p:nvSpPr>
        <p:spPr>
          <a:xfrm>
            <a:off x="4351725" y="2175073"/>
            <a:ext cx="3488146" cy="3021707"/>
          </a:xfrm>
          <a:prstGeom prst="rect">
            <a:avLst/>
          </a:prstGeom>
          <a:solidFill>
            <a:srgbClr val="E6E6EA"/>
          </a:solidFill>
          <a:ln w="6350">
            <a:solidFill>
              <a:srgbClr val="1A1A1A"/>
            </a:solidFill>
            <a:prstDash val="solid"/>
          </a:ln>
        </p:spPr>
      </p:sp>
      <p:sp>
        <p:nvSpPr>
          <p:cNvPr id="11" name="Shape 9"/>
          <p:cNvSpPr/>
          <p:nvPr/>
        </p:nvSpPr>
        <p:spPr>
          <a:xfrm>
            <a:off x="4586669" y="2410023"/>
            <a:ext cx="2351723" cy="336649"/>
          </a:xfrm>
          <a:prstGeom prst="rect">
            <a:avLst/>
          </a:prstGeom>
          <a:solidFill>
            <a:srgbClr val="1A1A1A"/>
          </a:solidFill>
          <a:ln/>
        </p:spPr>
      </p:sp>
      <p:sp>
        <p:nvSpPr>
          <p:cNvPr id="12" name="Text 10"/>
          <p:cNvSpPr/>
          <p:nvPr/>
        </p:nvSpPr>
        <p:spPr>
          <a:xfrm>
            <a:off x="4716146" y="2480048"/>
            <a:ext cx="2702353"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REVERSIÓN Y LECTURA</a:t>
            </a:r>
            <a:endParaRPr lang="en-US" sz="1350" dirty="0"/>
          </a:p>
        </p:txBody>
      </p:sp>
      <p:sp>
        <p:nvSpPr>
          <p:cNvPr id="13" name="Text 11"/>
          <p:cNvSpPr/>
          <p:nvPr/>
        </p:nvSpPr>
        <p:spPr>
          <a:xfrm>
            <a:off x="4586669" y="2948285"/>
            <a:ext cx="3018258" cy="381000"/>
          </a:xfrm>
          <a:prstGeom prst="rect">
            <a:avLst/>
          </a:prstGeom>
          <a:noFill/>
          <a:ln/>
        </p:spPr>
        <p:txBody>
          <a:bodyPr wrap="none" lIns="0" tIns="0" rIns="0" bIns="0" rtlCol="0" anchor="t"/>
          <a:lstStyle/>
          <a:p>
            <a:pPr algn="l" indent="0" marL="0">
              <a:lnSpc>
                <a:spcPct val="104000"/>
              </a:lnSpc>
              <a:buNone/>
            </a:pPr>
            <a:r>
              <a:rPr lang="en-US" sz="2400" spc="-12" kern="100" dirty="0">
                <a:solidFill>
                  <a:srgbClr val="000000"/>
                </a:solidFill>
                <a:latin typeface="Inter Tight" pitchFamily="34" charset="0"/>
                <a:ea typeface="Inter Tight" pitchFamily="34" charset="-122"/>
                <a:cs typeface="Inter Tight" pitchFamily="34" charset="-120"/>
              </a:rPr>
              <a:t>Undo segments</a:t>
            </a:r>
            <a:endParaRPr lang="en-US" sz="2400" dirty="0"/>
          </a:p>
        </p:txBody>
      </p:sp>
      <p:sp>
        <p:nvSpPr>
          <p:cNvPr id="14" name="Text 12"/>
          <p:cNvSpPr/>
          <p:nvPr/>
        </p:nvSpPr>
        <p:spPr>
          <a:xfrm>
            <a:off x="4586669" y="3475097"/>
            <a:ext cx="3018258" cy="1242715"/>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El </a:t>
            </a:r>
            <a:pPr algn="l" indent="0" marL="0">
              <a:lnSpc>
                <a:spcPct val="113000"/>
              </a:lnSpc>
              <a:buNone/>
            </a:pPr>
            <a:r>
              <a:rPr lang="en-US" sz="1450" b="1" dirty="0">
                <a:solidFill>
                  <a:srgbClr val="000000"/>
                </a:solidFill>
                <a:latin typeface="Inter Tight Bold" pitchFamily="34" charset="0"/>
                <a:ea typeface="Inter Tight Bold" pitchFamily="34" charset="-122"/>
                <a:cs typeface="Inter Tight Bold" pitchFamily="34" charset="-120"/>
              </a:rPr>
              <a:t>undo</a:t>
            </a:r>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 permite rollback de operaciones abortadas y asegura la consistencia de lectura, reconstruyendo vistas temporales de los datos para sesiones concurrentes.</a:t>
            </a:r>
            <a:endParaRPr lang="en-US" sz="1450" dirty="0"/>
          </a:p>
        </p:txBody>
      </p:sp>
      <p:sp>
        <p:nvSpPr>
          <p:cNvPr id="15" name="Shape 13"/>
          <p:cNvSpPr/>
          <p:nvPr/>
        </p:nvSpPr>
        <p:spPr>
          <a:xfrm>
            <a:off x="8144663" y="2175073"/>
            <a:ext cx="3488246" cy="3021707"/>
          </a:xfrm>
          <a:prstGeom prst="rect">
            <a:avLst/>
          </a:prstGeom>
          <a:solidFill>
            <a:srgbClr val="E6E6EA"/>
          </a:solidFill>
          <a:ln w="6350">
            <a:solidFill>
              <a:srgbClr val="1A1A1A"/>
            </a:solidFill>
            <a:prstDash val="solid"/>
          </a:ln>
        </p:spPr>
      </p:sp>
      <p:sp>
        <p:nvSpPr>
          <p:cNvPr id="16" name="Shape 14"/>
          <p:cNvSpPr/>
          <p:nvPr/>
        </p:nvSpPr>
        <p:spPr>
          <a:xfrm>
            <a:off x="8379608" y="2410023"/>
            <a:ext cx="2351723" cy="336649"/>
          </a:xfrm>
          <a:prstGeom prst="rect">
            <a:avLst/>
          </a:prstGeom>
          <a:solidFill>
            <a:srgbClr val="1A1A1A"/>
          </a:solidFill>
          <a:ln/>
        </p:spPr>
      </p:sp>
      <p:sp>
        <p:nvSpPr>
          <p:cNvPr id="17" name="Text 15"/>
          <p:cNvSpPr/>
          <p:nvPr/>
        </p:nvSpPr>
        <p:spPr>
          <a:xfrm>
            <a:off x="8509085" y="2480048"/>
            <a:ext cx="2702353"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RELOJ Y AISLAMIENTO</a:t>
            </a:r>
            <a:endParaRPr lang="en-US" sz="1350" dirty="0"/>
          </a:p>
        </p:txBody>
      </p:sp>
      <p:sp>
        <p:nvSpPr>
          <p:cNvPr id="18" name="Text 16"/>
          <p:cNvSpPr/>
          <p:nvPr/>
        </p:nvSpPr>
        <p:spPr>
          <a:xfrm>
            <a:off x="8379608" y="2948285"/>
            <a:ext cx="3018357" cy="381000"/>
          </a:xfrm>
          <a:prstGeom prst="rect">
            <a:avLst/>
          </a:prstGeom>
          <a:noFill/>
          <a:ln/>
        </p:spPr>
        <p:txBody>
          <a:bodyPr wrap="none" lIns="0" tIns="0" rIns="0" bIns="0" rtlCol="0" anchor="t"/>
          <a:lstStyle/>
          <a:p>
            <a:pPr algn="l" indent="0" marL="0">
              <a:lnSpc>
                <a:spcPct val="104000"/>
              </a:lnSpc>
              <a:buNone/>
            </a:pPr>
            <a:r>
              <a:rPr lang="en-US" sz="2400" spc="-12" kern="100" dirty="0">
                <a:solidFill>
                  <a:srgbClr val="000000"/>
                </a:solidFill>
                <a:latin typeface="Inter Tight" pitchFamily="34" charset="0"/>
                <a:ea typeface="Inter Tight" pitchFamily="34" charset="-122"/>
                <a:cs typeface="Inter Tight" pitchFamily="34" charset="-120"/>
              </a:rPr>
              <a:t>SCN y MVCC</a:t>
            </a:r>
            <a:endParaRPr lang="en-US" sz="2400" dirty="0"/>
          </a:p>
        </p:txBody>
      </p:sp>
      <p:sp>
        <p:nvSpPr>
          <p:cNvPr id="19" name="Text 17"/>
          <p:cNvSpPr/>
          <p:nvPr/>
        </p:nvSpPr>
        <p:spPr>
          <a:xfrm>
            <a:off x="8379608" y="3475097"/>
            <a:ext cx="3018357" cy="1491258"/>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SCN (System Change Number) actúa como reloj lógico del sistema. Junto a MVCC (Multi-Version Concurrency Control), asegura que </a:t>
            </a:r>
            <a:pPr algn="l" indent="0" marL="0">
              <a:lnSpc>
                <a:spcPct val="113000"/>
              </a:lnSpc>
              <a:buNone/>
            </a:pPr>
            <a:r>
              <a:rPr lang="en-US" sz="1450" b="1" dirty="0">
                <a:solidFill>
                  <a:srgbClr val="000000"/>
                </a:solidFill>
                <a:latin typeface="Inter Tight Bold" pitchFamily="34" charset="0"/>
                <a:ea typeface="Inter Tight Bold" pitchFamily="34" charset="-122"/>
                <a:cs typeface="Inter Tight Bold" pitchFamily="34" charset="-120"/>
              </a:rPr>
              <a:t>los lectores nunca bloqueen a los escritores</a:t>
            </a:r>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 ni viceversa.</a:t>
            </a:r>
            <a:endParaRPr lang="en-US" sz="1450" dirty="0"/>
          </a:p>
        </p:txBody>
      </p:sp>
      <p:sp>
        <p:nvSpPr>
          <p:cNvPr id="20" name="Shape 18"/>
          <p:cNvSpPr/>
          <p:nvPr/>
        </p:nvSpPr>
        <p:spPr>
          <a:xfrm>
            <a:off x="558786" y="5738713"/>
            <a:ext cx="11074123" cy="763786"/>
          </a:xfrm>
          <a:prstGeom prst="rect">
            <a:avLst/>
          </a:prstGeom>
          <a:solidFill>
            <a:srgbClr val="E2DAFB"/>
          </a:solidFill>
          <a:ln w="6350">
            <a:solidFill>
              <a:srgbClr val="1A1A1A"/>
            </a:solidFill>
            <a:prstDash val="solid"/>
          </a:ln>
        </p:spPr>
      </p:sp>
      <p:sp>
        <p:nvSpPr>
          <p:cNvPr id="21" name="Text 19"/>
          <p:cNvSpPr/>
          <p:nvPr/>
        </p:nvSpPr>
        <p:spPr>
          <a:xfrm>
            <a:off x="768331" y="5876588"/>
            <a:ext cx="10655033" cy="497086"/>
          </a:xfrm>
          <a:prstGeom prst="rect">
            <a:avLst/>
          </a:prstGeom>
          <a:noFill/>
          <a:ln/>
        </p:spPr>
        <p:txBody>
          <a:bodyPr wrap="square" lIns="0" tIns="0" rIns="0" bIns="0" rtlCol="0" anchor="t">
            <a:normAutofit/>
          </a:bodyPr>
          <a:lstStyle/>
          <a:p>
            <a:pPr algn="l" indent="0" marL="0">
              <a:lnSpc>
                <a:spcPct val="113000"/>
              </a:lnSpc>
              <a:buNone/>
            </a:pPr>
            <a:r>
              <a:rPr lang="en-US" sz="1450" b="1" dirty="0">
                <a:solidFill>
                  <a:srgbClr val="000000"/>
                </a:solidFill>
                <a:latin typeface="Inter Tight Bold" pitchFamily="34" charset="0"/>
                <a:ea typeface="Inter Tight Bold" pitchFamily="34" charset="-122"/>
                <a:cs typeface="Inter Tight Bold" pitchFamily="34" charset="-120"/>
              </a:rPr>
              <a:t>Principio de aislamiento:</a:t>
            </a:r>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 una consulta iniciada en SCN 1000 verá siempre el estado exacto en SCN 1000, usando el undo si otra transacción modifica los bloques en SCN 1001.</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58786" y="414020"/>
            <a:ext cx="1163290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120"/>
              </a:rPr>
              <a:t>MOTOR DE EJECUCIÓN</a:t>
            </a:r>
            <a:endParaRPr lang="en-US" sz="1300" dirty="0"/>
          </a:p>
        </p:txBody>
      </p:sp>
      <p:sp>
        <p:nvSpPr>
          <p:cNvPr id="3" name="Text 1"/>
          <p:cNvSpPr/>
          <p:nvPr/>
        </p:nvSpPr>
        <p:spPr>
          <a:xfrm>
            <a:off x="558786" y="735060"/>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120"/>
              </a:rPr>
              <a:t>Conceptos clave: optimizador, índices y PL/SQL</a:t>
            </a:r>
            <a:endParaRPr lang="en-US" sz="3400" dirty="0"/>
          </a:p>
        </p:txBody>
      </p:sp>
      <p:sp>
        <p:nvSpPr>
          <p:cNvPr id="4" name="Shape 2"/>
          <p:cNvSpPr/>
          <p:nvPr/>
        </p:nvSpPr>
        <p:spPr>
          <a:xfrm>
            <a:off x="558786" y="1731665"/>
            <a:ext cx="11074123" cy="375841"/>
          </a:xfrm>
          <a:prstGeom prst="rect">
            <a:avLst/>
          </a:prstGeom>
          <a:solidFill>
            <a:srgbClr val="1A1A1A"/>
          </a:solidFill>
          <a:ln/>
        </p:spPr>
      </p:sp>
      <p:sp>
        <p:nvSpPr>
          <p:cNvPr id="5" name="Text 3"/>
          <p:cNvSpPr/>
          <p:nvPr/>
        </p:nvSpPr>
        <p:spPr>
          <a:xfrm>
            <a:off x="711182" y="1828185"/>
            <a:ext cx="10921727"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FFFFFF"/>
                </a:solidFill>
                <a:latin typeface="Fragment Mono" pitchFamily="34" charset="0"/>
                <a:ea typeface="Fragment Mono" pitchFamily="34" charset="-122"/>
                <a:cs typeface="Fragment Mono" pitchFamily="34" charset="-120"/>
              </a:rPr>
              <a:t>EXECUTION_ENGINE.SPEC</a:t>
            </a:r>
            <a:endParaRPr lang="en-US" sz="1300" dirty="0"/>
          </a:p>
        </p:txBody>
      </p:sp>
      <p:sp>
        <p:nvSpPr>
          <p:cNvPr id="6" name="Shape 4"/>
          <p:cNvSpPr/>
          <p:nvPr/>
        </p:nvSpPr>
        <p:spPr>
          <a:xfrm>
            <a:off x="558786" y="2107505"/>
            <a:ext cx="11074123" cy="3140075"/>
          </a:xfrm>
          <a:prstGeom prst="rect">
            <a:avLst/>
          </a:prstGeom>
          <a:solidFill>
            <a:srgbClr val="E6E6EA"/>
          </a:solidFill>
          <a:ln w="6350">
            <a:solidFill>
              <a:srgbClr val="1A1A1A"/>
            </a:solidFill>
            <a:prstDash val="solid"/>
          </a:ln>
        </p:spPr>
      </p:sp>
      <p:sp>
        <p:nvSpPr>
          <p:cNvPr id="7" name="Shape 5"/>
          <p:cNvSpPr/>
          <p:nvPr/>
        </p:nvSpPr>
        <p:spPr>
          <a:xfrm>
            <a:off x="844529" y="2317055"/>
            <a:ext cx="1470584" cy="336649"/>
          </a:xfrm>
          <a:prstGeom prst="rect">
            <a:avLst/>
          </a:prstGeom>
          <a:solidFill>
            <a:srgbClr val="1A1A1A"/>
          </a:solidFill>
          <a:ln/>
        </p:spPr>
      </p:sp>
      <p:sp>
        <p:nvSpPr>
          <p:cNvPr id="8" name="Text 6"/>
          <p:cNvSpPr/>
          <p:nvPr/>
        </p:nvSpPr>
        <p:spPr>
          <a:xfrm>
            <a:off x="974006" y="2387080"/>
            <a:ext cx="182121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OPTIMIZADOR</a:t>
            </a:r>
            <a:endParaRPr lang="en-US" sz="1350" dirty="0"/>
          </a:p>
        </p:txBody>
      </p:sp>
      <p:sp>
        <p:nvSpPr>
          <p:cNvPr id="9" name="Text 7"/>
          <p:cNvSpPr/>
          <p:nvPr/>
        </p:nvSpPr>
        <p:spPr>
          <a:xfrm>
            <a:off x="844529" y="2856111"/>
            <a:ext cx="3272252"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120"/>
              </a:rPr>
              <a:t>CBO y estadísticas</a:t>
            </a:r>
            <a:endParaRPr lang="en-US" sz="1900" dirty="0"/>
          </a:p>
        </p:txBody>
      </p:sp>
      <p:sp>
        <p:nvSpPr>
          <p:cNvPr id="10" name="Text 8"/>
          <p:cNvSpPr/>
          <p:nvPr/>
        </p:nvSpPr>
        <p:spPr>
          <a:xfrm>
            <a:off x="844529" y="3302754"/>
            <a:ext cx="3272252" cy="1491258"/>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CBO (Cost-Based Optimizer) evalúa accesos en base al costo estimado de CPU e I/O. Requiere estadísticas actualizadas del diccionario de datos para evitar planes subóptimos con escaneos de tabla completa.</a:t>
            </a:r>
            <a:endParaRPr lang="en-US" sz="1450" dirty="0"/>
          </a:p>
        </p:txBody>
      </p:sp>
      <p:sp>
        <p:nvSpPr>
          <p:cNvPr id="11" name="Shape 9"/>
          <p:cNvSpPr/>
          <p:nvPr/>
        </p:nvSpPr>
        <p:spPr>
          <a:xfrm>
            <a:off x="4573969" y="2317055"/>
            <a:ext cx="1470584" cy="336649"/>
          </a:xfrm>
          <a:prstGeom prst="rect">
            <a:avLst/>
          </a:prstGeom>
          <a:solidFill>
            <a:srgbClr val="1A1A1A"/>
          </a:solidFill>
          <a:ln/>
        </p:spPr>
      </p:sp>
      <p:sp>
        <p:nvSpPr>
          <p:cNvPr id="12" name="Text 10"/>
          <p:cNvSpPr/>
          <p:nvPr/>
        </p:nvSpPr>
        <p:spPr>
          <a:xfrm>
            <a:off x="4703446" y="2387080"/>
            <a:ext cx="182121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ESTRUCTURAS</a:t>
            </a:r>
            <a:endParaRPr lang="en-US" sz="1350" dirty="0"/>
          </a:p>
        </p:txBody>
      </p:sp>
      <p:sp>
        <p:nvSpPr>
          <p:cNvPr id="13" name="Text 11"/>
          <p:cNvSpPr/>
          <p:nvPr/>
        </p:nvSpPr>
        <p:spPr>
          <a:xfrm>
            <a:off x="4573969" y="2856111"/>
            <a:ext cx="3043657"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120"/>
              </a:rPr>
              <a:t>Tipologías de índices</a:t>
            </a:r>
            <a:endParaRPr lang="en-US" sz="1900" dirty="0"/>
          </a:p>
        </p:txBody>
      </p:sp>
      <p:sp>
        <p:nvSpPr>
          <p:cNvPr id="14" name="Text 12"/>
          <p:cNvSpPr/>
          <p:nvPr/>
        </p:nvSpPr>
        <p:spPr>
          <a:xfrm>
            <a:off x="4573969" y="3302754"/>
            <a:ext cx="3043657" cy="1739801"/>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Árboles balanceados (B-tree) para datos de alta cardinalidad; índices bitmap para baja cardinalidad y analítica en data warehouses; e índices basados en funciones para expresiones computadas en cláusulas WHERE.</a:t>
            </a:r>
            <a:endParaRPr lang="en-US" sz="1450" dirty="0"/>
          </a:p>
        </p:txBody>
      </p:sp>
      <p:sp>
        <p:nvSpPr>
          <p:cNvPr id="15" name="Shape 13"/>
          <p:cNvSpPr/>
          <p:nvPr/>
        </p:nvSpPr>
        <p:spPr>
          <a:xfrm>
            <a:off x="8074815" y="2317055"/>
            <a:ext cx="1911203" cy="336649"/>
          </a:xfrm>
          <a:prstGeom prst="rect">
            <a:avLst/>
          </a:prstGeom>
          <a:solidFill>
            <a:srgbClr val="1A1A1A"/>
          </a:solidFill>
          <a:ln/>
        </p:spPr>
      </p:sp>
      <p:sp>
        <p:nvSpPr>
          <p:cNvPr id="16" name="Text 14"/>
          <p:cNvSpPr/>
          <p:nvPr/>
        </p:nvSpPr>
        <p:spPr>
          <a:xfrm>
            <a:off x="8204292" y="2387080"/>
            <a:ext cx="2261833"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CÓMPUTO EN BASE</a:t>
            </a:r>
            <a:endParaRPr lang="en-US" sz="1350" dirty="0"/>
          </a:p>
        </p:txBody>
      </p:sp>
      <p:sp>
        <p:nvSpPr>
          <p:cNvPr id="17" name="Text 15"/>
          <p:cNvSpPr/>
          <p:nvPr/>
        </p:nvSpPr>
        <p:spPr>
          <a:xfrm>
            <a:off x="8074815" y="2856111"/>
            <a:ext cx="3272252"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120"/>
              </a:rPr>
              <a:t>PL/SQL compilado</a:t>
            </a:r>
            <a:endParaRPr lang="en-US" sz="1900" dirty="0"/>
          </a:p>
        </p:txBody>
      </p:sp>
      <p:sp>
        <p:nvSpPr>
          <p:cNvPr id="18" name="Text 16"/>
          <p:cNvSpPr/>
          <p:nvPr/>
        </p:nvSpPr>
        <p:spPr>
          <a:xfrm>
            <a:off x="8074815" y="3302754"/>
            <a:ext cx="3272252" cy="1491258"/>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PL/SQL (Procedural Language/Structured Query Language): ejecuta algoritmos junto al bloque físico. Reduce viajes de red (network round-trips), agrupando lógica de negocio en paquetes, procedimientos y triggers.</a:t>
            </a:r>
            <a:endParaRPr lang="en-US" sz="1450" dirty="0"/>
          </a:p>
        </p:txBody>
      </p:sp>
      <p:sp>
        <p:nvSpPr>
          <p:cNvPr id="19" name="Shape 17"/>
          <p:cNvSpPr/>
          <p:nvPr/>
        </p:nvSpPr>
        <p:spPr>
          <a:xfrm>
            <a:off x="558786" y="5247580"/>
            <a:ext cx="11074123" cy="645120"/>
          </a:xfrm>
          <a:prstGeom prst="rect">
            <a:avLst/>
          </a:prstGeom>
          <a:solidFill>
            <a:srgbClr val="E6E6EA"/>
          </a:solidFill>
          <a:ln w="6350">
            <a:solidFill>
              <a:srgbClr val="1A1A1A"/>
            </a:solidFill>
            <a:prstDash val="solid"/>
          </a:ln>
        </p:spPr>
      </p:sp>
      <p:sp>
        <p:nvSpPr>
          <p:cNvPr id="20" name="Text 18"/>
          <p:cNvSpPr/>
          <p:nvPr/>
        </p:nvSpPr>
        <p:spPr>
          <a:xfrm>
            <a:off x="844529" y="5359023"/>
            <a:ext cx="10502637" cy="429220"/>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000000"/>
                </a:solidFill>
                <a:latin typeface="Fragment Mono" pitchFamily="34" charset="0"/>
                <a:ea typeface="Fragment Mono" pitchFamily="34" charset="-122"/>
                <a:cs typeface="Fragment Mono" pitchFamily="34" charset="-120"/>
              </a:rPr>
              <a:t>REGLA DE DISEÑO: MUEVA EL CÁLCULO A LOS DATOS MEDIANTE PL/SQL CUANDO PROCESE MILLONES DE REGISTROS QUE NO DEBAN VIAJAR A PYTHON.</a:t>
            </a:r>
            <a:endParaRPr lang="en-US" sz="1300" dirty="0"/>
          </a:p>
        </p:txBody>
      </p:sp>
      <p:sp>
        <p:nvSpPr>
          <p:cNvPr id="21" name="Shape 19"/>
          <p:cNvSpPr/>
          <p:nvPr/>
        </p:nvSpPr>
        <p:spPr>
          <a:xfrm>
            <a:off x="4339025" y="2317055"/>
            <a:ext cx="12700" cy="2720975"/>
          </a:xfrm>
          <a:prstGeom prst="rect">
            <a:avLst/>
          </a:prstGeom>
          <a:solidFill>
            <a:srgbClr val="1A1A1A"/>
          </a:solidFill>
          <a:ln/>
        </p:spPr>
      </p:sp>
      <p:sp>
        <p:nvSpPr>
          <p:cNvPr id="22" name="Shape 20"/>
          <p:cNvSpPr/>
          <p:nvPr/>
        </p:nvSpPr>
        <p:spPr>
          <a:xfrm>
            <a:off x="7839871" y="2317055"/>
            <a:ext cx="12700" cy="2720975"/>
          </a:xfrm>
          <a:prstGeom prst="rect">
            <a:avLst/>
          </a:prstGeom>
          <a:solidFill>
            <a:srgbClr val="1A1A1A"/>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58786" y="388620"/>
            <a:ext cx="1163290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120"/>
              </a:rPr>
              <a:t>ESCALABILIDAD Y RESILIENCIA</a:t>
            </a:r>
            <a:endParaRPr lang="en-US" sz="1300" dirty="0"/>
          </a:p>
        </p:txBody>
      </p:sp>
      <p:sp>
        <p:nvSpPr>
          <p:cNvPr id="3" name="Text 1"/>
          <p:cNvSpPr/>
          <p:nvPr/>
        </p:nvSpPr>
        <p:spPr>
          <a:xfrm>
            <a:off x="558786" y="709660"/>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120"/>
              </a:rPr>
              <a:t>Conceptos clave: particionado, RAC, Data Guard y multitenant</a:t>
            </a:r>
            <a:endParaRPr lang="en-US" sz="3400" dirty="0"/>
          </a:p>
        </p:txBody>
      </p:sp>
      <p:sp>
        <p:nvSpPr>
          <p:cNvPr id="4" name="Shape 2"/>
          <p:cNvSpPr/>
          <p:nvPr/>
        </p:nvSpPr>
        <p:spPr>
          <a:xfrm>
            <a:off x="558786" y="1849735"/>
            <a:ext cx="2654234" cy="3140075"/>
          </a:xfrm>
          <a:prstGeom prst="rect">
            <a:avLst/>
          </a:prstGeom>
          <a:solidFill>
            <a:srgbClr val="E6E6EA"/>
          </a:solidFill>
          <a:ln w="6350">
            <a:solidFill>
              <a:srgbClr val="1A1A1A"/>
            </a:solidFill>
            <a:prstDash val="solid"/>
          </a:ln>
        </p:spPr>
      </p:sp>
      <p:sp>
        <p:nvSpPr>
          <p:cNvPr id="5" name="Shape 3"/>
          <p:cNvSpPr/>
          <p:nvPr/>
        </p:nvSpPr>
        <p:spPr>
          <a:xfrm>
            <a:off x="768331" y="2059285"/>
            <a:ext cx="1580714" cy="336649"/>
          </a:xfrm>
          <a:prstGeom prst="rect">
            <a:avLst/>
          </a:prstGeom>
          <a:solidFill>
            <a:srgbClr val="1A1A1A"/>
          </a:solidFill>
          <a:ln/>
        </p:spPr>
      </p:sp>
      <p:sp>
        <p:nvSpPr>
          <p:cNvPr id="6" name="Text 4"/>
          <p:cNvSpPr/>
          <p:nvPr/>
        </p:nvSpPr>
        <p:spPr>
          <a:xfrm>
            <a:off x="897808" y="2129310"/>
            <a:ext cx="193134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PARTICIONADO</a:t>
            </a:r>
            <a:endParaRPr lang="en-US" sz="1350" dirty="0"/>
          </a:p>
        </p:txBody>
      </p:sp>
      <p:sp>
        <p:nvSpPr>
          <p:cNvPr id="7" name="Text 5"/>
          <p:cNvSpPr/>
          <p:nvPr/>
        </p:nvSpPr>
        <p:spPr>
          <a:xfrm>
            <a:off x="768331" y="2598341"/>
            <a:ext cx="2235144"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120"/>
              </a:rPr>
              <a:t>Volumen masivo</a:t>
            </a:r>
            <a:endParaRPr lang="en-US" sz="1900" dirty="0"/>
          </a:p>
        </p:txBody>
      </p:sp>
      <p:sp>
        <p:nvSpPr>
          <p:cNvPr id="8" name="Text 6"/>
          <p:cNvSpPr/>
          <p:nvPr/>
        </p:nvSpPr>
        <p:spPr>
          <a:xfrm>
            <a:off x="768331" y="3044984"/>
            <a:ext cx="2235144" cy="1491258"/>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Segmentación por rango, lista o hash. Permite partition pruning para omitir bloques innecesarios y agiliza el mantenimiento en terabytes de datos.</a:t>
            </a:r>
            <a:endParaRPr lang="en-US" sz="1450" dirty="0"/>
          </a:p>
        </p:txBody>
      </p:sp>
      <p:sp>
        <p:nvSpPr>
          <p:cNvPr id="9" name="Shape 7"/>
          <p:cNvSpPr/>
          <p:nvPr/>
        </p:nvSpPr>
        <p:spPr>
          <a:xfrm>
            <a:off x="3365416" y="1849735"/>
            <a:ext cx="2654234" cy="3140075"/>
          </a:xfrm>
          <a:prstGeom prst="rect">
            <a:avLst/>
          </a:prstGeom>
          <a:solidFill>
            <a:srgbClr val="E6E6EA"/>
          </a:solidFill>
          <a:ln w="6350">
            <a:solidFill>
              <a:srgbClr val="1A1A1A"/>
            </a:solidFill>
            <a:prstDash val="solid"/>
          </a:ln>
        </p:spPr>
      </p:sp>
      <p:sp>
        <p:nvSpPr>
          <p:cNvPr id="10" name="Shape 8"/>
          <p:cNvSpPr/>
          <p:nvPr/>
        </p:nvSpPr>
        <p:spPr>
          <a:xfrm>
            <a:off x="3574961" y="2059285"/>
            <a:ext cx="589444" cy="336649"/>
          </a:xfrm>
          <a:prstGeom prst="rect">
            <a:avLst/>
          </a:prstGeom>
          <a:solidFill>
            <a:srgbClr val="1A1A1A"/>
          </a:solidFill>
          <a:ln/>
        </p:spPr>
      </p:sp>
      <p:sp>
        <p:nvSpPr>
          <p:cNvPr id="11" name="Text 9"/>
          <p:cNvSpPr/>
          <p:nvPr/>
        </p:nvSpPr>
        <p:spPr>
          <a:xfrm>
            <a:off x="3704438" y="2129310"/>
            <a:ext cx="94007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RAC</a:t>
            </a:r>
            <a:endParaRPr lang="en-US" sz="1350" dirty="0"/>
          </a:p>
        </p:txBody>
      </p:sp>
      <p:sp>
        <p:nvSpPr>
          <p:cNvPr id="12" name="Text 10"/>
          <p:cNvSpPr/>
          <p:nvPr/>
        </p:nvSpPr>
        <p:spPr>
          <a:xfrm>
            <a:off x="3574961" y="2598341"/>
            <a:ext cx="2235144"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120"/>
              </a:rPr>
              <a:t>Activo-Activo</a:t>
            </a:r>
            <a:endParaRPr lang="en-US" sz="1900" dirty="0"/>
          </a:p>
        </p:txBody>
      </p:sp>
      <p:sp>
        <p:nvSpPr>
          <p:cNvPr id="13" name="Text 11"/>
          <p:cNvSpPr/>
          <p:nvPr/>
        </p:nvSpPr>
        <p:spPr>
          <a:xfrm>
            <a:off x="3574961" y="3044984"/>
            <a:ext cx="2235144" cy="1739801"/>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RAC (Real Application Clusters): múltiples instancias corriendo en distintos nodos físicos sobre la misma base de datos, con sincronización de caché vía Cache Fusion.</a:t>
            </a:r>
            <a:endParaRPr lang="en-US" sz="1450" dirty="0"/>
          </a:p>
        </p:txBody>
      </p:sp>
      <p:sp>
        <p:nvSpPr>
          <p:cNvPr id="14" name="Shape 12"/>
          <p:cNvSpPr/>
          <p:nvPr/>
        </p:nvSpPr>
        <p:spPr>
          <a:xfrm>
            <a:off x="6172046" y="1849735"/>
            <a:ext cx="2654234" cy="3140075"/>
          </a:xfrm>
          <a:prstGeom prst="rect">
            <a:avLst/>
          </a:prstGeom>
          <a:solidFill>
            <a:srgbClr val="E6E6EA"/>
          </a:solidFill>
          <a:ln w="6350">
            <a:solidFill>
              <a:srgbClr val="1A1A1A"/>
            </a:solidFill>
            <a:prstDash val="solid"/>
          </a:ln>
        </p:spPr>
      </p:sp>
      <p:sp>
        <p:nvSpPr>
          <p:cNvPr id="15" name="Shape 13"/>
          <p:cNvSpPr/>
          <p:nvPr/>
        </p:nvSpPr>
        <p:spPr>
          <a:xfrm>
            <a:off x="6381590" y="2059285"/>
            <a:ext cx="1360453" cy="336649"/>
          </a:xfrm>
          <a:prstGeom prst="rect">
            <a:avLst/>
          </a:prstGeom>
          <a:solidFill>
            <a:srgbClr val="1A1A1A"/>
          </a:solidFill>
          <a:ln/>
        </p:spPr>
      </p:sp>
      <p:sp>
        <p:nvSpPr>
          <p:cNvPr id="16" name="Text 14"/>
          <p:cNvSpPr/>
          <p:nvPr/>
        </p:nvSpPr>
        <p:spPr>
          <a:xfrm>
            <a:off x="6511068" y="2129310"/>
            <a:ext cx="171108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DATA GUARD</a:t>
            </a:r>
            <a:endParaRPr lang="en-US" sz="1350" dirty="0"/>
          </a:p>
        </p:txBody>
      </p:sp>
      <p:sp>
        <p:nvSpPr>
          <p:cNvPr id="17" name="Text 15"/>
          <p:cNvSpPr/>
          <p:nvPr/>
        </p:nvSpPr>
        <p:spPr>
          <a:xfrm>
            <a:off x="6381590" y="2598341"/>
            <a:ext cx="2235144"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120"/>
              </a:rPr>
              <a:t>Disaster Recovery</a:t>
            </a:r>
            <a:endParaRPr lang="en-US" sz="1900" dirty="0"/>
          </a:p>
        </p:txBody>
      </p:sp>
      <p:sp>
        <p:nvSpPr>
          <p:cNvPr id="18" name="Text 16"/>
          <p:cNvSpPr/>
          <p:nvPr/>
        </p:nvSpPr>
        <p:spPr>
          <a:xfrm>
            <a:off x="6381590" y="3044984"/>
            <a:ext cx="2235144" cy="1739801"/>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Réplica física continua para DR (Disaster Recovery, recuperación ante desastres). Ofrece failover automatizado y descarga de consultas en réplicas con Active Data Guard.</a:t>
            </a:r>
            <a:endParaRPr lang="en-US" sz="1450" dirty="0"/>
          </a:p>
        </p:txBody>
      </p:sp>
      <p:sp>
        <p:nvSpPr>
          <p:cNvPr id="19" name="Shape 17"/>
          <p:cNvSpPr/>
          <p:nvPr/>
        </p:nvSpPr>
        <p:spPr>
          <a:xfrm>
            <a:off x="8978675" y="1849735"/>
            <a:ext cx="2654234" cy="3140075"/>
          </a:xfrm>
          <a:prstGeom prst="rect">
            <a:avLst/>
          </a:prstGeom>
          <a:solidFill>
            <a:srgbClr val="E6E6EA"/>
          </a:solidFill>
          <a:ln w="6350">
            <a:solidFill>
              <a:srgbClr val="1A1A1A"/>
            </a:solidFill>
            <a:prstDash val="solid"/>
          </a:ln>
        </p:spPr>
      </p:sp>
      <p:sp>
        <p:nvSpPr>
          <p:cNvPr id="20" name="Shape 18"/>
          <p:cNvSpPr/>
          <p:nvPr/>
        </p:nvSpPr>
        <p:spPr>
          <a:xfrm>
            <a:off x="9188220" y="2059285"/>
            <a:ext cx="1470584" cy="336649"/>
          </a:xfrm>
          <a:prstGeom prst="rect">
            <a:avLst/>
          </a:prstGeom>
          <a:solidFill>
            <a:srgbClr val="1A1A1A"/>
          </a:solidFill>
          <a:ln/>
        </p:spPr>
      </p:sp>
      <p:sp>
        <p:nvSpPr>
          <p:cNvPr id="21" name="Text 19"/>
          <p:cNvSpPr/>
          <p:nvPr/>
        </p:nvSpPr>
        <p:spPr>
          <a:xfrm>
            <a:off x="9317697" y="2129310"/>
            <a:ext cx="182121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120"/>
              </a:rPr>
              <a:t>MULTITENANT</a:t>
            </a:r>
            <a:endParaRPr lang="en-US" sz="1350" dirty="0"/>
          </a:p>
        </p:txBody>
      </p:sp>
      <p:sp>
        <p:nvSpPr>
          <p:cNvPr id="22" name="Text 20"/>
          <p:cNvSpPr/>
          <p:nvPr/>
        </p:nvSpPr>
        <p:spPr>
          <a:xfrm>
            <a:off x="9188220" y="2598341"/>
            <a:ext cx="2235144"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120"/>
              </a:rPr>
              <a:t>Consolidación</a:t>
            </a:r>
            <a:endParaRPr lang="en-US" sz="1900" dirty="0"/>
          </a:p>
        </p:txBody>
      </p:sp>
      <p:sp>
        <p:nvSpPr>
          <p:cNvPr id="23" name="Text 21"/>
          <p:cNvSpPr/>
          <p:nvPr/>
        </p:nvSpPr>
        <p:spPr>
          <a:xfrm>
            <a:off x="9188220" y="3044984"/>
            <a:ext cx="2235144" cy="1739801"/>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120"/>
              </a:rPr>
              <a:t>CDB (Container Database) y PDB (Pluggable Database): aísla esquemas y aplicaciones en bases conectables dentro de una misma infraestructura compartida.</a:t>
            </a:r>
            <a:endParaRPr lang="en-US" sz="1450" dirty="0"/>
          </a:p>
        </p:txBody>
      </p:sp>
      <p:sp>
        <p:nvSpPr>
          <p:cNvPr id="24" name="Shape 22"/>
          <p:cNvSpPr/>
          <p:nvPr/>
        </p:nvSpPr>
        <p:spPr>
          <a:xfrm>
            <a:off x="558786" y="5795367"/>
            <a:ext cx="11074123" cy="31651"/>
          </a:xfrm>
          <a:prstGeom prst="roundRect">
            <a:avLst>
              <a:gd name="adj" fmla="val 49998"/>
            </a:avLst>
          </a:prstGeom>
          <a:solidFill>
            <a:srgbClr val="1A1A1A"/>
          </a:solidFill>
          <a:ln/>
        </p:spPr>
      </p:sp>
      <p:sp>
        <p:nvSpPr>
          <p:cNvPr id="25" name="Text 23"/>
          <p:cNvSpPr/>
          <p:nvPr/>
        </p:nvSpPr>
        <p:spPr>
          <a:xfrm>
            <a:off x="558786" y="6076672"/>
            <a:ext cx="11074123" cy="429220"/>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120"/>
              </a:rPr>
              <a:t>DESDE PYTHON, RAC Y DATA GUARD SE GESTIONAN TRANSPARENTEMENTE CONFIGURANDO CADENAS DE CONEXIÓN CON MÚLTIPLES HOSTS Y TAF/FAN.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58786" y="312420"/>
            <a:ext cx="7162621"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120"/>
              </a:rPr>
              <a:t>EVOLUCIÓN DEL LENGUAJE</a:t>
            </a:r>
            <a:endParaRPr lang="en-US" sz="1300" dirty="0"/>
          </a:p>
        </p:txBody>
      </p:sp>
      <p:sp>
        <p:nvSpPr>
          <p:cNvPr id="3" name="Text 1"/>
          <p:cNvSpPr/>
          <p:nvPr/>
        </p:nvSpPr>
        <p:spPr>
          <a:xfrm>
            <a:off x="558786" y="633460"/>
            <a:ext cx="6857828" cy="863600"/>
          </a:xfrm>
          <a:prstGeom prst="rect">
            <a:avLst/>
          </a:prstGeom>
          <a:noFill/>
          <a:ln/>
        </p:spPr>
        <p:txBody>
          <a:bodyPr wrap="square" lIns="0" tIns="0" rIns="0" bIns="0" rtlCol="0" anchor="t">
            <a:normAutofit/>
          </a:bodyPr>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120"/>
              </a:rPr>
              <a:t>Historia de Python: de 1991 a Python 3</a:t>
            </a:r>
            <a:endParaRPr lang="en-US" sz="3400" dirty="0"/>
          </a:p>
        </p:txBody>
      </p:sp>
      <p:sp>
        <p:nvSpPr>
          <p:cNvPr id="4" name="Text 2"/>
          <p:cNvSpPr/>
          <p:nvPr/>
        </p:nvSpPr>
        <p:spPr>
          <a:xfrm>
            <a:off x="558786" y="2501999"/>
            <a:ext cx="6857828"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120"/>
              </a:rPr>
              <a:t>1991: Origen</a:t>
            </a:r>
            <a:endParaRPr lang="en-US" sz="1900" dirty="0"/>
          </a:p>
        </p:txBody>
      </p:sp>
      <p:sp>
        <p:nvSpPr>
          <p:cNvPr id="5" name="Text 3"/>
          <p:cNvSpPr/>
          <p:nvPr/>
        </p:nvSpPr>
        <p:spPr>
          <a:xfrm>
            <a:off x="558786" y="2948642"/>
            <a:ext cx="6857828" cy="248543"/>
          </a:xfrm>
          <a:prstGeom prst="rect">
            <a:avLst/>
          </a:prstGeom>
          <a:noFill/>
          <a:ln/>
        </p:spPr>
        <p:txBody>
          <a:bodyPr wrap="none" lIns="0" tIns="0" rIns="0" bIns="0" rtlCol="0" anchor="t"/>
          <a:lstStyle/>
          <a:p>
            <a:pPr algn="l" indent="0" marL="0">
              <a:lnSpc>
                <a:spcPct val="113000"/>
              </a:lnSpc>
              <a:buNone/>
            </a:pPr>
            <a:r>
              <a:rPr lang="en-US" sz="1450" dirty="0">
                <a:solidFill>
                  <a:srgbClr val="1A1A1A"/>
                </a:solidFill>
                <a:latin typeface="Inter Tight" pitchFamily="34" charset="0"/>
                <a:ea typeface="Inter Tight" pitchFamily="34" charset="-122"/>
                <a:cs typeface="Inter Tight" pitchFamily="34" charset="-120"/>
              </a:rPr>
              <a:t>Guido van Rossum publica la versión 0.9.0, con foco en legibilidad.</a:t>
            </a:r>
            <a:endParaRPr lang="en-US" sz="1450" dirty="0"/>
          </a:p>
        </p:txBody>
      </p:sp>
      <p:sp>
        <p:nvSpPr>
          <p:cNvPr id="6" name="Text 4"/>
          <p:cNvSpPr/>
          <p:nvPr/>
        </p:nvSpPr>
        <p:spPr>
          <a:xfrm>
            <a:off x="558786" y="3664942"/>
            <a:ext cx="6857828"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120"/>
              </a:rPr>
              <a:t>2000–2020: Python 2 y 3</a:t>
            </a:r>
            <a:endParaRPr lang="en-US" sz="1900" dirty="0"/>
          </a:p>
        </p:txBody>
      </p:sp>
      <p:sp>
        <p:nvSpPr>
          <p:cNvPr id="7" name="Text 5"/>
          <p:cNvSpPr/>
          <p:nvPr/>
        </p:nvSpPr>
        <p:spPr>
          <a:xfrm>
            <a:off x="558786" y="4111585"/>
            <a:ext cx="6857828" cy="248543"/>
          </a:xfrm>
          <a:prstGeom prst="rect">
            <a:avLst/>
          </a:prstGeom>
          <a:noFill/>
          <a:ln/>
        </p:spPr>
        <p:txBody>
          <a:bodyPr wrap="none" lIns="0" tIns="0" rIns="0" bIns="0" rtlCol="0" anchor="t"/>
          <a:lstStyle/>
          <a:p>
            <a:pPr algn="l" indent="0" marL="0">
              <a:lnSpc>
                <a:spcPct val="113000"/>
              </a:lnSpc>
              <a:buNone/>
            </a:pPr>
            <a:r>
              <a:rPr lang="en-US" sz="1450" dirty="0">
                <a:solidFill>
                  <a:srgbClr val="1A1A1A"/>
                </a:solidFill>
                <a:latin typeface="Inter Tight" pitchFamily="34" charset="0"/>
                <a:ea typeface="Inter Tight" pitchFamily="34" charset="-122"/>
                <a:cs typeface="Inter Tight" pitchFamily="34" charset="-120"/>
              </a:rPr>
              <a:t>Python 2.0 en 2000; Python 3.0 en 2008; fin de vida de Python 2 en 2020.</a:t>
            </a:r>
            <a:endParaRPr lang="en-US" sz="1450" dirty="0"/>
          </a:p>
        </p:txBody>
      </p:sp>
      <p:sp>
        <p:nvSpPr>
          <p:cNvPr id="8" name="Text 6"/>
          <p:cNvSpPr/>
          <p:nvPr/>
        </p:nvSpPr>
        <p:spPr>
          <a:xfrm>
            <a:off x="558786" y="4827885"/>
            <a:ext cx="6857828"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120"/>
              </a:rPr>
              <a:t>Presente</a:t>
            </a:r>
            <a:endParaRPr lang="en-US" sz="1900" dirty="0"/>
          </a:p>
        </p:txBody>
      </p:sp>
      <p:sp>
        <p:nvSpPr>
          <p:cNvPr id="9" name="Text 7"/>
          <p:cNvSpPr/>
          <p:nvPr/>
        </p:nvSpPr>
        <p:spPr>
          <a:xfrm>
            <a:off x="558786" y="5274528"/>
            <a:ext cx="6857828" cy="248543"/>
          </a:xfrm>
          <a:prstGeom prst="rect">
            <a:avLst/>
          </a:prstGeom>
          <a:noFill/>
          <a:ln/>
        </p:spPr>
        <p:txBody>
          <a:bodyPr wrap="none" lIns="0" tIns="0" rIns="0" bIns="0" rtlCol="0" anchor="t"/>
          <a:lstStyle/>
          <a:p>
            <a:pPr algn="l" indent="0" marL="0">
              <a:lnSpc>
                <a:spcPct val="113000"/>
              </a:lnSpc>
              <a:buNone/>
            </a:pPr>
            <a:r>
              <a:rPr lang="en-US" sz="1450" dirty="0">
                <a:solidFill>
                  <a:srgbClr val="1A1A1A"/>
                </a:solidFill>
                <a:latin typeface="Inter Tight" pitchFamily="34" charset="0"/>
                <a:ea typeface="Inter Tight" pitchFamily="34" charset="-122"/>
                <a:cs typeface="Inter Tight" pitchFamily="34" charset="-120"/>
              </a:rPr>
              <a:t>Hoy domina en datos, automatización y backend.</a:t>
            </a:r>
            <a:endParaRPr lang="en-US" sz="1450" dirty="0"/>
          </a:p>
        </p:txBody>
      </p:sp>
      <p:sp>
        <p:nvSpPr>
          <p:cNvPr id="10" name="Shape 8"/>
          <p:cNvSpPr/>
          <p:nvPr/>
        </p:nvSpPr>
        <p:spPr>
          <a:xfrm>
            <a:off x="7721407" y="0"/>
            <a:ext cx="4470288" cy="6858000"/>
          </a:xfrm>
          <a:prstGeom prst="rect">
            <a:avLst/>
          </a:prstGeom>
          <a:solidFill>
            <a:srgbClr val="A186F3"/>
          </a:solidFill>
          <a:ln/>
        </p:spPr>
      </p:sp>
      <p:pic>
        <p:nvPicPr>
          <p:cNvPr id="11" name="Image 0" descr="preencoded.png">    </p:cNvPr>
          <p:cNvPicPr>
            <a:picLocks noChangeAspect="1"/>
          </p:cNvPicPr>
          <p:nvPr/>
        </p:nvPicPr>
        <p:blipFill>
          <a:blip r:embed="rId1"/>
          <a:stretch>
            <a:fillRect/>
          </a:stretch>
        </p:blipFill>
        <p:spPr>
          <a:xfrm>
            <a:off x="7721407" y="0"/>
            <a:ext cx="4470288" cy="6858000"/>
          </a:xfrm>
          <a:prstGeom prst="rect">
            <a:avLst/>
          </a:prstGeom>
        </p:spPr>
      </p:pic>
      <p:sp>
        <p:nvSpPr>
          <p:cNvPr id="12" name="Shape 9"/>
          <p:cNvSpPr/>
          <p:nvPr/>
        </p:nvSpPr>
        <p:spPr>
          <a:xfrm>
            <a:off x="558786" y="3414911"/>
            <a:ext cx="6857828" cy="12700"/>
          </a:xfrm>
          <a:prstGeom prst="rect">
            <a:avLst/>
          </a:prstGeom>
          <a:solidFill>
            <a:srgbClr val="1A1A1A"/>
          </a:solidFill>
          <a:ln/>
        </p:spPr>
      </p:sp>
      <p:sp>
        <p:nvSpPr>
          <p:cNvPr id="13" name="Shape 10"/>
          <p:cNvSpPr/>
          <p:nvPr/>
        </p:nvSpPr>
        <p:spPr>
          <a:xfrm>
            <a:off x="558786" y="4577854"/>
            <a:ext cx="6857828" cy="12700"/>
          </a:xfrm>
          <a:prstGeom prst="rect">
            <a:avLst/>
          </a:prstGeom>
          <a:solidFill>
            <a:srgbClr val="1A1A1A"/>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58786" y="388620"/>
            <a:ext cx="1163290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120"/>
              </a:rPr>
              <a:t>INTEGRACIÓN OFICIAL</a:t>
            </a:r>
            <a:endParaRPr lang="en-US" sz="1300" dirty="0"/>
          </a:p>
        </p:txBody>
      </p:sp>
      <p:sp>
        <p:nvSpPr>
          <p:cNvPr id="3" name="Text 1"/>
          <p:cNvSpPr/>
          <p:nvPr/>
        </p:nvSpPr>
        <p:spPr>
          <a:xfrm>
            <a:off x="558786" y="709660"/>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120"/>
              </a:rPr>
              <a:t>Python conecta con Oracle mediante python-oracledb</a:t>
            </a:r>
            <a:endParaRPr lang="en-US" sz="3400" dirty="0"/>
          </a:p>
        </p:txBody>
      </p:sp>
      <p:sp>
        <p:nvSpPr>
          <p:cNvPr id="4" name="Shape 2"/>
          <p:cNvSpPr/>
          <p:nvPr/>
        </p:nvSpPr>
        <p:spPr>
          <a:xfrm>
            <a:off x="558786" y="1312466"/>
            <a:ext cx="679433" cy="679450"/>
          </a:xfrm>
          <a:prstGeom prst="rect">
            <a:avLst/>
          </a:prstGeom>
          <a:solidFill>
            <a:srgbClr val="1A1A1A"/>
          </a:solidFill>
          <a:ln w="12700">
            <a:solidFill>
              <a:srgbClr val="876CD9"/>
            </a:solidFill>
            <a:prstDash val="solid"/>
          </a:ln>
        </p:spPr>
      </p:sp>
      <p:pic>
        <p:nvPicPr>
          <p:cNvPr id="5" name="Image 0" descr="preencoded.png">    </p:cNvPr>
          <p:cNvPicPr>
            <a:picLocks noChangeAspect="1"/>
          </p:cNvPicPr>
          <p:nvPr/>
        </p:nvPicPr>
        <p:blipFill>
          <a:blip r:embed="rId1"/>
          <a:stretch>
            <a:fillRect/>
          </a:stretch>
        </p:blipFill>
        <p:spPr>
          <a:xfrm>
            <a:off x="733407" y="1487091"/>
            <a:ext cx="330192" cy="330200"/>
          </a:xfrm>
          <a:prstGeom prst="rect">
            <a:avLst/>
          </a:prstGeom>
        </p:spPr>
      </p:pic>
      <p:sp>
        <p:nvSpPr>
          <p:cNvPr id="6" name="Text 3"/>
          <p:cNvSpPr/>
          <p:nvPr/>
        </p:nvSpPr>
        <p:spPr>
          <a:xfrm>
            <a:off x="558786" y="2159397"/>
            <a:ext cx="3462747" cy="603250"/>
          </a:xfrm>
          <a:prstGeom prst="rect">
            <a:avLst/>
          </a:prstGeom>
          <a:noFill/>
          <a:ln/>
        </p:spPr>
        <p:txBody>
          <a:bodyPr wrap="square" lIns="0" tIns="0" rIns="0" bIns="0" rtlCol="0" anchor="t">
            <a:normAutofit/>
          </a:bodyPr>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120"/>
              </a:rPr>
              <a:t>Open source y mantenido por Oracle</a:t>
            </a:r>
            <a:endParaRPr lang="en-US" sz="1900" dirty="0"/>
          </a:p>
        </p:txBody>
      </p:sp>
      <p:sp>
        <p:nvSpPr>
          <p:cNvPr id="7" name="Text 4"/>
          <p:cNvSpPr/>
          <p:nvPr/>
        </p:nvSpPr>
        <p:spPr>
          <a:xfrm>
            <a:off x="558786" y="2911237"/>
            <a:ext cx="3691341" cy="291405"/>
          </a:xfrm>
          <a:prstGeom prst="rect">
            <a:avLst/>
          </a:prstGeom>
          <a:noFill/>
          <a:ln/>
        </p:spPr>
        <p:txBody>
          <a:bodyPr wrap="none" lIns="0" tIns="0" rIns="0" bIns="0" rtlCol="0" anchor="t"/>
          <a:lstStyle/>
          <a:p>
            <a:pPr algn="l" indent="0" marL="0">
              <a:lnSpc>
                <a:spcPct val="112000"/>
              </a:lnSpc>
              <a:buNone/>
            </a:pPr>
            <a:r>
              <a:rPr lang="en-US" sz="1700" dirty="0">
                <a:solidFill>
                  <a:srgbClr val="1A1A1A"/>
                </a:solidFill>
                <a:latin typeface="Inter Tight" pitchFamily="34" charset="0"/>
                <a:ea typeface="Inter Tight" pitchFamily="34" charset="-122"/>
                <a:cs typeface="Inter Tight" pitchFamily="34" charset="-120"/>
              </a:rPr>
              <a:t>Sucesor de cx_Oracle.</a:t>
            </a:r>
            <a:endParaRPr lang="en-US" sz="1700" dirty="0"/>
          </a:p>
        </p:txBody>
      </p:sp>
      <p:sp>
        <p:nvSpPr>
          <p:cNvPr id="8" name="Shape 5"/>
          <p:cNvSpPr/>
          <p:nvPr/>
        </p:nvSpPr>
        <p:spPr>
          <a:xfrm>
            <a:off x="4478722" y="1312466"/>
            <a:ext cx="679433" cy="679450"/>
          </a:xfrm>
          <a:prstGeom prst="rect">
            <a:avLst/>
          </a:prstGeom>
          <a:solidFill>
            <a:srgbClr val="1A1A1A"/>
          </a:solidFill>
          <a:ln w="12700">
            <a:solidFill>
              <a:srgbClr val="876CD9"/>
            </a:solidFill>
            <a:prstDash val="solid"/>
          </a:ln>
        </p:spPr>
      </p:sp>
      <p:pic>
        <p:nvPicPr>
          <p:cNvPr id="9" name="Image 1" descr="preencoded.png">    </p:cNvPr>
          <p:cNvPicPr>
            <a:picLocks noChangeAspect="1"/>
          </p:cNvPicPr>
          <p:nvPr/>
        </p:nvPicPr>
        <p:blipFill>
          <a:blip r:embed="rId2"/>
          <a:stretch>
            <a:fillRect/>
          </a:stretch>
        </p:blipFill>
        <p:spPr>
          <a:xfrm>
            <a:off x="4653342" y="1487091"/>
            <a:ext cx="330192" cy="330200"/>
          </a:xfrm>
          <a:prstGeom prst="rect">
            <a:avLst/>
          </a:prstGeom>
        </p:spPr>
      </p:pic>
      <p:sp>
        <p:nvSpPr>
          <p:cNvPr id="10" name="Text 6"/>
          <p:cNvSpPr/>
          <p:nvPr/>
        </p:nvSpPr>
        <p:spPr>
          <a:xfrm>
            <a:off x="4478722" y="2159397"/>
            <a:ext cx="3234153"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120"/>
              </a:rPr>
              <a:t>Sin librerías adicionales</a:t>
            </a:r>
            <a:endParaRPr lang="en-US" sz="1900" dirty="0"/>
          </a:p>
        </p:txBody>
      </p:sp>
      <p:sp>
        <p:nvSpPr>
          <p:cNvPr id="11" name="Text 7"/>
          <p:cNvSpPr/>
          <p:nvPr/>
        </p:nvSpPr>
        <p:spPr>
          <a:xfrm>
            <a:off x="4478722" y="2609612"/>
            <a:ext cx="3462747" cy="291405"/>
          </a:xfrm>
          <a:prstGeom prst="rect">
            <a:avLst/>
          </a:prstGeom>
          <a:noFill/>
          <a:ln/>
        </p:spPr>
        <p:txBody>
          <a:bodyPr wrap="none" lIns="0" tIns="0" rIns="0" bIns="0" rtlCol="0" anchor="t"/>
          <a:lstStyle/>
          <a:p>
            <a:pPr algn="l" indent="0" marL="0">
              <a:lnSpc>
                <a:spcPct val="112000"/>
              </a:lnSpc>
              <a:buNone/>
            </a:pPr>
            <a:r>
              <a:rPr lang="en-US" sz="1700" dirty="0">
                <a:solidFill>
                  <a:srgbClr val="1A1A1A"/>
                </a:solidFill>
                <a:latin typeface="Inter Tight" pitchFamily="34" charset="0"/>
                <a:ea typeface="Inter Tight" pitchFamily="34" charset="-122"/>
                <a:cs typeface="Inter Tight" pitchFamily="34" charset="-120"/>
              </a:rPr>
              <a:t>No requiere librerías adicionales.</a:t>
            </a:r>
            <a:endParaRPr lang="en-US" sz="1700" dirty="0"/>
          </a:p>
        </p:txBody>
      </p:sp>
      <p:sp>
        <p:nvSpPr>
          <p:cNvPr id="12" name="Shape 8"/>
          <p:cNvSpPr/>
          <p:nvPr/>
        </p:nvSpPr>
        <p:spPr>
          <a:xfrm>
            <a:off x="8170063" y="1312466"/>
            <a:ext cx="679433" cy="679450"/>
          </a:xfrm>
          <a:prstGeom prst="rect">
            <a:avLst/>
          </a:prstGeom>
          <a:solidFill>
            <a:srgbClr val="1A1A1A"/>
          </a:solidFill>
          <a:ln w="12700">
            <a:solidFill>
              <a:srgbClr val="876CD9"/>
            </a:solidFill>
            <a:prstDash val="solid"/>
          </a:ln>
        </p:spPr>
      </p:sp>
      <p:pic>
        <p:nvPicPr>
          <p:cNvPr id="13" name="Image 2" descr="preencoded.png">    </p:cNvPr>
          <p:cNvPicPr>
            <a:picLocks noChangeAspect="1"/>
          </p:cNvPicPr>
          <p:nvPr/>
        </p:nvPicPr>
        <p:blipFill>
          <a:blip r:embed="rId3"/>
          <a:stretch>
            <a:fillRect/>
          </a:stretch>
        </p:blipFill>
        <p:spPr>
          <a:xfrm>
            <a:off x="8344683" y="1487091"/>
            <a:ext cx="330192" cy="330200"/>
          </a:xfrm>
          <a:prstGeom prst="rect">
            <a:avLst/>
          </a:prstGeom>
        </p:spPr>
      </p:pic>
      <p:sp>
        <p:nvSpPr>
          <p:cNvPr id="14" name="Text 9"/>
          <p:cNvSpPr/>
          <p:nvPr/>
        </p:nvSpPr>
        <p:spPr>
          <a:xfrm>
            <a:off x="8170063" y="2159397"/>
            <a:ext cx="3462846"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120"/>
              </a:rPr>
              <a:t>DB API 2.0</a:t>
            </a:r>
            <a:endParaRPr lang="en-US" sz="1900" dirty="0"/>
          </a:p>
        </p:txBody>
      </p:sp>
      <p:sp>
        <p:nvSpPr>
          <p:cNvPr id="15" name="Text 10"/>
          <p:cNvSpPr/>
          <p:nvPr/>
        </p:nvSpPr>
        <p:spPr>
          <a:xfrm>
            <a:off x="8170063" y="2609612"/>
            <a:ext cx="3462846" cy="874216"/>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1A1A1A"/>
                </a:solidFill>
                <a:latin typeface="Inter Tight" pitchFamily="34" charset="0"/>
                <a:ea typeface="Inter Tight" pitchFamily="34" charset="-122"/>
                <a:cs typeface="Inter Tight" pitchFamily="34" charset="-120"/>
              </a:rPr>
              <a:t>Database Application Programming Interface; modo síncrono y asíncrono.</a:t>
            </a:r>
            <a:endParaRPr lang="en-US" sz="1700" dirty="0"/>
          </a:p>
        </p:txBody>
      </p:sp>
      <p:sp>
        <p:nvSpPr>
          <p:cNvPr id="16" name="Shape 11"/>
          <p:cNvSpPr/>
          <p:nvPr/>
        </p:nvSpPr>
        <p:spPr>
          <a:xfrm>
            <a:off x="4243777" y="1312466"/>
            <a:ext cx="12700" cy="2163266"/>
          </a:xfrm>
          <a:prstGeom prst="rect">
            <a:avLst/>
          </a:prstGeom>
          <a:solidFill>
            <a:srgbClr val="1A1A1A"/>
          </a:solidFill>
          <a:ln/>
        </p:spPr>
      </p:sp>
      <p:sp>
        <p:nvSpPr>
          <p:cNvPr id="17" name="Shape 12"/>
          <p:cNvSpPr/>
          <p:nvPr/>
        </p:nvSpPr>
        <p:spPr>
          <a:xfrm>
            <a:off x="7935119" y="1312466"/>
            <a:ext cx="12700" cy="2163266"/>
          </a:xfrm>
          <a:prstGeom prst="rect">
            <a:avLst/>
          </a:prstGeom>
          <a:solidFill>
            <a:srgbClr val="1A1A1A"/>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58786" y="1291015"/>
            <a:ext cx="1163290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120"/>
              </a:rPr>
              <a:t>PATRONES DE INGENIERÍA</a:t>
            </a:r>
            <a:endParaRPr lang="en-US" sz="1300" dirty="0"/>
          </a:p>
        </p:txBody>
      </p:sp>
      <p:sp>
        <p:nvSpPr>
          <p:cNvPr id="3" name="Text 1"/>
          <p:cNvSpPr/>
          <p:nvPr/>
        </p:nvSpPr>
        <p:spPr>
          <a:xfrm>
            <a:off x="558786" y="1612055"/>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120"/>
              </a:rPr>
              <a:t>Tips de rendimiento: bind, planes de ejecución y lotes</a:t>
            </a:r>
            <a:endParaRPr lang="en-US" sz="3400" dirty="0"/>
          </a:p>
        </p:txBody>
      </p:sp>
      <p:sp>
        <p:nvSpPr>
          <p:cNvPr id="4" name="Text 2"/>
          <p:cNvSpPr/>
          <p:nvPr/>
        </p:nvSpPr>
        <p:spPr>
          <a:xfrm>
            <a:off x="558786" y="2208510"/>
            <a:ext cx="11074123"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21212"/>
                </a:solidFill>
                <a:latin typeface="Inter Tight" pitchFamily="34" charset="0"/>
                <a:ea typeface="Inter Tight" pitchFamily="34" charset="-122"/>
                <a:cs typeface="Inter Tight" pitchFamily="34" charset="-120"/>
              </a:rPr>
              <a:t>Directrices prácticas para maximizar el throughput y evitar cuellos de botella</a:t>
            </a:r>
            <a:endParaRPr lang="en-US" sz="2000" dirty="0"/>
          </a:p>
        </p:txBody>
      </p:sp>
      <p:sp>
        <p:nvSpPr>
          <p:cNvPr id="5" name="Shape 3"/>
          <p:cNvSpPr/>
          <p:nvPr/>
        </p:nvSpPr>
        <p:spPr>
          <a:xfrm>
            <a:off x="558786" y="2665710"/>
            <a:ext cx="11074123" cy="375841"/>
          </a:xfrm>
          <a:prstGeom prst="rect">
            <a:avLst/>
          </a:prstGeom>
          <a:solidFill>
            <a:srgbClr val="1A1A1A"/>
          </a:solidFill>
          <a:ln/>
        </p:spPr>
      </p:sp>
      <p:sp>
        <p:nvSpPr>
          <p:cNvPr id="6" name="Text 4"/>
          <p:cNvSpPr/>
          <p:nvPr/>
        </p:nvSpPr>
        <p:spPr>
          <a:xfrm>
            <a:off x="711182" y="2762230"/>
            <a:ext cx="10921727"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FFFFFF"/>
                </a:solidFill>
                <a:latin typeface="Fragment Mono" pitchFamily="34" charset="0"/>
                <a:ea typeface="Fragment Mono" pitchFamily="34" charset="-122"/>
                <a:cs typeface="Fragment Mono" pitchFamily="34" charset="-120"/>
              </a:rPr>
              <a:t>PERFORMANCE_RULES.TSV</a:t>
            </a:r>
            <a:endParaRPr lang="en-US" sz="1300" dirty="0"/>
          </a:p>
        </p:txBody>
      </p:sp>
      <p:sp>
        <p:nvSpPr>
          <p:cNvPr id="7" name="Shape 5"/>
          <p:cNvSpPr/>
          <p:nvPr/>
        </p:nvSpPr>
        <p:spPr>
          <a:xfrm>
            <a:off x="558786" y="3041551"/>
            <a:ext cx="11074123" cy="2558455"/>
          </a:xfrm>
          <a:prstGeom prst="rect">
            <a:avLst/>
          </a:prstGeom>
          <a:solidFill>
            <a:srgbClr val="E6E6EA"/>
          </a:solidFill>
          <a:ln w="6350">
            <a:solidFill>
              <a:srgbClr val="1A1A1A"/>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69928" y="3174901"/>
          <a:ext cx="10451839" cy="914400"/>
        </p:xfrm>
        <a:graphic>
          <a:graphicData uri="http://schemas.openxmlformats.org/drawingml/2006/table">
            <a:tbl>
              <a:tblPr/>
              <a:tblGrid>
                <a:gridCol w="3135532"/>
                <a:gridCol w="7316307"/>
              </a:tblGrid>
              <a:tr h="768132">
                <a:tc>
                  <a:txBody>
                    <a:bodyPr/>
                    <a:lstStyle/>
                    <a:p>
                      <a:pPr algn="l" indent="0" marL="0">
                        <a:buNone/>
                      </a:pPr>
                      <a:r>
                        <a:rPr lang="en-US" sz="1700" b="1" dirty="0">
                          <a:solidFill>
                            <a:srgbClr val="000000"/>
                          </a:solidFill>
                          <a:latin typeface="Inter Tight" pitchFamily="34" charset="0"/>
                          <a:ea typeface="Inter Tight" pitchFamily="34" charset="-122"/>
                          <a:cs typeface="Inter Tight" pitchFamily="34" charset="-120"/>
                        </a:rPr>
                        <a:t>Variables bind siempre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E6E6E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algn="l" indent="0" marL="0">
                        <a:buNone/>
                      </a:pPr>
                      <a:r>
                        <a:rPr lang="en-US" sz="1700" dirty="0">
                          <a:solidFill>
                            <a:srgbClr val="000000"/>
                          </a:solidFill>
                          <a:latin typeface="Inter Tight" pitchFamily="34" charset="0"/>
                          <a:ea typeface="Inter Tight" pitchFamily="34" charset="-122"/>
                          <a:cs typeface="Inter Tight" pitchFamily="34" charset="-120"/>
                        </a:rPr>
                        <a:t>Reduce hard parsing y protege contra inyección SQL (Structured Query Language).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E6E6E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r>
              <a:tr h="768132">
                <a:tc>
                  <a:txBody>
                    <a:bodyPr/>
                    <a:lstStyle/>
                    <a:p>
                      <a:pPr algn="l" indent="0" marL="0">
                        <a:buNone/>
                      </a:pPr>
                      <a:r>
                        <a:rPr lang="en-US" sz="1700" b="1" dirty="0">
                          <a:solidFill>
                            <a:srgbClr val="000000"/>
                          </a:solidFill>
                          <a:latin typeface="Inter Tight" pitchFamily="34" charset="0"/>
                          <a:ea typeface="Inter Tight" pitchFamily="34" charset="-122"/>
                          <a:cs typeface="Inter Tight" pitchFamily="34" charset="-120"/>
                        </a:rPr>
                        <a:t>DBMS_XPLAN</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algn="l" indent="0" marL="0">
                        <a:buNone/>
                      </a:pPr>
                      <a:r>
                        <a:rPr lang="en-US" sz="1700" dirty="0">
                          <a:solidFill>
                            <a:srgbClr val="000000"/>
                          </a:solidFill>
                          <a:latin typeface="Inter Tight" pitchFamily="34" charset="0"/>
                          <a:ea typeface="Inter Tight" pitchFamily="34" charset="-122"/>
                          <a:cs typeface="Inter Tight" pitchFamily="34" charset="-120"/>
                        </a:rPr>
                        <a:t>Lee DBMS_XPLAN (paquete de planes de ejecución) antes de crear índices; mantén estadísticas al día.</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r>
              <a:tr h="755433">
                <a:tc>
                  <a:txBody>
                    <a:bodyPr/>
                    <a:lstStyle/>
                    <a:p>
                      <a:pPr algn="l" indent="0" marL="0">
                        <a:buNone/>
                      </a:pPr>
                      <a:r>
                        <a:rPr lang="en-US" sz="1700" b="1" dirty="0">
                          <a:solidFill>
                            <a:srgbClr val="000000"/>
                          </a:solidFill>
                          <a:latin typeface="Inter Tight" pitchFamily="34" charset="0"/>
                          <a:ea typeface="Inter Tight" pitchFamily="34" charset="-122"/>
                          <a:cs typeface="Inter Tight" pitchFamily="34" charset="-120"/>
                        </a:rPr>
                        <a:t>Operaciones por lotes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E6E6EA"/>
                      </a:solidFill>
                      <a:prstDash val="solid"/>
                      <a:round/>
                      <a:headEnd type="none" w="med" len="med"/>
                      <a:tailEnd type="none" w="med" len="med"/>
                    </a:lnB>
                    <a:solidFill>
                      <a:srgbClr val="E6E6EA"/>
                    </a:solidFill>
                  </a:tcPr>
                </a:tc>
                <a:tc>
                  <a:txBody>
                    <a:bodyPr/>
                    <a:lstStyle/>
                    <a:p>
                      <a:pPr algn="l" indent="0" marL="0">
                        <a:buNone/>
                      </a:pPr>
                      <a:r>
                        <a:rPr lang="en-US" sz="1700" dirty="0">
                          <a:solidFill>
                            <a:srgbClr val="000000"/>
                          </a:solidFill>
                          <a:latin typeface="Inter Tight" pitchFamily="34" charset="0"/>
                          <a:ea typeface="Inter Tight" pitchFamily="34" charset="-122"/>
                          <a:cs typeface="Inter Tight" pitchFamily="34" charset="-120"/>
                        </a:rPr>
                        <a:t>Usa operaciones por lotes (executemany) y un pool de conexiones en Python.</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E6E6EA"/>
                      </a:solidFill>
                      <a:prstDash val="solid"/>
                      <a:round/>
                      <a:headEnd type="none" w="med" len="med"/>
                      <a:tailEnd type="none" w="med" len="med"/>
                    </a:lnB>
                    <a:solidFill>
                      <a:srgbClr val="E6E6EA"/>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439420"/>
            <a:ext cx="7518212"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120"/>
              </a:rPr>
              <a:t>OPERABILIDAD Y CULMINACIÓN</a:t>
            </a:r>
            <a:endParaRPr lang="en-US" sz="1300" dirty="0"/>
          </a:p>
        </p:txBody>
      </p:sp>
      <p:sp>
        <p:nvSpPr>
          <p:cNvPr id="3" name="Text 1"/>
          <p:cNvSpPr/>
          <p:nvPr/>
        </p:nvSpPr>
        <p:spPr>
          <a:xfrm>
            <a:off x="609585" y="760460"/>
            <a:ext cx="7137221" cy="863600"/>
          </a:xfrm>
          <a:prstGeom prst="rect">
            <a:avLst/>
          </a:prstGeom>
          <a:noFill/>
          <a:ln/>
        </p:spPr>
        <p:txBody>
          <a:bodyPr wrap="square" lIns="0" tIns="0" rIns="0" bIns="0" rtlCol="0" anchor="t">
            <a:normAutofit/>
          </a:bodyPr>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120"/>
              </a:rPr>
              <a:t>Tips de operación y cierre: diagnostica, respalda y asegura</a:t>
            </a:r>
            <a:endParaRPr lang="en-US" sz="3400" dirty="0"/>
          </a:p>
        </p:txBody>
      </p:sp>
      <p:sp>
        <p:nvSpPr>
          <p:cNvPr id="4" name="Text 2"/>
          <p:cNvSpPr/>
          <p:nvPr/>
        </p:nvSpPr>
        <p:spPr>
          <a:xfrm>
            <a:off x="609585" y="1795066"/>
            <a:ext cx="7137221" cy="1219597"/>
          </a:xfrm>
          <a:prstGeom prst="rect">
            <a:avLst/>
          </a:prstGeom>
          <a:noFill/>
          <a:ln/>
        </p:spPr>
        <p:txBody>
          <a:bodyPr wrap="square" lIns="0" tIns="0" rIns="0" bIns="0" rtlCol="0" anchor="t">
            <a:normAutofit/>
          </a:bodyPr>
          <a:lstStyle/>
          <a:p>
            <a:pPr algn="l" marL="345440" indent="-345440">
              <a:lnSpc>
                <a:spcPct val="112000"/>
              </a:lnSpc>
              <a:buSzPct val="100000"/>
              <a:buChar char="•"/>
            </a:pPr>
            <a:r>
              <a:rPr lang="en-US" sz="1700" dirty="0">
                <a:solidFill>
                  <a:srgbClr val="1A1A1A"/>
                </a:solidFill>
                <a:latin typeface="Inter Tight" pitchFamily="34" charset="0"/>
                <a:ea typeface="Inter Tight" pitchFamily="34" charset="-122"/>
                <a:cs typeface="Inter Tight" pitchFamily="34" charset="-120"/>
              </a:rPr>
              <a:t>AWR (Automatic Workload Repository) y ASH (Active Session History): mide antes de ajustar memoria, redo y undo.</a:t>
            </a:r>
            <a:endParaRPr lang="en-US" sz="1700" dirty="0"/>
          </a:p>
          <a:p>
            <a:pPr algn="l" marL="345440" indent="-345440">
              <a:lnSpc>
                <a:spcPct val="112000"/>
              </a:lnSpc>
              <a:buSzPct val="100000"/>
              <a:buChar char="•"/>
            </a:pPr>
            <a:r>
              <a:rPr lang="en-US" sz="1700" dirty="0">
                <a:solidFill>
                  <a:srgbClr val="1A1A1A"/>
                </a:solidFill>
                <a:latin typeface="Inter Tight" pitchFamily="34" charset="0"/>
                <a:ea typeface="Inter Tight" pitchFamily="34" charset="-122"/>
                <a:cs typeface="Inter Tight" pitchFamily="34" charset="-120"/>
              </a:rPr>
              <a:t>RMAN (Recovery Manager): ensaya restauraciones; aplica mínimo privilegio y cifrado.</a:t>
            </a:r>
            <a:endParaRPr lang="en-US" sz="1700" dirty="0"/>
          </a:p>
        </p:txBody>
      </p:sp>
      <p:sp>
        <p:nvSpPr>
          <p:cNvPr id="5" name="Shape 3"/>
          <p:cNvSpPr/>
          <p:nvPr/>
        </p:nvSpPr>
        <p:spPr>
          <a:xfrm>
            <a:off x="609585" y="4673402"/>
            <a:ext cx="7137122" cy="31651"/>
          </a:xfrm>
          <a:prstGeom prst="roundRect">
            <a:avLst>
              <a:gd name="adj" fmla="val 49998"/>
            </a:avLst>
          </a:prstGeom>
          <a:solidFill>
            <a:srgbClr val="1A1A1A"/>
          </a:solidFill>
          <a:ln/>
        </p:spPr>
      </p:sp>
      <p:sp>
        <p:nvSpPr>
          <p:cNvPr id="6" name="Text 4"/>
          <p:cNvSpPr/>
          <p:nvPr/>
        </p:nvSpPr>
        <p:spPr>
          <a:xfrm>
            <a:off x="609585" y="5214104"/>
            <a:ext cx="7137221" cy="1351161"/>
          </a:xfrm>
          <a:prstGeom prst="rect">
            <a:avLst/>
          </a:prstGeom>
          <a:noFill/>
          <a:ln/>
        </p:spPr>
        <p:txBody>
          <a:bodyPr wrap="square" lIns="0" tIns="0" rIns="0" bIns="0" rtlCol="0" anchor="t">
            <a:normAutofit/>
          </a:bodyPr>
          <a:lstStyle/>
          <a:p>
            <a:pPr algn="l" indent="0" marL="0">
              <a:lnSpc>
                <a:spcPct val="79000"/>
              </a:lnSpc>
              <a:buNone/>
            </a:pPr>
            <a:r>
              <a:rPr lang="en-US" sz="5600" spc="-252" kern="100" dirty="0">
                <a:solidFill>
                  <a:srgbClr val="121212"/>
                </a:solidFill>
                <a:latin typeface="Inter Tight SemiBold" pitchFamily="34" charset="0"/>
                <a:ea typeface="Inter Tight SemiBold" pitchFamily="34" charset="-122"/>
                <a:cs typeface="Inter Tight SemiBold" pitchFamily="34" charset="-120"/>
              </a:rPr>
              <a:t>Mide antes</a:t>
            </a:r>
            <a:endParaRPr lang="en-US" sz="5600" dirty="0"/>
          </a:p>
          <a:p>
            <a:pPr algn="l" indent="0" marL="0">
              <a:lnSpc>
                <a:spcPct val="79000"/>
              </a:lnSpc>
              <a:buNone/>
            </a:pPr>
            <a:r>
              <a:rPr lang="en-US" sz="5600" spc="-252" kern="100" dirty="0">
                <a:solidFill>
                  <a:srgbClr val="121212"/>
                </a:solidFill>
                <a:latin typeface="Inter Tight SemiBold" pitchFamily="34" charset="0"/>
                <a:ea typeface="Inter Tight SemiBold" pitchFamily="34" charset="-122"/>
                <a:cs typeface="Inter Tight SemiBold" pitchFamily="34" charset="-120"/>
              </a:rPr>
              <a:t>de optimizar.</a:t>
            </a:r>
            <a:endParaRPr lang="en-US" sz="5600" dirty="0"/>
          </a:p>
        </p:txBody>
      </p:sp>
      <p:sp>
        <p:nvSpPr>
          <p:cNvPr id="7" name="Shape 5"/>
          <p:cNvSpPr/>
          <p:nvPr/>
        </p:nvSpPr>
        <p:spPr>
          <a:xfrm>
            <a:off x="8127797" y="0"/>
            <a:ext cx="4063898" cy="6858000"/>
          </a:xfrm>
          <a:prstGeom prst="rect">
            <a:avLst/>
          </a:prstGeom>
          <a:solidFill>
            <a:srgbClr val="B8B8C4"/>
          </a:solidFill>
          <a:ln/>
        </p:spPr>
      </p:sp>
      <p:pic>
        <p:nvPicPr>
          <p:cNvPr id="8" name="Image 0" descr="preencoded.png">    </p:cNvPr>
          <p:cNvPicPr>
            <a:picLocks noChangeAspect="1"/>
          </p:cNvPicPr>
          <p:nvPr/>
        </p:nvPicPr>
        <p:blipFill>
          <a:blip r:embed="rId1"/>
          <a:stretch>
            <a:fillRect/>
          </a:stretch>
        </p:blipFill>
        <p:spPr>
          <a:xfrm>
            <a:off x="8127797" y="0"/>
            <a:ext cx="4063898"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2026-10-20T19:06:48Z</dcterms:created>
  <dcterms:modified xsi:type="dcterms:W3CDTF">2026-10-20T19:06:48Z</dcterms:modified>
</cp:coreProperties>
</file>
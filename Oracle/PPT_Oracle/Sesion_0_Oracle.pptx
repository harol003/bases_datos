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BM Plex Sans"/>
      <p:regular r:id="rId201314"/>
    </p:embeddedFont>
    <p:embeddedFont>
      <p:font typeface="IBM Plex Sans SemiBold"/>
      <p:regular r:id="rId201315"/>
    </p:embeddedFont>
    <p:embeddedFont>
      <p:font typeface="IBM Plex Sans Bold"/>
      <p:regular r:id="rId201316"/>
    </p:embeddedFont>
    <p:embeddedFont>
      <p:font typeface="Sora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a la sesión de arquitectura de Oracle Database. Este recorrido técnico está diseñado para entender el motor desde su ingeniería interna: cómo interactúan la memoria volátil, los procesos en segundo plano y las estructuras persistentes en disco.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la versatilidad: Oracle no solo atiende transacciones bancarias tradicionales (OLTP), sino que integra modelos modernos como grafos y JSON dentro del mismo motor relacional probado en producción durante décadas.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letra en las versiones de Oracle refleja una era arquitectónica: 'i' para internet, 'g' para grid computing, 'c' para cloud y multitenancy, y recientemente 'ai' para inteligencia artificial y capacidades vectoriales nativas.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la separación: podemos apagar la instancia (los procesos y la RAM desaparecen), pero la base de datos (los archivos físicos en almacenamiento) permanece intacta. En RAC, múltiples instancias acceden a una misma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Nótese que el cliente nunca escribe directamente en el datafile. DBWR se encarga de agrupar escrituras en diferido, mientras que LGWR garantiza que los cambios confirmados estén seguros en disco de manera ultrarrápida.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Comprender esta jerarquía es vital: una tabla es un segmento, compuesto por extents, formados por bloques. Cada tablespace contiene estos segmentos y físicamente se compone de datafiles en disco.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SCN es el concepto clave aquí: un contador atómico global que determina qué versión de cada bloque debe ver una consulta en ejecución, apoyándose en los segmentos UNDO para reconstruir datos modificados.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Distinguir claramente: RAC aporta alta disponibilidad local ante caída de un nodo (varias instancias activas), mientras que Data Guard protege contra desastres físicos completos replicando a otro centro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Insistir en las variables bind: es el error número uno de desarrolladores que migran desde motores más ligeros. No usar binds satura la biblioteca de memoria de Oracle y degrada la concurrencia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Concluir con el mensaje clave de resiliencia: la mejor estrategia de backup es aquella cuya restauración ha sido ejecutada y validada con éxito recientemente. RMAN es el estándar de oro de la industria para esta tarea.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2F4ED"/>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6908627" cy="6858000"/>
          </a:xfrm>
          <a:prstGeom prst="rect">
            <a:avLst/>
          </a:prstGeom>
          <a:solidFill>
            <a:srgbClr val="083C35"/>
          </a:solidFill>
          <a:ln/>
        </p:spPr>
      </p:sp>
      <p:sp>
        <p:nvSpPr>
          <p:cNvPr id="3" name="Text 1"/>
          <p:cNvSpPr/>
          <p:nvPr/>
        </p:nvSpPr>
        <p:spPr>
          <a:xfrm>
            <a:off x="609585" y="618680"/>
            <a:ext cx="629904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ARQUITECTURA DE SISTEMAS</a:t>
            </a:r>
            <a:endParaRPr lang="en-US" sz="1100" dirty="0"/>
          </a:p>
        </p:txBody>
      </p:sp>
      <p:sp>
        <p:nvSpPr>
          <p:cNvPr id="4" name="Text 2"/>
          <p:cNvSpPr/>
          <p:nvPr/>
        </p:nvSpPr>
        <p:spPr>
          <a:xfrm>
            <a:off x="609585" y="977555"/>
            <a:ext cx="5841854" cy="1776710"/>
          </a:xfrm>
          <a:prstGeom prst="rect">
            <a:avLst/>
          </a:prstGeom>
          <a:noFill/>
          <a:ln/>
        </p:spPr>
        <p:txBody>
          <a:bodyPr wrap="square" lIns="0" tIns="0" rIns="0" bIns="0" rtlCol="0" anchor="t">
            <a:normAutofit/>
          </a:bodyPr>
          <a:lstStyle/>
          <a:p>
            <a:pPr algn="l" indent="0" marL="0">
              <a:lnSpc>
                <a:spcPct val="88000"/>
              </a:lnSpc>
              <a:buNone/>
            </a:pPr>
            <a:r>
              <a:rPr lang="en-US" sz="4400" b="1" spc="-88" kern="100" dirty="0">
                <a:solidFill>
                  <a:srgbClr val="FFFFFF"/>
                </a:solidFill>
                <a:latin typeface="Sora Bold" pitchFamily="34" charset="0"/>
                <a:ea typeface="Sora Bold" pitchFamily="34" charset="-122"/>
                <a:cs typeface="Sora Bold" pitchFamily="34" charset="-120"/>
              </a:rPr>
              <a:t>Oracle Database:</a:t>
            </a:r>
            <a:endParaRPr lang="en-US" sz="4400" dirty="0"/>
          </a:p>
          <a:p>
            <a:pPr algn="l" indent="0" marL="0">
              <a:lnSpc>
                <a:spcPct val="88000"/>
              </a:lnSpc>
              <a:buNone/>
            </a:pPr>
            <a:r>
              <a:rPr lang="en-US" sz="4400" b="1" spc="-88" kern="100" dirty="0">
                <a:solidFill>
                  <a:srgbClr val="0FBDB7"/>
                </a:solidFill>
                <a:latin typeface="Sora Bold" pitchFamily="34" charset="0"/>
                <a:ea typeface="Sora Bold" pitchFamily="34" charset="-122"/>
                <a:cs typeface="Sora Bold" pitchFamily="34" charset="-120"/>
              </a:rPr>
              <a:t>el motor desde la ingeniería</a:t>
            </a:r>
            <a:endParaRPr lang="en-US" sz="4400" dirty="0"/>
          </a:p>
        </p:txBody>
      </p:sp>
      <p:sp>
        <p:nvSpPr>
          <p:cNvPr id="5" name="Text 3"/>
          <p:cNvSpPr/>
          <p:nvPr/>
        </p:nvSpPr>
        <p:spPr>
          <a:xfrm>
            <a:off x="609585" y="2950734"/>
            <a:ext cx="5841854" cy="603448"/>
          </a:xfrm>
          <a:prstGeom prst="rect">
            <a:avLst/>
          </a:prstGeom>
          <a:noFill/>
          <a:ln/>
        </p:spPr>
        <p:txBody>
          <a:bodyPr wrap="square" lIns="0" tIns="0" rIns="0" bIns="0" rtlCol="0" anchor="t">
            <a:normAutofit/>
          </a:bodyPr>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Fundamentos de procesamiento, memoria compartida, transaccionalidad ACID y almacenamiento en disco.</a:t>
            </a:r>
            <a:endParaRPr lang="en-US" sz="1800" dirty="0"/>
          </a:p>
        </p:txBody>
      </p:sp>
      <p:sp>
        <p:nvSpPr>
          <p:cNvPr id="6" name="Shape 4"/>
          <p:cNvSpPr/>
          <p:nvPr/>
        </p:nvSpPr>
        <p:spPr>
          <a:xfrm>
            <a:off x="609585" y="5642670"/>
            <a:ext cx="1557795" cy="345182"/>
          </a:xfrm>
          <a:prstGeom prst="roundRect">
            <a:avLst>
              <a:gd name="adj" fmla="val 49999"/>
            </a:avLst>
          </a:prstGeom>
          <a:solidFill>
            <a:srgbClr val="0A7C78"/>
          </a:solidFill>
          <a:ln/>
        </p:spPr>
      </p:sp>
      <p:sp>
        <p:nvSpPr>
          <p:cNvPr id="7" name="Text 5"/>
          <p:cNvSpPr/>
          <p:nvPr/>
        </p:nvSpPr>
        <p:spPr>
          <a:xfrm>
            <a:off x="609585" y="5723061"/>
            <a:ext cx="1557795" cy="192782"/>
          </a:xfrm>
          <a:prstGeom prst="rect">
            <a:avLst/>
          </a:prstGeom>
          <a:noFill/>
          <a:ln/>
        </p:spPr>
        <p:txBody>
          <a:bodyPr wrap="none" lIns="0" tIns="0" rIns="0" bIns="0" rtlCol="0" anchor="t"/>
          <a:lstStyle/>
          <a:p>
            <a:pPr algn="ctr" indent="0" marL="0">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120"/>
              </a:rPr>
              <a:t>Instancia</a:t>
            </a:r>
            <a:endParaRPr lang="en-US" sz="1100" dirty="0"/>
          </a:p>
        </p:txBody>
      </p:sp>
      <p:sp>
        <p:nvSpPr>
          <p:cNvPr id="8" name="Shape 6"/>
          <p:cNvSpPr/>
          <p:nvPr/>
        </p:nvSpPr>
        <p:spPr>
          <a:xfrm>
            <a:off x="2167379" y="5796161"/>
            <a:ext cx="389325" cy="38100"/>
          </a:xfrm>
          <a:prstGeom prst="roundRect">
            <a:avLst>
              <a:gd name="adj" fmla="val 49999"/>
            </a:avLst>
          </a:prstGeom>
          <a:solidFill>
            <a:srgbClr val="0A7C78"/>
          </a:solidFill>
          <a:ln/>
        </p:spPr>
      </p:sp>
      <p:sp>
        <p:nvSpPr>
          <p:cNvPr id="9" name="Shape 7"/>
          <p:cNvSpPr/>
          <p:nvPr/>
        </p:nvSpPr>
        <p:spPr>
          <a:xfrm>
            <a:off x="2556803" y="5642670"/>
            <a:ext cx="1557795" cy="345182"/>
          </a:xfrm>
          <a:prstGeom prst="roundRect">
            <a:avLst>
              <a:gd name="adj" fmla="val 49999"/>
            </a:avLst>
          </a:prstGeom>
          <a:solidFill>
            <a:srgbClr val="0A7C78"/>
          </a:solidFill>
          <a:ln/>
        </p:spPr>
      </p:sp>
      <p:sp>
        <p:nvSpPr>
          <p:cNvPr id="10" name="Text 8"/>
          <p:cNvSpPr/>
          <p:nvPr/>
        </p:nvSpPr>
        <p:spPr>
          <a:xfrm>
            <a:off x="2556803" y="5723061"/>
            <a:ext cx="1557795" cy="192782"/>
          </a:xfrm>
          <a:prstGeom prst="rect">
            <a:avLst/>
          </a:prstGeom>
          <a:noFill/>
          <a:ln/>
        </p:spPr>
        <p:txBody>
          <a:bodyPr wrap="none" lIns="0" tIns="0" rIns="0" bIns="0" rtlCol="0" anchor="t"/>
          <a:lstStyle/>
          <a:p>
            <a:pPr algn="ctr" indent="0" marL="0">
              <a:lnSpc>
                <a:spcPct val="115000"/>
              </a:lnSpc>
              <a:buNone/>
            </a:pPr>
            <a:r>
              <a:rPr lang="en-US" sz="1100" b="1" dirty="0">
                <a:solidFill>
                  <a:srgbClr val="FFFFFF"/>
                </a:solidFill>
                <a:latin typeface="IBM Plex Sans Bold" pitchFamily="34" charset="0"/>
                <a:ea typeface="IBM Plex Sans Bold" pitchFamily="34" charset="-122"/>
                <a:cs typeface="IBM Plex Sans Bold" pitchFamily="34" charset="-120"/>
              </a:rPr>
              <a:t>Memoria</a:t>
            </a:r>
            <a:endParaRPr lang="en-US" sz="1100" dirty="0"/>
          </a:p>
        </p:txBody>
      </p:sp>
      <p:sp>
        <p:nvSpPr>
          <p:cNvPr id="11" name="Shape 9"/>
          <p:cNvSpPr/>
          <p:nvPr/>
        </p:nvSpPr>
        <p:spPr>
          <a:xfrm>
            <a:off x="4114598" y="5796161"/>
            <a:ext cx="389424" cy="38100"/>
          </a:xfrm>
          <a:prstGeom prst="roundRect">
            <a:avLst>
              <a:gd name="adj" fmla="val 49999"/>
            </a:avLst>
          </a:prstGeom>
          <a:solidFill>
            <a:srgbClr val="0A7C78"/>
          </a:solidFill>
          <a:ln/>
        </p:spPr>
      </p:sp>
      <p:sp>
        <p:nvSpPr>
          <p:cNvPr id="12" name="Shape 10"/>
          <p:cNvSpPr/>
          <p:nvPr/>
        </p:nvSpPr>
        <p:spPr>
          <a:xfrm>
            <a:off x="4504121" y="5642670"/>
            <a:ext cx="1947218" cy="345182"/>
          </a:xfrm>
          <a:prstGeom prst="roundRect">
            <a:avLst>
              <a:gd name="adj" fmla="val 49999"/>
            </a:avLst>
          </a:prstGeom>
          <a:solidFill>
            <a:srgbClr val="F26A3D"/>
          </a:solidFill>
          <a:ln/>
        </p:spPr>
      </p:sp>
      <p:sp>
        <p:nvSpPr>
          <p:cNvPr id="13" name="Text 11"/>
          <p:cNvSpPr/>
          <p:nvPr/>
        </p:nvSpPr>
        <p:spPr>
          <a:xfrm>
            <a:off x="4504121" y="5723061"/>
            <a:ext cx="1947218" cy="192782"/>
          </a:xfrm>
          <a:prstGeom prst="rect">
            <a:avLst/>
          </a:prstGeom>
          <a:noFill/>
          <a:ln/>
        </p:spPr>
        <p:txBody>
          <a:bodyPr wrap="none" lIns="0" tIns="0" rIns="0" bIns="0" rtlCol="0" anchor="t"/>
          <a:lstStyle/>
          <a:p>
            <a:pPr algn="ctr" indent="0" marL="0">
              <a:lnSpc>
                <a:spcPct val="115000"/>
              </a:lnSpc>
              <a:buNone/>
            </a:pPr>
            <a:r>
              <a:rPr lang="en-US" sz="1100" b="1" dirty="0">
                <a:solidFill>
                  <a:srgbClr val="10201D"/>
                </a:solidFill>
                <a:latin typeface="IBM Plex Sans Bold" pitchFamily="34" charset="0"/>
                <a:ea typeface="IBM Plex Sans Bold" pitchFamily="34" charset="-122"/>
                <a:cs typeface="IBM Plex Sans Bold" pitchFamily="34" charset="-120"/>
              </a:rPr>
              <a:t>Disco</a:t>
            </a:r>
            <a:endParaRPr lang="en-US" sz="1100" dirty="0"/>
          </a:p>
        </p:txBody>
      </p:sp>
      <p:sp>
        <p:nvSpPr>
          <p:cNvPr id="14" name="Text 12"/>
          <p:cNvSpPr/>
          <p:nvPr/>
        </p:nvSpPr>
        <p:spPr>
          <a:xfrm>
            <a:off x="609585" y="6171938"/>
            <a:ext cx="6299042" cy="184348"/>
          </a:xfrm>
          <a:prstGeom prst="rect">
            <a:avLst/>
          </a:prstGeom>
          <a:noFill/>
          <a:ln/>
        </p:spPr>
        <p:txBody>
          <a:bodyPr wrap="none" lIns="0" tIns="0" rIns="0" bIns="0" rtlCol="0" anchor="t"/>
          <a:lstStyle/>
          <a:p>
            <a:pPr algn="l" indent="0" marL="0">
              <a:lnSpc>
                <a:spcPct val="110000"/>
              </a:lnSpc>
              <a:buNone/>
            </a:pPr>
            <a:r>
              <a:rPr lang="en-US" sz="1100" dirty="0">
                <a:solidFill>
                  <a:srgbClr val="FFFFFF"/>
                </a:solidFill>
                <a:latin typeface="IBM Plex Sans" pitchFamily="34" charset="0"/>
                <a:ea typeface="IBM Plex Sans" pitchFamily="34" charset="-122"/>
                <a:cs typeface="IBM Plex Sans" pitchFamily="34" charset="-120"/>
              </a:rPr>
              <a:t>Guía para ingenieros y desarrolladores · Arquitectura del motor</a:t>
            </a:r>
            <a:endParaRPr lang="en-US" sz="1100" dirty="0"/>
          </a:p>
        </p:txBody>
      </p:sp>
      <p:pic>
        <p:nvPicPr>
          <p:cNvPr id="15" name="Image 0" descr="preencoded.png">    </p:cNvPr>
          <p:cNvPicPr>
            <a:picLocks noChangeAspect="1"/>
          </p:cNvPicPr>
          <p:nvPr/>
        </p:nvPicPr>
        <p:blipFill>
          <a:blip r:embed="rId1"/>
          <a:stretch>
            <a:fillRect/>
          </a:stretch>
        </p:blipFill>
        <p:spPr>
          <a:xfrm>
            <a:off x="6908627" y="0"/>
            <a:ext cx="528306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4185" y="491680"/>
            <a:ext cx="11607510"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DEFINICIÓN Y CAPACIDADES</a:t>
            </a:r>
            <a:endParaRPr lang="en-US" sz="1100" dirty="0"/>
          </a:p>
        </p:txBody>
      </p:sp>
      <p:sp>
        <p:nvSpPr>
          <p:cNvPr id="3" name="Text 1"/>
          <p:cNvSpPr/>
          <p:nvPr/>
        </p:nvSpPr>
        <p:spPr>
          <a:xfrm>
            <a:off x="584185" y="790547"/>
            <a:ext cx="11023324" cy="915392"/>
          </a:xfrm>
          <a:prstGeom prst="rect">
            <a:avLst/>
          </a:prstGeom>
          <a:noFill/>
          <a:ln/>
        </p:spPr>
        <p:txBody>
          <a:bodyPr wrap="square" lIns="0" tIns="0" rIns="0" bIns="0" rtlCol="0" anchor="t">
            <a:normAutofit/>
          </a:bodyPr>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Oracle es un RDBMS que combina almacenamiento, procesamiento y seguridad</a:t>
            </a:r>
            <a:endParaRPr lang="en-US" sz="3400" dirty="0"/>
          </a:p>
        </p:txBody>
      </p:sp>
      <p:sp>
        <p:nvSpPr>
          <p:cNvPr id="4" name="Text 2"/>
          <p:cNvSpPr/>
          <p:nvPr/>
        </p:nvSpPr>
        <p:spPr>
          <a:xfrm>
            <a:off x="584185" y="1933206"/>
            <a:ext cx="11023324"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Un sistema de gestión de base de datos relacional (RDBMS) diseñado para garantizar integridad transaccional estricta en cargas masivas.</a:t>
            </a:r>
            <a:endParaRPr lang="en-US" sz="1700" dirty="0"/>
          </a:p>
        </p:txBody>
      </p:sp>
      <p:sp>
        <p:nvSpPr>
          <p:cNvPr id="5" name="Shape 3"/>
          <p:cNvSpPr/>
          <p:nvPr/>
        </p:nvSpPr>
        <p:spPr>
          <a:xfrm>
            <a:off x="584185" y="2725638"/>
            <a:ext cx="3471180" cy="3186013"/>
          </a:xfrm>
          <a:prstGeom prst="roundRect">
            <a:avLst>
              <a:gd name="adj" fmla="val 6697"/>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800080" y="2976019"/>
            <a:ext cx="3255286"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LENGUAJES CORE</a:t>
            </a:r>
            <a:endParaRPr lang="en-US" sz="1100" dirty="0"/>
          </a:p>
        </p:txBody>
      </p:sp>
      <p:sp>
        <p:nvSpPr>
          <p:cNvPr id="7" name="Text 5"/>
          <p:cNvSpPr/>
          <p:nvPr/>
        </p:nvSpPr>
        <p:spPr>
          <a:xfrm>
            <a:off x="800080" y="3251962"/>
            <a:ext cx="3039391"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SQL y PL/SQL</a:t>
            </a:r>
            <a:endParaRPr lang="en-US" sz="1800" dirty="0"/>
          </a:p>
        </p:txBody>
      </p:sp>
      <p:sp>
        <p:nvSpPr>
          <p:cNvPr id="8" name="Text 6"/>
          <p:cNvSpPr/>
          <p:nvPr/>
        </p:nvSpPr>
        <p:spPr>
          <a:xfrm>
            <a:off x="800080" y="3732883"/>
            <a:ext cx="3039391" cy="1471613"/>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Combina SQL (Structured Query Language) para consultas declarativas y PL/SQL (Procedural Language/SQL) para lógica procedimental compilada dentro del propio motor.</a:t>
            </a:r>
            <a:endParaRPr lang="en-US" sz="1400" dirty="0"/>
          </a:p>
        </p:txBody>
      </p:sp>
      <p:sp>
        <p:nvSpPr>
          <p:cNvPr id="9" name="Shape 7"/>
          <p:cNvSpPr/>
          <p:nvPr/>
        </p:nvSpPr>
        <p:spPr>
          <a:xfrm>
            <a:off x="4360158" y="2725638"/>
            <a:ext cx="3471280" cy="3186013"/>
          </a:xfrm>
          <a:prstGeom prst="roundRect">
            <a:avLst>
              <a:gd name="adj" fmla="val 6697"/>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0" name="Text 8"/>
          <p:cNvSpPr/>
          <p:nvPr/>
        </p:nvSpPr>
        <p:spPr>
          <a:xfrm>
            <a:off x="4576053" y="2976019"/>
            <a:ext cx="3255385"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CARGAS DE TRABAJO</a:t>
            </a:r>
            <a:endParaRPr lang="en-US" sz="1100" dirty="0"/>
          </a:p>
        </p:txBody>
      </p:sp>
      <p:sp>
        <p:nvSpPr>
          <p:cNvPr id="11" name="Text 9"/>
          <p:cNvSpPr/>
          <p:nvPr/>
        </p:nvSpPr>
        <p:spPr>
          <a:xfrm>
            <a:off x="4576053" y="3251962"/>
            <a:ext cx="303949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OLTP y Multimodelo</a:t>
            </a:r>
            <a:endParaRPr lang="en-US" sz="1800" dirty="0"/>
          </a:p>
        </p:txBody>
      </p:sp>
      <p:sp>
        <p:nvSpPr>
          <p:cNvPr id="12" name="Text 10"/>
          <p:cNvSpPr/>
          <p:nvPr/>
        </p:nvSpPr>
        <p:spPr>
          <a:xfrm>
            <a:off x="4576053" y="3732883"/>
            <a:ext cx="3039490"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Soporta OLTP (procesamiento de transacciones en línea) con alta concurrencia, analítica en memoria, y documentos JSON, datos espaciales y grafos en el mismo esquema.</a:t>
            </a:r>
            <a:endParaRPr lang="en-US" sz="1400" dirty="0"/>
          </a:p>
        </p:txBody>
      </p:sp>
      <p:sp>
        <p:nvSpPr>
          <p:cNvPr id="13" name="Shape 11"/>
          <p:cNvSpPr/>
          <p:nvPr/>
        </p:nvSpPr>
        <p:spPr>
          <a:xfrm>
            <a:off x="8136230" y="2725638"/>
            <a:ext cx="3471280" cy="3186013"/>
          </a:xfrm>
          <a:prstGeom prst="roundRect">
            <a:avLst>
              <a:gd name="adj" fmla="val 6697"/>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4" name="Shape 12"/>
          <p:cNvSpPr/>
          <p:nvPr/>
        </p:nvSpPr>
        <p:spPr>
          <a:xfrm>
            <a:off x="8352125" y="2966938"/>
            <a:ext cx="1319576" cy="641548"/>
          </a:xfrm>
          <a:prstGeom prst="roundRect">
            <a:avLst>
              <a:gd name="adj" fmla="val 49999"/>
            </a:avLst>
          </a:prstGeom>
          <a:solidFill>
            <a:srgbClr val="F26A3D"/>
          </a:solidFill>
          <a:ln/>
        </p:spPr>
      </p:sp>
      <p:sp>
        <p:nvSpPr>
          <p:cNvPr id="15" name="Text 13"/>
          <p:cNvSpPr/>
          <p:nvPr/>
        </p:nvSpPr>
        <p:spPr>
          <a:xfrm>
            <a:off x="8580719" y="3201825"/>
            <a:ext cx="1090982" cy="184348"/>
          </a:xfrm>
          <a:prstGeom prst="rect">
            <a:avLst/>
          </a:prstGeom>
          <a:noFill/>
          <a:ln/>
        </p:spPr>
        <p:txBody>
          <a:bodyPr wrap="none" lIns="0" tIns="0" rIns="0" bIns="0" rtlCol="0" anchor="t"/>
          <a:lstStyle/>
          <a:p>
            <a:pPr algn="l" indent="0" marL="0">
              <a:lnSpc>
                <a:spcPct val="110000"/>
              </a:lnSpc>
              <a:buNone/>
            </a:pPr>
            <a:r>
              <a:rPr lang="en-US" sz="1100" b="1" dirty="0">
                <a:solidFill>
                  <a:srgbClr val="10201D"/>
                </a:solidFill>
                <a:latin typeface="IBM Plex Sans Bold" pitchFamily="34" charset="0"/>
                <a:ea typeface="IBM Plex Sans Bold" pitchFamily="34" charset="-122"/>
                <a:cs typeface="IBM Plex Sans Bold" pitchFamily="34" charset="-120"/>
              </a:rPr>
              <a:t>DESPLIEGUE</a:t>
            </a:r>
            <a:endParaRPr lang="en-US" sz="1100" dirty="0"/>
          </a:p>
        </p:txBody>
      </p:sp>
      <p:sp>
        <p:nvSpPr>
          <p:cNvPr id="16" name="Text 14"/>
          <p:cNvSpPr/>
          <p:nvPr/>
        </p:nvSpPr>
        <p:spPr>
          <a:xfrm>
            <a:off x="8352125" y="3745774"/>
            <a:ext cx="3039490"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Nube y Exadata</a:t>
            </a:r>
            <a:endParaRPr lang="en-US" sz="1800" dirty="0"/>
          </a:p>
        </p:txBody>
      </p:sp>
      <p:sp>
        <p:nvSpPr>
          <p:cNvPr id="17" name="Text 15"/>
          <p:cNvSpPr/>
          <p:nvPr/>
        </p:nvSpPr>
        <p:spPr>
          <a:xfrm>
            <a:off x="8352125" y="4226695"/>
            <a:ext cx="3039490"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Opera en servidores locales (on-premise), en la nube OCI (Oracle Cloud Infrastructure) y sobre Exadata, una plataforma de hardware optimizada para E/S masiva.</a:t>
            </a:r>
            <a:endParaRPr lang="en-US" sz="1400" dirty="0"/>
          </a:p>
        </p:txBody>
      </p:sp>
      <p:sp>
        <p:nvSpPr>
          <p:cNvPr id="18" name="Text 16"/>
          <p:cNvSpPr/>
          <p:nvPr/>
        </p:nvSpPr>
        <p:spPr>
          <a:xfrm>
            <a:off x="584185" y="6146538"/>
            <a:ext cx="11607510" cy="260548"/>
          </a:xfrm>
          <a:prstGeom prst="rect">
            <a:avLst/>
          </a:prstGeom>
          <a:noFill/>
          <a:ln/>
        </p:spPr>
        <p:txBody>
          <a:bodyPr wrap="none" lIns="0" tIns="63498" rIns="0" bIns="0" rtlCol="0" anchor="t"/>
          <a:lstStyle/>
          <a:p>
            <a:pPr algn="l" indent="0" marL="0">
              <a:lnSpc>
                <a:spcPct val="110000"/>
              </a:lnSpc>
              <a:buNone/>
            </a:pPr>
            <a:r>
              <a:rPr lang="en-US" sz="1100" dirty="0">
                <a:solidFill>
                  <a:srgbClr val="5F6D68"/>
                </a:solidFill>
                <a:latin typeface="IBM Plex Sans" pitchFamily="34" charset="0"/>
                <a:ea typeface="IBM Plex Sans" pitchFamily="34" charset="-122"/>
                <a:cs typeface="IBM Plex Sans" pitchFamily="34" charset="-120"/>
              </a:rPr>
              <a:t>RDBMS = Relational Database Management System · OCI = Oracle Cloud Infrastructure · OLTP = Online Transaction Processing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58786" y="466280"/>
            <a:ext cx="675623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EVOLUCIÓN TECNOLÓGICA</a:t>
            </a:r>
            <a:endParaRPr lang="en-US" sz="1100" dirty="0"/>
          </a:p>
        </p:txBody>
      </p:sp>
      <p:sp>
        <p:nvSpPr>
          <p:cNvPr id="3" name="Text 1"/>
          <p:cNvSpPr/>
          <p:nvPr/>
        </p:nvSpPr>
        <p:spPr>
          <a:xfrm>
            <a:off x="558786" y="765147"/>
            <a:ext cx="6349841" cy="915392"/>
          </a:xfrm>
          <a:prstGeom prst="rect">
            <a:avLst/>
          </a:prstGeom>
          <a:noFill/>
          <a:ln/>
        </p:spPr>
        <p:txBody>
          <a:bodyPr wrap="square" lIns="0" tIns="0" rIns="0" bIns="0" rtlCol="0" anchor="t">
            <a:normAutofit/>
          </a:bodyPr>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De un proyecto secreto de 1977 a líder del mercado</a:t>
            </a:r>
            <a:endParaRPr lang="en-US" sz="3400" dirty="0"/>
          </a:p>
        </p:txBody>
      </p:sp>
      <p:sp>
        <p:nvSpPr>
          <p:cNvPr id="4" name="Text 2"/>
          <p:cNvSpPr/>
          <p:nvPr/>
        </p:nvSpPr>
        <p:spPr>
          <a:xfrm>
            <a:off x="558786" y="1911616"/>
            <a:ext cx="3098722"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1977</a:t>
            </a:r>
            <a:endParaRPr lang="en-US" sz="1800" dirty="0"/>
          </a:p>
        </p:txBody>
      </p:sp>
      <p:sp>
        <p:nvSpPr>
          <p:cNvPr id="5" name="Text 3"/>
          <p:cNvSpPr/>
          <p:nvPr/>
        </p:nvSpPr>
        <p:spPr>
          <a:xfrm>
            <a:off x="558786" y="2393680"/>
            <a:ext cx="3098722" cy="893564"/>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Larry Ellison, Bob Miner y Ed Oates fundan Software Development Laboratories.</a:t>
            </a:r>
            <a:endParaRPr lang="en-US" sz="1700" dirty="0"/>
          </a:p>
        </p:txBody>
      </p:sp>
      <p:sp>
        <p:nvSpPr>
          <p:cNvPr id="6" name="Text 4"/>
          <p:cNvSpPr/>
          <p:nvPr/>
        </p:nvSpPr>
        <p:spPr>
          <a:xfrm>
            <a:off x="3809905" y="1911616"/>
            <a:ext cx="3098722"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1979</a:t>
            </a:r>
            <a:endParaRPr lang="en-US" sz="1800" dirty="0"/>
          </a:p>
        </p:txBody>
      </p:sp>
      <p:sp>
        <p:nvSpPr>
          <p:cNvPr id="7" name="Text 5"/>
          <p:cNvSpPr/>
          <p:nvPr/>
        </p:nvSpPr>
        <p:spPr>
          <a:xfrm>
            <a:off x="3809905" y="2393680"/>
            <a:ext cx="3098722"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Oracle V2: primer RDBMS comercial con SQL.</a:t>
            </a:r>
            <a:endParaRPr lang="en-US" sz="1700" dirty="0"/>
          </a:p>
        </p:txBody>
      </p:sp>
      <p:sp>
        <p:nvSpPr>
          <p:cNvPr id="8" name="Text 6"/>
          <p:cNvSpPr/>
          <p:nvPr/>
        </p:nvSpPr>
        <p:spPr>
          <a:xfrm>
            <a:off x="558786" y="3443355"/>
            <a:ext cx="3098722"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Oracle 7 &amp; 8i</a:t>
            </a:r>
            <a:endParaRPr lang="en-US" sz="1800" dirty="0"/>
          </a:p>
        </p:txBody>
      </p:sp>
      <p:sp>
        <p:nvSpPr>
          <p:cNvPr id="9" name="Text 7"/>
          <p:cNvSpPr/>
          <p:nvPr/>
        </p:nvSpPr>
        <p:spPr>
          <a:xfrm>
            <a:off x="558786" y="3925419"/>
            <a:ext cx="3098722" cy="297855"/>
          </a:xfrm>
          <a:prstGeom prst="rect">
            <a:avLst/>
          </a:prstGeom>
          <a:noFill/>
          <a:ln/>
        </p:spPr>
        <p:txBody>
          <a:bodyPr wrap="none" lIns="0" tIns="0" rIns="0" bIns="0" rtlCol="0" anchor="t"/>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8i (i = internet).</a:t>
            </a:r>
            <a:endParaRPr lang="en-US" sz="1700" dirty="0"/>
          </a:p>
        </p:txBody>
      </p:sp>
      <p:sp>
        <p:nvSpPr>
          <p:cNvPr id="10" name="Text 8"/>
          <p:cNvSpPr/>
          <p:nvPr/>
        </p:nvSpPr>
        <p:spPr>
          <a:xfrm>
            <a:off x="3809905" y="3443355"/>
            <a:ext cx="3098722"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10g &amp; 12c</a:t>
            </a:r>
            <a:endParaRPr lang="en-US" sz="1800" dirty="0"/>
          </a:p>
        </p:txBody>
      </p:sp>
      <p:sp>
        <p:nvSpPr>
          <p:cNvPr id="11" name="Text 9"/>
          <p:cNvSpPr/>
          <p:nvPr/>
        </p:nvSpPr>
        <p:spPr>
          <a:xfrm>
            <a:off x="3809905" y="3925419"/>
            <a:ext cx="3098722"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10g (g = grid); 12c (c = cloud, con multitenant).</a:t>
            </a:r>
            <a:endParaRPr lang="en-US" sz="1700" dirty="0"/>
          </a:p>
        </p:txBody>
      </p:sp>
      <p:sp>
        <p:nvSpPr>
          <p:cNvPr id="12" name="Text 10"/>
          <p:cNvSpPr/>
          <p:nvPr/>
        </p:nvSpPr>
        <p:spPr>
          <a:xfrm>
            <a:off x="558786" y="4677239"/>
            <a:ext cx="6349841"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19c &amp; 23ai</a:t>
            </a:r>
            <a:endParaRPr lang="en-US" sz="1800" dirty="0"/>
          </a:p>
        </p:txBody>
      </p:sp>
      <p:sp>
        <p:nvSpPr>
          <p:cNvPr id="13" name="Text 11"/>
          <p:cNvSpPr/>
          <p:nvPr/>
        </p:nvSpPr>
        <p:spPr>
          <a:xfrm>
            <a:off x="558786" y="5159304"/>
            <a:ext cx="6349841" cy="297855"/>
          </a:xfrm>
          <a:prstGeom prst="rect">
            <a:avLst/>
          </a:prstGeom>
          <a:noFill/>
          <a:ln/>
        </p:spPr>
        <p:txBody>
          <a:bodyPr wrap="none" lIns="0" tIns="0" rIns="0" bIns="0" rtlCol="0" anchor="t"/>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23ai (ai = inteligencia artificial).</a:t>
            </a:r>
            <a:endParaRPr lang="en-US" sz="1700" dirty="0"/>
          </a:p>
        </p:txBody>
      </p:sp>
      <p:pic>
        <p:nvPicPr>
          <p:cNvPr id="14" name="Image 0" descr="preencoded.png">    </p:cNvPr>
          <p:cNvPicPr>
            <a:picLocks noChangeAspect="1"/>
          </p:cNvPicPr>
          <p:nvPr/>
        </p:nvPicPr>
        <p:blipFill>
          <a:blip r:embed="rId1"/>
          <a:stretch>
            <a:fillRect/>
          </a:stretch>
        </p:blipFill>
        <p:spPr>
          <a:xfrm>
            <a:off x="7315017" y="0"/>
            <a:ext cx="487667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CONCEPTO FUNDAMENTAL</a:t>
            </a:r>
            <a:endParaRPr lang="en-US" sz="1100" dirty="0"/>
          </a:p>
        </p:txBody>
      </p:sp>
      <p:sp>
        <p:nvSpPr>
          <p:cNvPr id="3" name="Text 1"/>
          <p:cNvSpPr/>
          <p:nvPr/>
        </p:nvSpPr>
        <p:spPr>
          <a:xfrm>
            <a:off x="558786" y="7397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La arquitectura separa instancia y base de datos</a:t>
            </a:r>
            <a:endParaRPr lang="en-US" sz="3400" dirty="0"/>
          </a:p>
        </p:txBody>
      </p:sp>
      <p:sp>
        <p:nvSpPr>
          <p:cNvPr id="4" name="Shape 2"/>
          <p:cNvSpPr/>
          <p:nvPr/>
        </p:nvSpPr>
        <p:spPr>
          <a:xfrm>
            <a:off x="558786" y="1418233"/>
            <a:ext cx="4883425" cy="4187230"/>
          </a:xfrm>
          <a:prstGeom prst="rect">
            <a:avLst/>
          </a:prstGeom>
          <a:solidFill>
            <a:srgbClr val="083C35"/>
          </a:solidFill>
          <a:ln/>
        </p:spPr>
      </p:sp>
      <p:sp>
        <p:nvSpPr>
          <p:cNvPr id="5" name="Shape 3"/>
          <p:cNvSpPr/>
          <p:nvPr/>
        </p:nvSpPr>
        <p:spPr>
          <a:xfrm>
            <a:off x="812780" y="1646833"/>
            <a:ext cx="1685089" cy="387548"/>
          </a:xfrm>
          <a:prstGeom prst="roundRect">
            <a:avLst>
              <a:gd name="adj" fmla="val 49999"/>
            </a:avLst>
          </a:prstGeom>
          <a:solidFill>
            <a:srgbClr val="0A7C78"/>
          </a:solidFill>
          <a:ln/>
        </p:spPr>
      </p:sp>
      <p:sp>
        <p:nvSpPr>
          <p:cNvPr id="6" name="Text 4"/>
          <p:cNvSpPr/>
          <p:nvPr/>
        </p:nvSpPr>
        <p:spPr>
          <a:xfrm>
            <a:off x="939776" y="1754719"/>
            <a:ext cx="1558092" cy="184348"/>
          </a:xfrm>
          <a:prstGeom prst="rect">
            <a:avLst/>
          </a:prstGeom>
          <a:noFill/>
          <a:ln/>
        </p:spPr>
        <p:txBody>
          <a:bodyPr wrap="none" lIns="0" tIns="0" rIns="0" bIns="0" rtlCol="0" anchor="t"/>
          <a:lstStyle/>
          <a:p>
            <a:pPr algn="l" indent="0" marL="0">
              <a:lnSpc>
                <a:spcPct val="110000"/>
              </a:lnSpc>
              <a:buNone/>
            </a:pPr>
            <a:r>
              <a:rPr lang="en-US" sz="1100" b="1" dirty="0">
                <a:solidFill>
                  <a:srgbClr val="FFFFFF"/>
                </a:solidFill>
                <a:latin typeface="IBM Plex Sans Bold" pitchFamily="34" charset="0"/>
                <a:ea typeface="IBM Plex Sans Bold" pitchFamily="34" charset="-122"/>
                <a:cs typeface="IBM Plex Sans Bold" pitchFamily="34" charset="-120"/>
              </a:rPr>
              <a:t>VOLÁTIL · CPU &amp; RAM</a:t>
            </a:r>
            <a:endParaRPr lang="en-US" sz="1100" dirty="0"/>
          </a:p>
        </p:txBody>
      </p:sp>
      <p:sp>
        <p:nvSpPr>
          <p:cNvPr id="7" name="Text 5"/>
          <p:cNvSpPr/>
          <p:nvPr/>
        </p:nvSpPr>
        <p:spPr>
          <a:xfrm>
            <a:off x="812780" y="2175097"/>
            <a:ext cx="4375437" cy="402332"/>
          </a:xfrm>
          <a:prstGeom prst="rect">
            <a:avLst/>
          </a:prstGeom>
          <a:noFill/>
          <a:ln/>
        </p:spPr>
        <p:txBody>
          <a:bodyPr wrap="none" lIns="0" tIns="0" rIns="0" bIns="0" rtlCol="0" anchor="t"/>
          <a:lstStyle/>
          <a:p>
            <a:pPr algn="l" indent="0" marL="0">
              <a:lnSpc>
                <a:spcPct val="110000"/>
              </a:lnSpc>
              <a:buNone/>
            </a:pPr>
            <a:r>
              <a:rPr lang="en-US" sz="2400" dirty="0">
                <a:solidFill>
                  <a:srgbClr val="FFFFFF"/>
                </a:solidFill>
                <a:latin typeface="IBM Plex Sans" pitchFamily="34" charset="0"/>
                <a:ea typeface="IBM Plex Sans" pitchFamily="34" charset="-122"/>
                <a:cs typeface="IBM Plex Sans" pitchFamily="34" charset="-120"/>
              </a:rPr>
              <a:t>Instancia (Instance)</a:t>
            </a:r>
            <a:endParaRPr lang="en-US" sz="2400" dirty="0"/>
          </a:p>
        </p:txBody>
      </p:sp>
      <p:sp>
        <p:nvSpPr>
          <p:cNvPr id="8" name="Text 6"/>
          <p:cNvSpPr/>
          <p:nvPr/>
        </p:nvSpPr>
        <p:spPr>
          <a:xfrm>
            <a:off x="812780" y="2753197"/>
            <a:ext cx="4375437" cy="490537"/>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Estructuras de memoria en RAM y procesos del sistema operativo:</a:t>
            </a:r>
            <a:endParaRPr lang="en-US" sz="1400" dirty="0"/>
          </a:p>
        </p:txBody>
      </p:sp>
      <p:sp>
        <p:nvSpPr>
          <p:cNvPr id="9" name="Text 7"/>
          <p:cNvSpPr/>
          <p:nvPr/>
        </p:nvSpPr>
        <p:spPr>
          <a:xfrm>
            <a:off x="812780" y="3387626"/>
            <a:ext cx="4375437" cy="1914128"/>
          </a:xfrm>
          <a:prstGeom prst="rect">
            <a:avLst/>
          </a:prstGeom>
          <a:noFill/>
          <a:ln/>
        </p:spPr>
        <p:txBody>
          <a:bodyPr wrap="square" lIns="0" tIns="0" rIns="0" bIns="0" rtlCol="0" anchor="t">
            <a:normAutofit/>
          </a:bodyPr>
          <a:lstStyle/>
          <a:p>
            <a:pPr algn="l" marL="345440" indent="-345440">
              <a:lnSpc>
                <a:spcPct val="115000"/>
              </a:lnSpc>
              <a:buSzPct val="100000"/>
              <a:buChar char="•"/>
            </a:pPr>
            <a:r>
              <a:rPr lang="en-US" sz="1700" b="1" dirty="0">
                <a:solidFill>
                  <a:srgbClr val="FFFFFF"/>
                </a:solidFill>
                <a:latin typeface="IBM Plex Sans Bold" pitchFamily="34" charset="0"/>
                <a:ea typeface="IBM Plex Sans Bold" pitchFamily="34" charset="-122"/>
                <a:cs typeface="IBM Plex Sans Bold" pitchFamily="34" charset="-120"/>
              </a:rPr>
              <a:t>SGA:</a:t>
            </a:r>
            <a:pPr algn="l" marL="345440" indent="-345440">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 Área global del sistema compartida entre sesiones.</a:t>
            </a:r>
            <a:endParaRPr lang="en-US" sz="1700" dirty="0"/>
          </a:p>
          <a:p>
            <a:pPr algn="l" marL="345440" indent="-345440">
              <a:lnSpc>
                <a:spcPct val="115000"/>
              </a:lnSpc>
              <a:buSzPct val="100000"/>
              <a:buChar char="•"/>
            </a:pPr>
            <a:r>
              <a:rPr lang="en-US" sz="1700" b="1" dirty="0">
                <a:solidFill>
                  <a:srgbClr val="FFFFFF"/>
                </a:solidFill>
                <a:latin typeface="IBM Plex Sans Bold" pitchFamily="34" charset="0"/>
                <a:ea typeface="IBM Plex Sans Bold" pitchFamily="34" charset="-122"/>
                <a:cs typeface="IBM Plex Sans Bold" pitchFamily="34" charset="-120"/>
              </a:rPr>
              <a:t>Procesos background:</a:t>
            </a:r>
            <a:pPr algn="l" marL="345440" indent="-345440">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 Procesos de fondo que gestionan E/S.</a:t>
            </a:r>
            <a:endParaRPr lang="en-US" sz="1700" dirty="0"/>
          </a:p>
          <a:p>
            <a:pPr algn="l" marL="345440" indent="-345440">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Si el servidor se apaga o reinicia, la instancia desaparece por completo.</a:t>
            </a:r>
            <a:endParaRPr lang="en-US" sz="1700" dirty="0"/>
          </a:p>
        </p:txBody>
      </p:sp>
      <p:sp>
        <p:nvSpPr>
          <p:cNvPr id="10" name="Shape 8"/>
          <p:cNvSpPr/>
          <p:nvPr/>
        </p:nvSpPr>
        <p:spPr>
          <a:xfrm>
            <a:off x="5746904" y="3178373"/>
            <a:ext cx="697689" cy="38100"/>
          </a:xfrm>
          <a:prstGeom prst="roundRect">
            <a:avLst>
              <a:gd name="adj" fmla="val 49999"/>
            </a:avLst>
          </a:prstGeom>
          <a:solidFill>
            <a:srgbClr val="0A7C78"/>
          </a:solidFill>
          <a:ln/>
        </p:spPr>
      </p:sp>
      <p:sp>
        <p:nvSpPr>
          <p:cNvPr id="11" name="Text 9"/>
          <p:cNvSpPr/>
          <p:nvPr/>
        </p:nvSpPr>
        <p:spPr>
          <a:xfrm>
            <a:off x="5746904" y="3425960"/>
            <a:ext cx="697788" cy="184348"/>
          </a:xfrm>
          <a:prstGeom prst="rect">
            <a:avLst/>
          </a:prstGeom>
          <a:noFill/>
          <a:ln/>
        </p:spPr>
        <p:txBody>
          <a:bodyPr wrap="none" lIns="0" tIns="0" rIns="0" bIns="0" rtlCol="0" anchor="t"/>
          <a:lstStyle/>
          <a:p>
            <a:pPr algn="ctr" indent="0" marL="0">
              <a:lnSpc>
                <a:spcPct val="110000"/>
              </a:lnSpc>
              <a:buNone/>
            </a:pPr>
            <a:r>
              <a:rPr lang="en-US" sz="1100" b="1" dirty="0">
                <a:solidFill>
                  <a:srgbClr val="5F6D68"/>
                </a:solidFill>
                <a:latin typeface="IBM Plex Sans Bold" pitchFamily="34" charset="0"/>
                <a:ea typeface="IBM Plex Sans Bold" pitchFamily="34" charset="-122"/>
                <a:cs typeface="IBM Plex Sans Bold" pitchFamily="34" charset="-120"/>
              </a:rPr>
              <a:t>E/S</a:t>
            </a:r>
            <a:endParaRPr lang="en-US" sz="1100" dirty="0"/>
          </a:p>
        </p:txBody>
      </p:sp>
      <p:sp>
        <p:nvSpPr>
          <p:cNvPr id="12" name="Shape 10"/>
          <p:cNvSpPr/>
          <p:nvPr/>
        </p:nvSpPr>
        <p:spPr>
          <a:xfrm>
            <a:off x="5746904" y="3807222"/>
            <a:ext cx="697689" cy="38100"/>
          </a:xfrm>
          <a:prstGeom prst="roundRect">
            <a:avLst>
              <a:gd name="adj" fmla="val 49999"/>
            </a:avLst>
          </a:prstGeom>
          <a:solidFill>
            <a:srgbClr val="0A7C78"/>
          </a:solidFill>
          <a:ln/>
        </p:spPr>
      </p:sp>
      <p:sp>
        <p:nvSpPr>
          <p:cNvPr id="13" name="Shape 11"/>
          <p:cNvSpPr/>
          <p:nvPr/>
        </p:nvSpPr>
        <p:spPr>
          <a:xfrm>
            <a:off x="6749385" y="1418233"/>
            <a:ext cx="4883524" cy="4187230"/>
          </a:xfrm>
          <a:prstGeom prst="roundRect">
            <a:avLst>
              <a:gd name="adj" fmla="val 5095"/>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4" name="Shape 12"/>
          <p:cNvSpPr/>
          <p:nvPr/>
        </p:nvSpPr>
        <p:spPr>
          <a:xfrm>
            <a:off x="7016078" y="1659533"/>
            <a:ext cx="1739757" cy="387548"/>
          </a:xfrm>
          <a:prstGeom prst="roundRect">
            <a:avLst>
              <a:gd name="adj" fmla="val 49999"/>
            </a:avLst>
          </a:prstGeom>
          <a:solidFill>
            <a:srgbClr val="F26A3D"/>
          </a:solidFill>
          <a:ln/>
        </p:spPr>
      </p:sp>
      <p:sp>
        <p:nvSpPr>
          <p:cNvPr id="15" name="Text 13"/>
          <p:cNvSpPr/>
          <p:nvPr/>
        </p:nvSpPr>
        <p:spPr>
          <a:xfrm>
            <a:off x="7143075" y="1767419"/>
            <a:ext cx="1612760" cy="184348"/>
          </a:xfrm>
          <a:prstGeom prst="rect">
            <a:avLst/>
          </a:prstGeom>
          <a:noFill/>
          <a:ln/>
        </p:spPr>
        <p:txBody>
          <a:bodyPr wrap="none" lIns="0" tIns="0" rIns="0" bIns="0" rtlCol="0" anchor="t"/>
          <a:lstStyle/>
          <a:p>
            <a:pPr algn="l" indent="0" marL="0">
              <a:lnSpc>
                <a:spcPct val="110000"/>
              </a:lnSpc>
              <a:buNone/>
            </a:pPr>
            <a:r>
              <a:rPr lang="en-US" sz="1100" b="1" dirty="0">
                <a:solidFill>
                  <a:srgbClr val="10201D"/>
                </a:solidFill>
                <a:latin typeface="IBM Plex Sans Bold" pitchFamily="34" charset="0"/>
                <a:ea typeface="IBM Plex Sans Bold" pitchFamily="34" charset="-122"/>
                <a:cs typeface="IBM Plex Sans Bold" pitchFamily="34" charset="-120"/>
              </a:rPr>
              <a:t>PERSISTENTE · DISCO</a:t>
            </a:r>
            <a:endParaRPr lang="en-US" sz="1100" dirty="0"/>
          </a:p>
        </p:txBody>
      </p:sp>
      <p:sp>
        <p:nvSpPr>
          <p:cNvPr id="16" name="Text 14"/>
          <p:cNvSpPr/>
          <p:nvPr/>
        </p:nvSpPr>
        <p:spPr>
          <a:xfrm>
            <a:off x="7016078" y="2187797"/>
            <a:ext cx="4350137" cy="402332"/>
          </a:xfrm>
          <a:prstGeom prst="rect">
            <a:avLst/>
          </a:prstGeom>
          <a:noFill/>
          <a:ln/>
        </p:spPr>
        <p:txBody>
          <a:bodyPr wrap="none" lIns="0" tIns="0" rIns="0" bIns="0" rtlCol="0" anchor="t"/>
          <a:lstStyle/>
          <a:p>
            <a:pPr algn="l" indent="0" marL="0">
              <a:lnSpc>
                <a:spcPct val="110000"/>
              </a:lnSpc>
              <a:buNone/>
            </a:pPr>
            <a:r>
              <a:rPr lang="en-US" sz="2400" dirty="0">
                <a:solidFill>
                  <a:srgbClr val="10201D"/>
                </a:solidFill>
                <a:latin typeface="IBM Plex Sans" pitchFamily="34" charset="0"/>
                <a:ea typeface="IBM Plex Sans" pitchFamily="34" charset="-122"/>
                <a:cs typeface="IBM Plex Sans" pitchFamily="34" charset="-120"/>
              </a:rPr>
              <a:t>Base de Datos (Database)</a:t>
            </a:r>
            <a:endParaRPr lang="en-US" sz="2400" dirty="0"/>
          </a:p>
        </p:txBody>
      </p:sp>
      <p:sp>
        <p:nvSpPr>
          <p:cNvPr id="17" name="Text 15"/>
          <p:cNvSpPr/>
          <p:nvPr/>
        </p:nvSpPr>
        <p:spPr>
          <a:xfrm>
            <a:off x="7016078" y="2765897"/>
            <a:ext cx="4616831" cy="245269"/>
          </a:xfrm>
          <a:prstGeom prst="rect">
            <a:avLst/>
          </a:prstGeom>
          <a:noFill/>
          <a:ln/>
        </p:spPr>
        <p:txBody>
          <a:bodyPr wrap="none" lIns="0" tIns="0" rIns="0" bIns="0" rtlCol="0" anchor="t"/>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Archivos físicos almacenados en unidades de disco:</a:t>
            </a:r>
            <a:endParaRPr lang="en-US" sz="1400" dirty="0"/>
          </a:p>
        </p:txBody>
      </p:sp>
      <p:sp>
        <p:nvSpPr>
          <p:cNvPr id="18" name="Text 16"/>
          <p:cNvSpPr/>
          <p:nvPr/>
        </p:nvSpPr>
        <p:spPr>
          <a:xfrm>
            <a:off x="7016078" y="3155057"/>
            <a:ext cx="4350137" cy="1914128"/>
          </a:xfrm>
          <a:prstGeom prst="rect">
            <a:avLst/>
          </a:prstGeom>
          <a:noFill/>
          <a:ln/>
        </p:spPr>
        <p:txBody>
          <a:bodyPr wrap="square" lIns="0" tIns="0" rIns="0" bIns="0" rtlCol="0" anchor="t">
            <a:normAutofit/>
          </a:bodyPr>
          <a:lstStyle/>
          <a:p>
            <a:pPr algn="l" marL="345440" indent="-345440">
              <a:lnSpc>
                <a:spcPct val="115000"/>
              </a:lnSpc>
              <a:buSzPct val="100000"/>
              <a:buChar char="•"/>
            </a:pPr>
            <a:r>
              <a:rPr lang="en-US" sz="1700" b="1" dirty="0">
                <a:solidFill>
                  <a:srgbClr val="10201D"/>
                </a:solidFill>
                <a:latin typeface="IBM Plex Sans Bold" pitchFamily="34" charset="0"/>
                <a:ea typeface="IBM Plex Sans Bold" pitchFamily="34" charset="-122"/>
                <a:cs typeface="IBM Plex Sans Bold" pitchFamily="34" charset="-120"/>
              </a:rPr>
              <a:t>Datafiles:</a:t>
            </a:r>
            <a:pPr algn="l" marL="345440" indent="-345440">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 Tablas, índices, datos de usuario y diccionario.</a:t>
            </a:r>
            <a:endParaRPr lang="en-US" sz="1700" dirty="0"/>
          </a:p>
          <a:p>
            <a:pPr algn="l" marL="345440" indent="-345440">
              <a:lnSpc>
                <a:spcPct val="115000"/>
              </a:lnSpc>
              <a:buSzPct val="100000"/>
              <a:buChar char="•"/>
            </a:pPr>
            <a:r>
              <a:rPr lang="en-US" sz="1700" b="1" dirty="0">
                <a:solidFill>
                  <a:srgbClr val="10201D"/>
                </a:solidFill>
                <a:latin typeface="IBM Plex Sans Bold" pitchFamily="34" charset="0"/>
                <a:ea typeface="IBM Plex Sans Bold" pitchFamily="34" charset="-122"/>
                <a:cs typeface="IBM Plex Sans Bold" pitchFamily="34" charset="-120"/>
              </a:rPr>
              <a:t>Redo Log Files:</a:t>
            </a:r>
            <a:pPr algn="l" marL="345440" indent="-345440">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 Registro cronológico de cada cambio realizado.</a:t>
            </a:r>
            <a:endParaRPr lang="en-US" sz="1700" dirty="0"/>
          </a:p>
          <a:p>
            <a:pPr algn="l" marL="345440" indent="-345440">
              <a:lnSpc>
                <a:spcPct val="115000"/>
              </a:lnSpc>
              <a:buSzPct val="100000"/>
              <a:buChar char="•"/>
            </a:pPr>
            <a:r>
              <a:rPr lang="en-US" sz="1700" b="1" dirty="0">
                <a:solidFill>
                  <a:srgbClr val="10201D"/>
                </a:solidFill>
                <a:latin typeface="IBM Plex Sans Bold" pitchFamily="34" charset="0"/>
                <a:ea typeface="IBM Plex Sans Bold" pitchFamily="34" charset="-122"/>
                <a:cs typeface="IBM Plex Sans Bold" pitchFamily="34" charset="-120"/>
              </a:rPr>
              <a:t>Control Files:</a:t>
            </a:r>
            <a:pPr algn="l" marL="345440" indent="-345440">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 Metadatos críticos del estado físico del sistema.</a:t>
            </a:r>
            <a:endParaRPr lang="en-US" sz="1700" dirty="0"/>
          </a:p>
        </p:txBody>
      </p:sp>
      <p:sp>
        <p:nvSpPr>
          <p:cNvPr id="19" name="Shape 17"/>
          <p:cNvSpPr/>
          <p:nvPr/>
        </p:nvSpPr>
        <p:spPr>
          <a:xfrm>
            <a:off x="558786" y="5732463"/>
            <a:ext cx="11074123" cy="744538"/>
          </a:xfrm>
          <a:prstGeom prst="roundRect">
            <a:avLst>
              <a:gd name="adj" fmla="val 28656"/>
            </a:avLst>
          </a:prstGeom>
          <a:solidFill>
            <a:srgbClr val="F2F4ED"/>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20" name="Text 18"/>
          <p:cNvSpPr/>
          <p:nvPr/>
        </p:nvSpPr>
        <p:spPr>
          <a:xfrm>
            <a:off x="749281" y="5852097"/>
            <a:ext cx="10693132"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Flujo de sesión:</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Aplicación cliente → Proceso Servidor asignado → Lectura/Escritura en SGA → Escritura diferida en Datafiles por procesos de fondo.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8786" y="1360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ESTRUCTURAS INTERNAS</a:t>
            </a:r>
            <a:endParaRPr lang="en-US" sz="1100" dirty="0"/>
          </a:p>
        </p:txBody>
      </p:sp>
      <p:sp>
        <p:nvSpPr>
          <p:cNvPr id="3" name="Text 1"/>
          <p:cNvSpPr/>
          <p:nvPr/>
        </p:nvSpPr>
        <p:spPr>
          <a:xfrm>
            <a:off x="558786" y="434947"/>
            <a:ext cx="11074123" cy="915392"/>
          </a:xfrm>
          <a:prstGeom prst="rect">
            <a:avLst/>
          </a:prstGeom>
          <a:noFill/>
          <a:ln/>
        </p:spPr>
        <p:txBody>
          <a:bodyPr wrap="square" lIns="0" tIns="0" rIns="0" bIns="0" rtlCol="0" anchor="t">
            <a:normAutofit/>
          </a:bodyPr>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La memoria y los procesos de fondo sostienen el rendimiento</a:t>
            </a:r>
            <a:endParaRPr lang="en-US" sz="3400" dirty="0"/>
          </a:p>
        </p:txBody>
      </p:sp>
      <p:sp>
        <p:nvSpPr>
          <p:cNvPr id="4" name="Text 2"/>
          <p:cNvSpPr/>
          <p:nvPr/>
        </p:nvSpPr>
        <p:spPr>
          <a:xfrm>
            <a:off x="558786" y="1577606"/>
            <a:ext cx="11632909" cy="297855"/>
          </a:xfrm>
          <a:prstGeom prst="rect">
            <a:avLst/>
          </a:prstGeom>
          <a:noFill/>
          <a:ln/>
        </p:spPr>
        <p:txBody>
          <a:bodyPr wrap="none" lIns="0" tIns="0" rIns="0" bIns="0" rtlCol="0" anchor="t"/>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La coordinación entre áreas de RAM y demonios especializados evita cuellos de botella directos en disco.</a:t>
            </a:r>
            <a:endParaRPr lang="en-US" sz="1700" dirty="0"/>
          </a:p>
        </p:txBody>
      </p:sp>
      <p:sp>
        <p:nvSpPr>
          <p:cNvPr id="5" name="Shape 3"/>
          <p:cNvSpPr/>
          <p:nvPr/>
        </p:nvSpPr>
        <p:spPr>
          <a:xfrm>
            <a:off x="558786" y="2097584"/>
            <a:ext cx="5025701" cy="4633416"/>
          </a:xfrm>
          <a:prstGeom prst="roundRect">
            <a:avLst>
              <a:gd name="adj" fmla="val 4605"/>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800080" y="2322564"/>
            <a:ext cx="4784407"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MEMORIA PRINCIPAL</a:t>
            </a:r>
            <a:endParaRPr lang="en-US" sz="1100" dirty="0"/>
          </a:p>
        </p:txBody>
      </p:sp>
      <p:sp>
        <p:nvSpPr>
          <p:cNvPr id="7" name="Text 5"/>
          <p:cNvSpPr/>
          <p:nvPr/>
        </p:nvSpPr>
        <p:spPr>
          <a:xfrm>
            <a:off x="800080" y="2598507"/>
            <a:ext cx="4543113"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SGA vs PGA</a:t>
            </a:r>
            <a:endParaRPr lang="en-US" sz="1800" dirty="0"/>
          </a:p>
        </p:txBody>
      </p:sp>
      <p:sp>
        <p:nvSpPr>
          <p:cNvPr id="8" name="Text 6"/>
          <p:cNvSpPr/>
          <p:nvPr/>
        </p:nvSpPr>
        <p:spPr>
          <a:xfrm>
            <a:off x="800080" y="3079429"/>
            <a:ext cx="4543113"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SGA (System Global Area):</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Área común accesible por todos los procesos de la base de datos:</a:t>
            </a:r>
            <a:endParaRPr lang="en-US" sz="1400" dirty="0"/>
          </a:p>
        </p:txBody>
      </p:sp>
      <p:sp>
        <p:nvSpPr>
          <p:cNvPr id="9" name="Text 7"/>
          <p:cNvSpPr/>
          <p:nvPr/>
        </p:nvSpPr>
        <p:spPr>
          <a:xfrm>
            <a:off x="800080" y="3713857"/>
            <a:ext cx="4543113" cy="1914128"/>
          </a:xfrm>
          <a:prstGeom prst="rect">
            <a:avLst/>
          </a:prstGeom>
          <a:noFill/>
          <a:ln/>
        </p:spPr>
        <p:txBody>
          <a:bodyPr wrap="square" lIns="0" tIns="0" rIns="0" bIns="0" rtlCol="0" anchor="t">
            <a:normAutofit/>
          </a:bodyPr>
          <a:lstStyle/>
          <a:p>
            <a:pPr algn="l" marL="345440" indent="-345440">
              <a:lnSpc>
                <a:spcPct val="115000"/>
              </a:lnSpc>
              <a:buSzPct val="100000"/>
              <a:buChar char="•"/>
            </a:pPr>
            <a:r>
              <a:rPr lang="en-US" sz="1700" b="1" dirty="0">
                <a:solidFill>
                  <a:srgbClr val="10201D"/>
                </a:solidFill>
                <a:latin typeface="IBM Plex Sans Bold" pitchFamily="34" charset="0"/>
                <a:ea typeface="IBM Plex Sans Bold" pitchFamily="34" charset="-122"/>
                <a:cs typeface="IBM Plex Sans Bold" pitchFamily="34" charset="-120"/>
              </a:rPr>
              <a:t>Buffer Cache:</a:t>
            </a:r>
            <a:pPr algn="l" marL="345440" indent="-345440">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 Guarda copias de bloques leídos de disco.</a:t>
            </a:r>
            <a:endParaRPr lang="en-US" sz="1700" dirty="0"/>
          </a:p>
          <a:p>
            <a:pPr algn="l" marL="345440" indent="-345440">
              <a:lnSpc>
                <a:spcPct val="115000"/>
              </a:lnSpc>
              <a:buSzPct val="100000"/>
              <a:buChar char="•"/>
            </a:pPr>
            <a:r>
              <a:rPr lang="en-US" sz="1700" b="1" dirty="0">
                <a:solidFill>
                  <a:srgbClr val="10201D"/>
                </a:solidFill>
                <a:latin typeface="IBM Plex Sans Bold" pitchFamily="34" charset="0"/>
                <a:ea typeface="IBM Plex Sans Bold" pitchFamily="34" charset="-122"/>
                <a:cs typeface="IBM Plex Sans Bold" pitchFamily="34" charset="-120"/>
              </a:rPr>
              <a:t>Shared Pool:</a:t>
            </a:r>
            <a:pPr algn="l" marL="345440" indent="-345440">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 Cachea sentencias SQL parseadas y planes.</a:t>
            </a:r>
            <a:endParaRPr lang="en-US" sz="1700" dirty="0"/>
          </a:p>
          <a:p>
            <a:pPr algn="l" marL="345440" indent="-345440">
              <a:lnSpc>
                <a:spcPct val="115000"/>
              </a:lnSpc>
              <a:buSzPct val="100000"/>
              <a:buChar char="•"/>
            </a:pPr>
            <a:r>
              <a:rPr lang="en-US" sz="1700" b="1" dirty="0">
                <a:solidFill>
                  <a:srgbClr val="10201D"/>
                </a:solidFill>
                <a:latin typeface="IBM Plex Sans Bold" pitchFamily="34" charset="0"/>
                <a:ea typeface="IBM Plex Sans Bold" pitchFamily="34" charset="-122"/>
                <a:cs typeface="IBM Plex Sans Bold" pitchFamily="34" charset="-120"/>
              </a:rPr>
              <a:t>Redo Log Buffer:</a:t>
            </a:r>
            <a:pPr algn="l" marL="345440" indent="-345440">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 Almacena vectores de cambio transaccionales.</a:t>
            </a:r>
            <a:endParaRPr lang="en-US" sz="1700" dirty="0"/>
          </a:p>
        </p:txBody>
      </p:sp>
      <p:sp>
        <p:nvSpPr>
          <p:cNvPr id="10" name="Text 8"/>
          <p:cNvSpPr/>
          <p:nvPr/>
        </p:nvSpPr>
        <p:spPr>
          <a:xfrm>
            <a:off x="800080" y="5782544"/>
            <a:ext cx="4543113" cy="735806"/>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PGA (Program Global Area):</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Memoria no compartida, privada de cada proceso servidor para ordenamientos (sort) y hash joins.</a:t>
            </a:r>
            <a:endParaRPr lang="en-US" sz="1400" dirty="0"/>
          </a:p>
        </p:txBody>
      </p:sp>
      <p:sp>
        <p:nvSpPr>
          <p:cNvPr id="11" name="Shape 9"/>
          <p:cNvSpPr/>
          <p:nvPr/>
        </p:nvSpPr>
        <p:spPr>
          <a:xfrm>
            <a:off x="5889180" y="2097584"/>
            <a:ext cx="5743729" cy="4633416"/>
          </a:xfrm>
          <a:prstGeom prst="roundRect">
            <a:avLst>
              <a:gd name="adj" fmla="val 4605"/>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2" name="Text 10"/>
          <p:cNvSpPr/>
          <p:nvPr/>
        </p:nvSpPr>
        <p:spPr>
          <a:xfrm>
            <a:off x="6130474" y="2322564"/>
            <a:ext cx="5502435"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PROCESOS DE FONDO (BACKGROUND)</a:t>
            </a:r>
            <a:endParaRPr lang="en-US" sz="1100" dirty="0"/>
          </a:p>
        </p:txBody>
      </p:sp>
      <p:sp>
        <p:nvSpPr>
          <p:cNvPr id="13" name="Text 11"/>
          <p:cNvSpPr/>
          <p:nvPr/>
        </p:nvSpPr>
        <p:spPr>
          <a:xfrm>
            <a:off x="6130474" y="2598507"/>
            <a:ext cx="5261141"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Motores de ejecución continua</a:t>
            </a:r>
            <a:endParaRPr lang="en-US" sz="1800" dirty="0"/>
          </a:p>
        </p:txBody>
      </p:sp>
      <p:sp>
        <p:nvSpPr>
          <p:cNvPr id="14" name="Shape 12"/>
          <p:cNvSpPr/>
          <p:nvPr/>
        </p:nvSpPr>
        <p:spPr>
          <a:xfrm>
            <a:off x="6130474" y="3074095"/>
            <a:ext cx="5261141" cy="642938"/>
          </a:xfrm>
          <a:prstGeom prst="roundRect">
            <a:avLst>
              <a:gd name="adj" fmla="val 49999"/>
            </a:avLst>
          </a:prstGeom>
          <a:solidFill>
            <a:srgbClr val="F2F4ED"/>
          </a:solidFill>
          <a:ln/>
        </p:spPr>
      </p:sp>
      <p:sp>
        <p:nvSpPr>
          <p:cNvPr id="15" name="Text 13"/>
          <p:cNvSpPr/>
          <p:nvPr/>
        </p:nvSpPr>
        <p:spPr>
          <a:xfrm>
            <a:off x="6232071" y="3155629"/>
            <a:ext cx="5057946"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DBWR (Database Writer):</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Escribe bloques sucios desde el buffer cache a los datafiles de forma asíncrona.</a:t>
            </a:r>
            <a:endParaRPr lang="en-US" sz="1400" dirty="0"/>
          </a:p>
        </p:txBody>
      </p:sp>
      <p:sp>
        <p:nvSpPr>
          <p:cNvPr id="16" name="Shape 14"/>
          <p:cNvSpPr/>
          <p:nvPr/>
        </p:nvSpPr>
        <p:spPr>
          <a:xfrm>
            <a:off x="6130474" y="3869432"/>
            <a:ext cx="5261141" cy="642938"/>
          </a:xfrm>
          <a:prstGeom prst="roundRect">
            <a:avLst>
              <a:gd name="adj" fmla="val 49999"/>
            </a:avLst>
          </a:prstGeom>
          <a:solidFill>
            <a:srgbClr val="F2F4ED"/>
          </a:solidFill>
          <a:ln/>
        </p:spPr>
      </p:sp>
      <p:sp>
        <p:nvSpPr>
          <p:cNvPr id="17" name="Text 15"/>
          <p:cNvSpPr/>
          <p:nvPr/>
        </p:nvSpPr>
        <p:spPr>
          <a:xfrm>
            <a:off x="6232071" y="3950966"/>
            <a:ext cx="5057946"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LGWR (Log Writer):</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Vacía el redo log buffer a disco secuencialmente al confirmar transacciones (COMMIT).</a:t>
            </a:r>
            <a:endParaRPr lang="en-US" sz="1400" dirty="0"/>
          </a:p>
        </p:txBody>
      </p:sp>
      <p:sp>
        <p:nvSpPr>
          <p:cNvPr id="18" name="Shape 16"/>
          <p:cNvSpPr/>
          <p:nvPr/>
        </p:nvSpPr>
        <p:spPr>
          <a:xfrm>
            <a:off x="6130474" y="4664770"/>
            <a:ext cx="5261141" cy="642938"/>
          </a:xfrm>
          <a:prstGeom prst="roundRect">
            <a:avLst>
              <a:gd name="adj" fmla="val 49999"/>
            </a:avLst>
          </a:prstGeom>
          <a:solidFill>
            <a:srgbClr val="F2F4ED"/>
          </a:solidFill>
          <a:ln/>
        </p:spPr>
      </p:sp>
      <p:sp>
        <p:nvSpPr>
          <p:cNvPr id="19" name="Text 17"/>
          <p:cNvSpPr/>
          <p:nvPr/>
        </p:nvSpPr>
        <p:spPr>
          <a:xfrm>
            <a:off x="6232071" y="4746304"/>
            <a:ext cx="5057946"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CKPT (Checkpoint):</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Sincroniza cabeceras de datafiles y control files tras registrar un punto de control.</a:t>
            </a:r>
            <a:endParaRPr lang="en-US" sz="1400" dirty="0"/>
          </a:p>
        </p:txBody>
      </p:sp>
      <p:sp>
        <p:nvSpPr>
          <p:cNvPr id="20" name="Shape 18"/>
          <p:cNvSpPr/>
          <p:nvPr/>
        </p:nvSpPr>
        <p:spPr>
          <a:xfrm>
            <a:off x="6130474" y="5460107"/>
            <a:ext cx="5261141" cy="642938"/>
          </a:xfrm>
          <a:prstGeom prst="roundRect">
            <a:avLst>
              <a:gd name="adj" fmla="val 49999"/>
            </a:avLst>
          </a:prstGeom>
          <a:solidFill>
            <a:srgbClr val="F2F4ED"/>
          </a:solidFill>
          <a:ln/>
        </p:spPr>
      </p:sp>
      <p:sp>
        <p:nvSpPr>
          <p:cNvPr id="21" name="Text 19"/>
          <p:cNvSpPr/>
          <p:nvPr/>
        </p:nvSpPr>
        <p:spPr>
          <a:xfrm>
            <a:off x="6232071" y="5541641"/>
            <a:ext cx="5057946"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000000"/>
                </a:solidFill>
                <a:latin typeface="IBM Plex Sans Bold" pitchFamily="34" charset="0"/>
                <a:ea typeface="IBM Plex Sans Bold" pitchFamily="34" charset="-122"/>
                <a:cs typeface="IBM Plex Sans Bold" pitchFamily="34" charset="-120"/>
              </a:rPr>
              <a:t>SMON &amp; PMON:</a:t>
            </a:r>
            <a:pPr algn="l" indent="0" marL="0">
              <a:lnSpc>
                <a:spcPct val="115000"/>
              </a:lnSpc>
              <a:buNone/>
            </a:pPr>
            <a:r>
              <a:rPr lang="en-US" sz="1400" dirty="0">
                <a:solidFill>
                  <a:srgbClr val="000000"/>
                </a:solidFill>
                <a:latin typeface="IBM Plex Sans" pitchFamily="34" charset="0"/>
                <a:ea typeface="IBM Plex Sans" pitchFamily="34" charset="-122"/>
                <a:cs typeface="IBM Plex Sans" pitchFamily="34" charset="-120"/>
              </a:rPr>
              <a:t> Recuperación de instancia al reiniciar (SMON) y limpieza de recursos de procesos caídos (PMON).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58786" y="2884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MODELO DE DATOS FÍSICO Y LÓGICO</a:t>
            </a:r>
            <a:endParaRPr lang="en-US" sz="1100" dirty="0"/>
          </a:p>
        </p:txBody>
      </p:sp>
      <p:sp>
        <p:nvSpPr>
          <p:cNvPr id="3" name="Text 1"/>
          <p:cNvSpPr/>
          <p:nvPr/>
        </p:nvSpPr>
        <p:spPr>
          <a:xfrm>
            <a:off x="558786" y="5873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El almacenamiento es lógico y físico a la vez</a:t>
            </a:r>
            <a:endParaRPr lang="en-US" sz="3400" dirty="0"/>
          </a:p>
        </p:txBody>
      </p:sp>
      <p:sp>
        <p:nvSpPr>
          <p:cNvPr id="4" name="Text 2"/>
          <p:cNvSpPr/>
          <p:nvPr/>
        </p:nvSpPr>
        <p:spPr>
          <a:xfrm>
            <a:off x="558786" y="12723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Oracle aísla al desarrollador del hardware al mapear estructuras lógicas flexibles sobre archivos del sistema operativo.</a:t>
            </a:r>
            <a:endParaRPr lang="en-US" sz="1700" dirty="0"/>
          </a:p>
        </p:txBody>
      </p:sp>
      <p:sp>
        <p:nvSpPr>
          <p:cNvPr id="5" name="Shape 3"/>
          <p:cNvSpPr/>
          <p:nvPr/>
        </p:nvSpPr>
        <p:spPr>
          <a:xfrm>
            <a:off x="558786" y="2090142"/>
            <a:ext cx="5384665" cy="4539258"/>
          </a:xfrm>
          <a:prstGeom prst="roundRect">
            <a:avLst>
              <a:gd name="adj" fmla="val 47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800080" y="2340523"/>
            <a:ext cx="514337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JERARQUÍA LÓGICA</a:t>
            </a:r>
            <a:endParaRPr lang="en-US" sz="1100" dirty="0"/>
          </a:p>
        </p:txBody>
      </p:sp>
      <p:sp>
        <p:nvSpPr>
          <p:cNvPr id="7" name="Shape 5"/>
          <p:cNvSpPr/>
          <p:nvPr/>
        </p:nvSpPr>
        <p:spPr>
          <a:xfrm>
            <a:off x="825479" y="2768104"/>
            <a:ext cx="315012" cy="315020"/>
          </a:xfrm>
          <a:prstGeom prst="ellipse">
            <a:avLst/>
          </a:prstGeom>
          <a:solidFill>
            <a:srgbClr val="0A7C78"/>
          </a:solidFill>
          <a:ln w="6350">
            <a:solidFill>
              <a:srgbClr val="CBCFC0"/>
            </a:solidFill>
            <a:prstDash val="solid"/>
          </a:ln>
        </p:spPr>
      </p:sp>
      <p:sp>
        <p:nvSpPr>
          <p:cNvPr id="8" name="Text 6"/>
          <p:cNvSpPr/>
          <p:nvPr/>
        </p:nvSpPr>
        <p:spPr>
          <a:xfrm>
            <a:off x="876278" y="2836664"/>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BM Plex Sans SemiBold" pitchFamily="34" charset="0"/>
                <a:ea typeface="IBM Plex Sans SemiBold" pitchFamily="34" charset="-122"/>
                <a:cs typeface="IBM Plex Sans SemiBold" pitchFamily="34" charset="-120"/>
              </a:rPr>
              <a:t>01</a:t>
            </a:r>
            <a:endParaRPr lang="en-US" sz="1400" dirty="0"/>
          </a:p>
        </p:txBody>
      </p:sp>
      <p:sp>
        <p:nvSpPr>
          <p:cNvPr id="9" name="Text 7"/>
          <p:cNvSpPr/>
          <p:nvPr/>
        </p:nvSpPr>
        <p:spPr>
          <a:xfrm>
            <a:off x="1242088" y="2810248"/>
            <a:ext cx="4434670"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Bloque de datos (Data Block):</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Unidad mínima de E/S lógica (usualmente 8 KB).</a:t>
            </a:r>
            <a:endParaRPr lang="en-US" sz="1400" dirty="0"/>
          </a:p>
        </p:txBody>
      </p:sp>
      <p:sp>
        <p:nvSpPr>
          <p:cNvPr id="10" name="Shape 8"/>
          <p:cNvSpPr/>
          <p:nvPr/>
        </p:nvSpPr>
        <p:spPr>
          <a:xfrm>
            <a:off x="825479" y="3524052"/>
            <a:ext cx="315012" cy="315020"/>
          </a:xfrm>
          <a:prstGeom prst="ellipse">
            <a:avLst/>
          </a:prstGeom>
          <a:solidFill>
            <a:srgbClr val="0A7C78"/>
          </a:solidFill>
          <a:ln w="6350">
            <a:solidFill>
              <a:srgbClr val="CBCFC0"/>
            </a:solidFill>
            <a:prstDash val="solid"/>
          </a:ln>
        </p:spPr>
      </p:sp>
      <p:sp>
        <p:nvSpPr>
          <p:cNvPr id="11" name="Text 9"/>
          <p:cNvSpPr/>
          <p:nvPr/>
        </p:nvSpPr>
        <p:spPr>
          <a:xfrm>
            <a:off x="876278" y="3592612"/>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BM Plex Sans SemiBold" pitchFamily="34" charset="0"/>
                <a:ea typeface="IBM Plex Sans SemiBold" pitchFamily="34" charset="-122"/>
                <a:cs typeface="IBM Plex Sans SemiBold" pitchFamily="34" charset="-120"/>
              </a:rPr>
              <a:t>02</a:t>
            </a:r>
            <a:endParaRPr lang="en-US" sz="1400" dirty="0"/>
          </a:p>
        </p:txBody>
      </p:sp>
      <p:sp>
        <p:nvSpPr>
          <p:cNvPr id="12" name="Text 10"/>
          <p:cNvSpPr/>
          <p:nvPr/>
        </p:nvSpPr>
        <p:spPr>
          <a:xfrm>
            <a:off x="1242088" y="3566196"/>
            <a:ext cx="4434670"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Extensión (Extent):</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Conjunto contiguo de bloques asignados a un objeto.</a:t>
            </a:r>
            <a:endParaRPr lang="en-US" sz="1400" dirty="0"/>
          </a:p>
        </p:txBody>
      </p:sp>
      <p:sp>
        <p:nvSpPr>
          <p:cNvPr id="13" name="Shape 11"/>
          <p:cNvSpPr/>
          <p:nvPr/>
        </p:nvSpPr>
        <p:spPr>
          <a:xfrm>
            <a:off x="825479" y="4279999"/>
            <a:ext cx="315012" cy="315020"/>
          </a:xfrm>
          <a:prstGeom prst="ellipse">
            <a:avLst/>
          </a:prstGeom>
          <a:solidFill>
            <a:srgbClr val="0A7C78"/>
          </a:solidFill>
          <a:ln w="6350">
            <a:solidFill>
              <a:srgbClr val="CBCFC0"/>
            </a:solidFill>
            <a:prstDash val="solid"/>
          </a:ln>
        </p:spPr>
      </p:sp>
      <p:sp>
        <p:nvSpPr>
          <p:cNvPr id="14" name="Text 12"/>
          <p:cNvSpPr/>
          <p:nvPr/>
        </p:nvSpPr>
        <p:spPr>
          <a:xfrm>
            <a:off x="876278" y="4348559"/>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BM Plex Sans SemiBold" pitchFamily="34" charset="0"/>
                <a:ea typeface="IBM Plex Sans SemiBold" pitchFamily="34" charset="-122"/>
                <a:cs typeface="IBM Plex Sans SemiBold" pitchFamily="34" charset="-120"/>
              </a:rPr>
              <a:t>03</a:t>
            </a:r>
            <a:endParaRPr lang="en-US" sz="1400" dirty="0"/>
          </a:p>
        </p:txBody>
      </p:sp>
      <p:sp>
        <p:nvSpPr>
          <p:cNvPr id="15" name="Text 13"/>
          <p:cNvSpPr/>
          <p:nvPr/>
        </p:nvSpPr>
        <p:spPr>
          <a:xfrm>
            <a:off x="1242088" y="4322143"/>
            <a:ext cx="4434670"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Segmento (Segment):</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Colección de extents de un objeto (tabla o índice).</a:t>
            </a:r>
            <a:endParaRPr lang="en-US" sz="1400" dirty="0"/>
          </a:p>
        </p:txBody>
      </p:sp>
      <p:sp>
        <p:nvSpPr>
          <p:cNvPr id="16" name="Shape 14"/>
          <p:cNvSpPr/>
          <p:nvPr/>
        </p:nvSpPr>
        <p:spPr>
          <a:xfrm>
            <a:off x="825479" y="5035947"/>
            <a:ext cx="315012" cy="315020"/>
          </a:xfrm>
          <a:prstGeom prst="ellipse">
            <a:avLst/>
          </a:prstGeom>
          <a:solidFill>
            <a:srgbClr val="0A7C78"/>
          </a:solidFill>
          <a:ln w="6350">
            <a:solidFill>
              <a:srgbClr val="CBCFC0"/>
            </a:solidFill>
            <a:prstDash val="solid"/>
          </a:ln>
        </p:spPr>
      </p:sp>
      <p:sp>
        <p:nvSpPr>
          <p:cNvPr id="17" name="Text 15"/>
          <p:cNvSpPr/>
          <p:nvPr/>
        </p:nvSpPr>
        <p:spPr>
          <a:xfrm>
            <a:off x="876278" y="5104507"/>
            <a:ext cx="822999"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IBM Plex Sans SemiBold" pitchFamily="34" charset="0"/>
                <a:ea typeface="IBM Plex Sans SemiBold" pitchFamily="34" charset="-122"/>
                <a:cs typeface="IBM Plex Sans SemiBold" pitchFamily="34" charset="-120"/>
              </a:rPr>
              <a:t>04</a:t>
            </a:r>
            <a:endParaRPr lang="en-US" sz="1400" dirty="0"/>
          </a:p>
        </p:txBody>
      </p:sp>
      <p:sp>
        <p:nvSpPr>
          <p:cNvPr id="18" name="Text 16"/>
          <p:cNvSpPr/>
          <p:nvPr/>
        </p:nvSpPr>
        <p:spPr>
          <a:xfrm>
            <a:off x="1242088" y="5078091"/>
            <a:ext cx="4434670"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Tablespace:</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Contenedor lógico que agrupa uno o más datafiles.</a:t>
            </a:r>
            <a:endParaRPr lang="en-US" sz="1400" dirty="0"/>
          </a:p>
        </p:txBody>
      </p:sp>
      <p:sp>
        <p:nvSpPr>
          <p:cNvPr id="19" name="Shape 17"/>
          <p:cNvSpPr/>
          <p:nvPr/>
        </p:nvSpPr>
        <p:spPr>
          <a:xfrm>
            <a:off x="6248244" y="2090142"/>
            <a:ext cx="5384665" cy="4539258"/>
          </a:xfrm>
          <a:prstGeom prst="rect">
            <a:avLst/>
          </a:prstGeom>
          <a:solidFill>
            <a:srgbClr val="083C35"/>
          </a:solidFill>
          <a:ln/>
        </p:spPr>
      </p:sp>
      <p:sp>
        <p:nvSpPr>
          <p:cNvPr id="20" name="Text 18"/>
          <p:cNvSpPr/>
          <p:nvPr/>
        </p:nvSpPr>
        <p:spPr>
          <a:xfrm>
            <a:off x="6476838" y="2327823"/>
            <a:ext cx="5156071"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TABLESPACES ESTÁNDAR</a:t>
            </a:r>
            <a:endParaRPr lang="en-US" sz="1100" dirty="0"/>
          </a:p>
        </p:txBody>
      </p:sp>
      <p:sp>
        <p:nvSpPr>
          <p:cNvPr id="21" name="Shape 19"/>
          <p:cNvSpPr/>
          <p:nvPr/>
        </p:nvSpPr>
        <p:spPr>
          <a:xfrm>
            <a:off x="6476838" y="2641104"/>
            <a:ext cx="4927477" cy="744538"/>
          </a:xfrm>
          <a:prstGeom prst="roundRect">
            <a:avLst>
              <a:gd name="adj" fmla="val 28656"/>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22" name="Text 20"/>
          <p:cNvSpPr/>
          <p:nvPr/>
        </p:nvSpPr>
        <p:spPr>
          <a:xfrm>
            <a:off x="6616534" y="2773438"/>
            <a:ext cx="4648084"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SYSTEM:</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Diccionario de datos central, tablas base y código de administración interna del RDBMS.</a:t>
            </a:r>
            <a:endParaRPr lang="en-US" sz="1400" dirty="0"/>
          </a:p>
        </p:txBody>
      </p:sp>
      <p:sp>
        <p:nvSpPr>
          <p:cNvPr id="23" name="Shape 21"/>
          <p:cNvSpPr/>
          <p:nvPr/>
        </p:nvSpPr>
        <p:spPr>
          <a:xfrm>
            <a:off x="6476838" y="3538041"/>
            <a:ext cx="4927477" cy="744538"/>
          </a:xfrm>
          <a:prstGeom prst="roundRect">
            <a:avLst>
              <a:gd name="adj" fmla="val 28656"/>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24" name="Text 22"/>
          <p:cNvSpPr/>
          <p:nvPr/>
        </p:nvSpPr>
        <p:spPr>
          <a:xfrm>
            <a:off x="6616534" y="3670375"/>
            <a:ext cx="4648084"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SYSAUX:</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Auxiliar de SYSTEM para herramientas de diagnóstico (AWR, Enterprise Manager).</a:t>
            </a:r>
            <a:endParaRPr lang="en-US" sz="1400" dirty="0"/>
          </a:p>
        </p:txBody>
      </p:sp>
      <p:sp>
        <p:nvSpPr>
          <p:cNvPr id="25" name="Shape 23"/>
          <p:cNvSpPr/>
          <p:nvPr/>
        </p:nvSpPr>
        <p:spPr>
          <a:xfrm>
            <a:off x="6476838" y="4434979"/>
            <a:ext cx="4927477" cy="744538"/>
          </a:xfrm>
          <a:prstGeom prst="roundRect">
            <a:avLst>
              <a:gd name="adj" fmla="val 28656"/>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26" name="Text 24"/>
          <p:cNvSpPr/>
          <p:nvPr/>
        </p:nvSpPr>
        <p:spPr>
          <a:xfrm>
            <a:off x="6616534" y="4567313"/>
            <a:ext cx="4648084"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UNDO:</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Almacena imágenes previas para rollback y lectura consistente en consultas.</a:t>
            </a:r>
            <a:endParaRPr lang="en-US" sz="1400" dirty="0"/>
          </a:p>
        </p:txBody>
      </p:sp>
      <p:sp>
        <p:nvSpPr>
          <p:cNvPr id="27" name="Shape 25"/>
          <p:cNvSpPr/>
          <p:nvPr/>
        </p:nvSpPr>
        <p:spPr>
          <a:xfrm>
            <a:off x="6476838" y="5331916"/>
            <a:ext cx="4927477" cy="744538"/>
          </a:xfrm>
          <a:prstGeom prst="roundRect">
            <a:avLst>
              <a:gd name="adj" fmla="val 28656"/>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28" name="Text 26"/>
          <p:cNvSpPr/>
          <p:nvPr/>
        </p:nvSpPr>
        <p:spPr>
          <a:xfrm>
            <a:off x="6616534" y="5464250"/>
            <a:ext cx="4648084" cy="490537"/>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TEMP:</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Espacio volátil de disco para ordenamientos cuando la PGA se satura.</a:t>
            </a:r>
            <a:endParaRPr lang="en-US" sz="1400" dirty="0"/>
          </a:p>
        </p:txBody>
      </p:sp>
      <p:sp>
        <p:nvSpPr>
          <p:cNvPr id="29" name="Shape 27"/>
          <p:cNvSpPr/>
          <p:nvPr/>
        </p:nvSpPr>
        <p:spPr>
          <a:xfrm>
            <a:off x="800080" y="3403402"/>
            <a:ext cx="4902077" cy="12700"/>
          </a:xfrm>
          <a:prstGeom prst="rect">
            <a:avLst/>
          </a:prstGeom>
          <a:solidFill>
            <a:srgbClr val="CBD4CE"/>
          </a:solidFill>
          <a:ln/>
        </p:spPr>
      </p:sp>
      <p:sp>
        <p:nvSpPr>
          <p:cNvPr id="30" name="Shape 28"/>
          <p:cNvSpPr/>
          <p:nvPr/>
        </p:nvSpPr>
        <p:spPr>
          <a:xfrm>
            <a:off x="800080" y="4159349"/>
            <a:ext cx="4902077" cy="12700"/>
          </a:xfrm>
          <a:prstGeom prst="rect">
            <a:avLst/>
          </a:prstGeom>
          <a:solidFill>
            <a:srgbClr val="CBD4CE"/>
          </a:solidFill>
          <a:ln/>
        </p:spPr>
      </p:sp>
      <p:sp>
        <p:nvSpPr>
          <p:cNvPr id="31" name="Shape 29"/>
          <p:cNvSpPr/>
          <p:nvPr/>
        </p:nvSpPr>
        <p:spPr>
          <a:xfrm>
            <a:off x="800080" y="4915297"/>
            <a:ext cx="4902077" cy="12700"/>
          </a:xfrm>
          <a:prstGeom prst="rect">
            <a:avLst/>
          </a:prstGeom>
          <a:solidFill>
            <a:srgbClr val="CBD4CE"/>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CONCURRENCIA E INTEGRIDAD</a:t>
            </a:r>
            <a:endParaRPr lang="en-US" sz="1100" dirty="0"/>
          </a:p>
        </p:txBody>
      </p:sp>
      <p:sp>
        <p:nvSpPr>
          <p:cNvPr id="3" name="Text 1"/>
          <p:cNvSpPr/>
          <p:nvPr/>
        </p:nvSpPr>
        <p:spPr>
          <a:xfrm>
            <a:off x="558786" y="7397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Transacciones: ACID con consistencia de lectura</a:t>
            </a:r>
            <a:endParaRPr lang="en-US" sz="3400" dirty="0"/>
          </a:p>
        </p:txBody>
      </p:sp>
      <p:sp>
        <p:nvSpPr>
          <p:cNvPr id="4" name="Text 2"/>
          <p:cNvSpPr/>
          <p:nvPr/>
        </p:nvSpPr>
        <p:spPr>
          <a:xfrm>
            <a:off x="558786" y="14247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Oracle garantiza propiedades ACID completas mediante un principio fundamental: </a:t>
            </a:r>
            <a:pPr algn="l" indent="0" marL="0">
              <a:lnSpc>
                <a:spcPct val="115000"/>
              </a:lnSpc>
              <a:buNone/>
            </a:pPr>
            <a:r>
              <a:rPr lang="en-US" sz="1700" i="1" dirty="0">
                <a:solidFill>
                  <a:srgbClr val="10201D"/>
                </a:solidFill>
                <a:latin typeface="IBM Plex Sans" pitchFamily="34" charset="0"/>
                <a:ea typeface="IBM Plex Sans" pitchFamily="34" charset="-122"/>
                <a:cs typeface="IBM Plex Sans" pitchFamily="34" charset="-120"/>
              </a:rPr>
              <a:t>los lectores no bloquean a los escritores y los escritores no bloquean a los lectores</a:t>
            </a:r>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a:t>
            </a:r>
            <a:endParaRPr lang="en-US" sz="1700" dirty="0"/>
          </a:p>
        </p:txBody>
      </p:sp>
      <p:sp>
        <p:nvSpPr>
          <p:cNvPr id="5" name="Shape 3"/>
          <p:cNvSpPr/>
          <p:nvPr/>
        </p:nvSpPr>
        <p:spPr>
          <a:xfrm>
            <a:off x="558786" y="2166342"/>
            <a:ext cx="2539936" cy="3066852"/>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723882" y="2387005"/>
            <a:ext cx="2209745" cy="355600"/>
          </a:xfrm>
          <a:prstGeom prst="rect">
            <a:avLst/>
          </a:prstGeom>
          <a:noFill/>
          <a:ln/>
        </p:spPr>
        <p:txBody>
          <a:bodyPr wrap="none" lIns="0" tIns="0" rIns="0" bIns="0" rtlCol="0" anchor="t"/>
          <a:lstStyle/>
          <a:p>
            <a:pPr algn="l" indent="0" marL="0">
              <a:lnSpc>
                <a:spcPct val="83000"/>
              </a:lnSpc>
              <a:buNone/>
            </a:pPr>
            <a:r>
              <a:rPr lang="en-US" sz="2800" b="1" spc="-70" kern="100" dirty="0">
                <a:solidFill>
                  <a:srgbClr val="10201D"/>
                </a:solidFill>
                <a:latin typeface="Sora Bold" pitchFamily="34" charset="0"/>
                <a:ea typeface="Sora Bold" pitchFamily="34" charset="-122"/>
                <a:cs typeface="Sora Bold" pitchFamily="34" charset="-120"/>
              </a:rPr>
              <a:t>A</a:t>
            </a:r>
            <a:endParaRPr lang="en-US" sz="2800" dirty="0"/>
          </a:p>
        </p:txBody>
      </p:sp>
      <p:sp>
        <p:nvSpPr>
          <p:cNvPr id="7" name="Text 5"/>
          <p:cNvSpPr/>
          <p:nvPr/>
        </p:nvSpPr>
        <p:spPr>
          <a:xfrm>
            <a:off x="723882" y="2871954"/>
            <a:ext cx="2209745"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Atomicidad</a:t>
            </a:r>
            <a:endParaRPr lang="en-US" sz="1800" dirty="0"/>
          </a:p>
        </p:txBody>
      </p:sp>
      <p:sp>
        <p:nvSpPr>
          <p:cNvPr id="8" name="Text 6"/>
          <p:cNvSpPr/>
          <p:nvPr/>
        </p:nvSpPr>
        <p:spPr>
          <a:xfrm>
            <a:off x="723882" y="3352875"/>
            <a:ext cx="2209745"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Todo se ejecuta o nada se aplica. Los bloques UNDO permiten ROLLBACK total si la transacción falla.</a:t>
            </a:r>
            <a:endParaRPr lang="en-US" sz="1400" dirty="0"/>
          </a:p>
        </p:txBody>
      </p:sp>
      <p:sp>
        <p:nvSpPr>
          <p:cNvPr id="9" name="Shape 7"/>
          <p:cNvSpPr/>
          <p:nvPr/>
        </p:nvSpPr>
        <p:spPr>
          <a:xfrm>
            <a:off x="3403515" y="2166342"/>
            <a:ext cx="2539936" cy="3066852"/>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0" name="Text 8"/>
          <p:cNvSpPr/>
          <p:nvPr/>
        </p:nvSpPr>
        <p:spPr>
          <a:xfrm>
            <a:off x="3568611" y="2387005"/>
            <a:ext cx="2209745" cy="355600"/>
          </a:xfrm>
          <a:prstGeom prst="rect">
            <a:avLst/>
          </a:prstGeom>
          <a:noFill/>
          <a:ln/>
        </p:spPr>
        <p:txBody>
          <a:bodyPr wrap="none" lIns="0" tIns="0" rIns="0" bIns="0" rtlCol="0" anchor="t"/>
          <a:lstStyle/>
          <a:p>
            <a:pPr algn="l" indent="0" marL="0">
              <a:lnSpc>
                <a:spcPct val="83000"/>
              </a:lnSpc>
              <a:buNone/>
            </a:pPr>
            <a:r>
              <a:rPr lang="en-US" sz="2800" b="1" spc="-70" kern="100" dirty="0">
                <a:solidFill>
                  <a:srgbClr val="10201D"/>
                </a:solidFill>
                <a:latin typeface="Sora Bold" pitchFamily="34" charset="0"/>
                <a:ea typeface="Sora Bold" pitchFamily="34" charset="-122"/>
                <a:cs typeface="Sora Bold" pitchFamily="34" charset="-120"/>
              </a:rPr>
              <a:t>C</a:t>
            </a:r>
            <a:endParaRPr lang="en-US" sz="2800" dirty="0"/>
          </a:p>
        </p:txBody>
      </p:sp>
      <p:sp>
        <p:nvSpPr>
          <p:cNvPr id="11" name="Text 9"/>
          <p:cNvSpPr/>
          <p:nvPr/>
        </p:nvSpPr>
        <p:spPr>
          <a:xfrm>
            <a:off x="3568611" y="2871954"/>
            <a:ext cx="2209745"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Consistencia</a:t>
            </a:r>
            <a:endParaRPr lang="en-US" sz="1800" dirty="0"/>
          </a:p>
        </p:txBody>
      </p:sp>
      <p:sp>
        <p:nvSpPr>
          <p:cNvPr id="12" name="Text 10"/>
          <p:cNvSpPr/>
          <p:nvPr/>
        </p:nvSpPr>
        <p:spPr>
          <a:xfrm>
            <a:off x="3568611" y="3352875"/>
            <a:ext cx="2209745"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Restricciones de integridad y claves foráneas siempre válidas; consultas consistentes a su instante de inicio.</a:t>
            </a:r>
            <a:endParaRPr lang="en-US" sz="1400" dirty="0"/>
          </a:p>
        </p:txBody>
      </p:sp>
      <p:sp>
        <p:nvSpPr>
          <p:cNvPr id="13" name="Shape 11"/>
          <p:cNvSpPr/>
          <p:nvPr/>
        </p:nvSpPr>
        <p:spPr>
          <a:xfrm>
            <a:off x="6248244" y="2166342"/>
            <a:ext cx="2539936" cy="3066852"/>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4" name="Text 12"/>
          <p:cNvSpPr/>
          <p:nvPr/>
        </p:nvSpPr>
        <p:spPr>
          <a:xfrm>
            <a:off x="6413340" y="2387005"/>
            <a:ext cx="2209745" cy="355600"/>
          </a:xfrm>
          <a:prstGeom prst="rect">
            <a:avLst/>
          </a:prstGeom>
          <a:noFill/>
          <a:ln/>
        </p:spPr>
        <p:txBody>
          <a:bodyPr wrap="none" lIns="0" tIns="0" rIns="0" bIns="0" rtlCol="0" anchor="t"/>
          <a:lstStyle/>
          <a:p>
            <a:pPr algn="l" indent="0" marL="0">
              <a:lnSpc>
                <a:spcPct val="83000"/>
              </a:lnSpc>
              <a:buNone/>
            </a:pPr>
            <a:r>
              <a:rPr lang="en-US" sz="2800" b="1" spc="-70" kern="100" dirty="0">
                <a:solidFill>
                  <a:srgbClr val="10201D"/>
                </a:solidFill>
                <a:latin typeface="Sora Bold" pitchFamily="34" charset="0"/>
                <a:ea typeface="Sora Bold" pitchFamily="34" charset="-122"/>
                <a:cs typeface="Sora Bold" pitchFamily="34" charset="-120"/>
              </a:rPr>
              <a:t>I</a:t>
            </a:r>
            <a:endParaRPr lang="en-US" sz="2800" dirty="0"/>
          </a:p>
        </p:txBody>
      </p:sp>
      <p:sp>
        <p:nvSpPr>
          <p:cNvPr id="15" name="Text 13"/>
          <p:cNvSpPr/>
          <p:nvPr/>
        </p:nvSpPr>
        <p:spPr>
          <a:xfrm>
            <a:off x="6413340" y="2871954"/>
            <a:ext cx="2209745"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Aislamiento</a:t>
            </a:r>
            <a:endParaRPr lang="en-US" sz="1800" dirty="0"/>
          </a:p>
        </p:txBody>
      </p:sp>
      <p:sp>
        <p:nvSpPr>
          <p:cNvPr id="16" name="Text 14"/>
          <p:cNvSpPr/>
          <p:nvPr/>
        </p:nvSpPr>
        <p:spPr>
          <a:xfrm>
            <a:off x="6413340" y="3352875"/>
            <a:ext cx="2209745"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Los cambios no confirmados no son visibles para otras sesiones, evitando lecturas sucias por diseño.</a:t>
            </a:r>
            <a:endParaRPr lang="en-US" sz="1400" dirty="0"/>
          </a:p>
        </p:txBody>
      </p:sp>
      <p:sp>
        <p:nvSpPr>
          <p:cNvPr id="17" name="Shape 15"/>
          <p:cNvSpPr/>
          <p:nvPr/>
        </p:nvSpPr>
        <p:spPr>
          <a:xfrm>
            <a:off x="9092973" y="2166342"/>
            <a:ext cx="2539936" cy="3066852"/>
          </a:xfrm>
          <a:prstGeom prst="roundRect">
            <a:avLst>
              <a:gd name="adj" fmla="val 8400"/>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8" name="Text 16"/>
          <p:cNvSpPr/>
          <p:nvPr/>
        </p:nvSpPr>
        <p:spPr>
          <a:xfrm>
            <a:off x="9258068" y="2387005"/>
            <a:ext cx="2209745" cy="355600"/>
          </a:xfrm>
          <a:prstGeom prst="rect">
            <a:avLst/>
          </a:prstGeom>
          <a:noFill/>
          <a:ln/>
        </p:spPr>
        <p:txBody>
          <a:bodyPr wrap="none" lIns="0" tIns="0" rIns="0" bIns="0" rtlCol="0" anchor="t"/>
          <a:lstStyle/>
          <a:p>
            <a:pPr algn="l" indent="0" marL="0">
              <a:lnSpc>
                <a:spcPct val="83000"/>
              </a:lnSpc>
              <a:buNone/>
            </a:pPr>
            <a:r>
              <a:rPr lang="en-US" sz="2800" b="1" spc="-70" kern="100" dirty="0">
                <a:solidFill>
                  <a:srgbClr val="10201D"/>
                </a:solidFill>
                <a:latin typeface="Sora Bold" pitchFamily="34" charset="0"/>
                <a:ea typeface="Sora Bold" pitchFamily="34" charset="-122"/>
                <a:cs typeface="Sora Bold" pitchFamily="34" charset="-120"/>
              </a:rPr>
              <a:t>D</a:t>
            </a:r>
            <a:endParaRPr lang="en-US" sz="2800" dirty="0"/>
          </a:p>
        </p:txBody>
      </p:sp>
      <p:sp>
        <p:nvSpPr>
          <p:cNvPr id="19" name="Text 17"/>
          <p:cNvSpPr/>
          <p:nvPr/>
        </p:nvSpPr>
        <p:spPr>
          <a:xfrm>
            <a:off x="9258068" y="2871954"/>
            <a:ext cx="2209745"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Durabilidad</a:t>
            </a:r>
            <a:endParaRPr lang="en-US" sz="1800" dirty="0"/>
          </a:p>
        </p:txBody>
      </p:sp>
      <p:sp>
        <p:nvSpPr>
          <p:cNvPr id="20" name="Text 18"/>
          <p:cNvSpPr/>
          <p:nvPr/>
        </p:nvSpPr>
        <p:spPr>
          <a:xfrm>
            <a:off x="9258068" y="3352875"/>
            <a:ext cx="2209745"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Tras el COMMIT, los vectores de cambio en REDO aseguran que los datos sobrevivan a cualquier apagón.</a:t>
            </a:r>
            <a:endParaRPr lang="en-US" sz="1400" dirty="0"/>
          </a:p>
        </p:txBody>
      </p:sp>
      <p:sp>
        <p:nvSpPr>
          <p:cNvPr id="21" name="Shape 19"/>
          <p:cNvSpPr/>
          <p:nvPr/>
        </p:nvSpPr>
        <p:spPr>
          <a:xfrm>
            <a:off x="558786" y="5410994"/>
            <a:ext cx="5384665" cy="1066006"/>
          </a:xfrm>
          <a:prstGeom prst="rect">
            <a:avLst/>
          </a:prstGeom>
          <a:solidFill>
            <a:srgbClr val="083C35"/>
          </a:solidFill>
          <a:ln/>
        </p:spPr>
      </p:sp>
      <p:sp>
        <p:nvSpPr>
          <p:cNvPr id="22" name="Text 20"/>
          <p:cNvSpPr/>
          <p:nvPr/>
        </p:nvSpPr>
        <p:spPr>
          <a:xfrm>
            <a:off x="761981" y="5568728"/>
            <a:ext cx="4978275" cy="735806"/>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FFFFFF"/>
                </a:solidFill>
                <a:latin typeface="IBM Plex Sans Bold" pitchFamily="34" charset="0"/>
                <a:ea typeface="IBM Plex Sans Bold" pitchFamily="34" charset="-122"/>
                <a:cs typeface="IBM Plex Sans Bold" pitchFamily="34" charset="-120"/>
              </a:rPr>
              <a:t>Mecanismo Undo:</a:t>
            </a:r>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 Reconstruye la versión del bloque exacta al momento de iniciar la consulta, garantizando lectura consistente sin colocar bloqueos de lectura compartidos.</a:t>
            </a:r>
            <a:endParaRPr lang="en-US" sz="1400" dirty="0"/>
          </a:p>
        </p:txBody>
      </p:sp>
      <p:sp>
        <p:nvSpPr>
          <p:cNvPr id="23" name="Shape 21"/>
          <p:cNvSpPr/>
          <p:nvPr/>
        </p:nvSpPr>
        <p:spPr>
          <a:xfrm>
            <a:off x="6248244" y="5410994"/>
            <a:ext cx="5384665" cy="1066006"/>
          </a:xfrm>
          <a:prstGeom prst="roundRect">
            <a:avLst>
              <a:gd name="adj" fmla="val 20014"/>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24" name="Text 22"/>
          <p:cNvSpPr/>
          <p:nvPr/>
        </p:nvSpPr>
        <p:spPr>
          <a:xfrm>
            <a:off x="6464138" y="5581428"/>
            <a:ext cx="4952876" cy="735806"/>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SCN (System Change Number):</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El reloj lógico monótono de Oracle. Cada COMMIT avanza este número, sellando el orden temporal exacto de cada transacción.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440880"/>
            <a:ext cx="11632909"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ESCALABILIDAD Y RESILIENCIA</a:t>
            </a:r>
            <a:endParaRPr lang="en-US" sz="1100" dirty="0"/>
          </a:p>
        </p:txBody>
      </p:sp>
      <p:sp>
        <p:nvSpPr>
          <p:cNvPr id="3" name="Text 1"/>
          <p:cNvSpPr/>
          <p:nvPr/>
        </p:nvSpPr>
        <p:spPr>
          <a:xfrm>
            <a:off x="558786" y="739747"/>
            <a:ext cx="11074123"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Multitenant y alta disponibilidad escalan el motor</a:t>
            </a:r>
            <a:endParaRPr lang="en-US" sz="3400" dirty="0"/>
          </a:p>
        </p:txBody>
      </p:sp>
      <p:sp>
        <p:nvSpPr>
          <p:cNvPr id="4" name="Text 2"/>
          <p:cNvSpPr/>
          <p:nvPr/>
        </p:nvSpPr>
        <p:spPr>
          <a:xfrm>
            <a:off x="558786" y="1424710"/>
            <a:ext cx="11074123" cy="595709"/>
          </a:xfrm>
          <a:prstGeom prst="rect">
            <a:avLst/>
          </a:prstGeom>
          <a:noFill/>
          <a:ln/>
        </p:spPr>
        <p:txBody>
          <a:bodyPr wrap="square" lIns="0" tIns="0" rIns="0" bIns="0" rtlCol="0" anchor="t">
            <a:normAutofit/>
          </a:bodyPr>
          <a:lstStyle/>
          <a:p>
            <a:pPr algn="l" indent="0" marL="0">
              <a:lnSpc>
                <a:spcPct val="115000"/>
              </a:lnSpc>
              <a:buNone/>
            </a:pPr>
            <a:r>
              <a:rPr lang="en-US" sz="1700" dirty="0">
                <a:solidFill>
                  <a:srgbClr val="10201D"/>
                </a:solidFill>
                <a:latin typeface="IBM Plex Sans" pitchFamily="34" charset="0"/>
                <a:ea typeface="IBM Plex Sans" pitchFamily="34" charset="-122"/>
                <a:cs typeface="IBM Plex Sans" pitchFamily="34" charset="-120"/>
              </a:rPr>
              <a:t>Estrategias avanzadas para consolidar bases de datos en la nube y asegurar tolerancia a fallos a nivel de centro de datos.</a:t>
            </a:r>
            <a:endParaRPr lang="en-US" sz="1700" dirty="0"/>
          </a:p>
        </p:txBody>
      </p:sp>
      <p:sp>
        <p:nvSpPr>
          <p:cNvPr id="5" name="Shape 3"/>
          <p:cNvSpPr/>
          <p:nvPr/>
        </p:nvSpPr>
        <p:spPr>
          <a:xfrm>
            <a:off x="558786" y="2191742"/>
            <a:ext cx="3488146" cy="3796109"/>
          </a:xfrm>
          <a:prstGeom prst="roundRect">
            <a:avLst>
              <a:gd name="adj" fmla="val 6117"/>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774681" y="2442123"/>
            <a:ext cx="327225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ARQUITECTURA MULTITENANT</a:t>
            </a:r>
            <a:endParaRPr lang="en-US" sz="1100" dirty="0"/>
          </a:p>
        </p:txBody>
      </p:sp>
      <p:sp>
        <p:nvSpPr>
          <p:cNvPr id="7" name="Text 5"/>
          <p:cNvSpPr/>
          <p:nvPr/>
        </p:nvSpPr>
        <p:spPr>
          <a:xfrm>
            <a:off x="774681" y="2718066"/>
            <a:ext cx="3056357"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CDB y PDB</a:t>
            </a:r>
            <a:endParaRPr lang="en-US" sz="1800" dirty="0"/>
          </a:p>
        </p:txBody>
      </p:sp>
      <p:sp>
        <p:nvSpPr>
          <p:cNvPr id="8" name="Text 6"/>
          <p:cNvSpPr/>
          <p:nvPr/>
        </p:nvSpPr>
        <p:spPr>
          <a:xfrm>
            <a:off x="774681" y="3198987"/>
            <a:ext cx="3056357" cy="1471613"/>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Una </a:t>
            </a:r>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CDB (Container Database)</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contiene los procesos de fondo y la memoria compartida, mientras múltiples </a:t>
            </a:r>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PDBs (Pluggable Databases)</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funcionan como bases independientes y portables.</a:t>
            </a:r>
            <a:endParaRPr lang="en-US" sz="1400" dirty="0"/>
          </a:p>
        </p:txBody>
      </p:sp>
      <p:sp>
        <p:nvSpPr>
          <p:cNvPr id="9" name="Shape 7"/>
          <p:cNvSpPr/>
          <p:nvPr/>
        </p:nvSpPr>
        <p:spPr>
          <a:xfrm>
            <a:off x="774681" y="5359003"/>
            <a:ext cx="3056357" cy="387548"/>
          </a:xfrm>
          <a:prstGeom prst="roundRect">
            <a:avLst>
              <a:gd name="adj" fmla="val 49999"/>
            </a:avLst>
          </a:prstGeom>
          <a:solidFill>
            <a:srgbClr val="F2F4ED"/>
          </a:solidFill>
          <a:ln/>
        </p:spPr>
      </p:sp>
      <p:sp>
        <p:nvSpPr>
          <p:cNvPr id="10" name="Text 8"/>
          <p:cNvSpPr/>
          <p:nvPr/>
        </p:nvSpPr>
        <p:spPr>
          <a:xfrm>
            <a:off x="876278" y="5466890"/>
            <a:ext cx="2954760" cy="184348"/>
          </a:xfrm>
          <a:prstGeom prst="rect">
            <a:avLst/>
          </a:prstGeom>
          <a:noFill/>
          <a:ln/>
        </p:spPr>
        <p:txBody>
          <a:bodyPr wrap="none" lIns="0" tIns="0" rIns="0" bIns="0" rtlCol="0" anchor="t"/>
          <a:lstStyle/>
          <a:p>
            <a:pPr algn="l" indent="0" marL="0">
              <a:lnSpc>
                <a:spcPct val="110000"/>
              </a:lnSpc>
              <a:buNone/>
            </a:pPr>
            <a:r>
              <a:rPr lang="en-US" sz="1100" dirty="0">
                <a:solidFill>
                  <a:srgbClr val="000000"/>
                </a:solidFill>
                <a:latin typeface="IBM Plex Sans" pitchFamily="34" charset="0"/>
                <a:ea typeface="IBM Plex Sans" pitchFamily="34" charset="-122"/>
                <a:cs typeface="IBM Plex Sans" pitchFamily="34" charset="-120"/>
              </a:rPr>
              <a:t>Consolidación eficiente de recursos</a:t>
            </a:r>
            <a:endParaRPr lang="en-US" sz="1100" dirty="0"/>
          </a:p>
        </p:txBody>
      </p:sp>
      <p:sp>
        <p:nvSpPr>
          <p:cNvPr id="11" name="Shape 9"/>
          <p:cNvSpPr/>
          <p:nvPr/>
        </p:nvSpPr>
        <p:spPr>
          <a:xfrm>
            <a:off x="4351725" y="2191742"/>
            <a:ext cx="3488146" cy="3796109"/>
          </a:xfrm>
          <a:prstGeom prst="roundRect">
            <a:avLst>
              <a:gd name="adj" fmla="val 6117"/>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2" name="Text 10"/>
          <p:cNvSpPr/>
          <p:nvPr/>
        </p:nvSpPr>
        <p:spPr>
          <a:xfrm>
            <a:off x="4567619" y="2442123"/>
            <a:ext cx="327225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DISASTER RECOVERY</a:t>
            </a:r>
            <a:endParaRPr lang="en-US" sz="1100" dirty="0"/>
          </a:p>
        </p:txBody>
      </p:sp>
      <p:sp>
        <p:nvSpPr>
          <p:cNvPr id="13" name="Text 11"/>
          <p:cNvSpPr/>
          <p:nvPr/>
        </p:nvSpPr>
        <p:spPr>
          <a:xfrm>
            <a:off x="4567619" y="2718066"/>
            <a:ext cx="3056357"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Oracle Data Guard</a:t>
            </a:r>
            <a:endParaRPr lang="en-US" sz="1800" dirty="0"/>
          </a:p>
        </p:txBody>
      </p:sp>
      <p:sp>
        <p:nvSpPr>
          <p:cNvPr id="14" name="Text 12"/>
          <p:cNvSpPr/>
          <p:nvPr/>
        </p:nvSpPr>
        <p:spPr>
          <a:xfrm>
            <a:off x="4567619" y="3198987"/>
            <a:ext cx="3056357" cy="1226344"/>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Mantiene una o varias bases de datos secundarias (standby) sincronizadas transmitiendo y aplicando continuamente los archivos de redo log desde la base primaria.</a:t>
            </a:r>
            <a:endParaRPr lang="en-US" sz="1400" dirty="0"/>
          </a:p>
        </p:txBody>
      </p:sp>
      <p:sp>
        <p:nvSpPr>
          <p:cNvPr id="15" name="Shape 13"/>
          <p:cNvSpPr/>
          <p:nvPr/>
        </p:nvSpPr>
        <p:spPr>
          <a:xfrm>
            <a:off x="4567619" y="5359003"/>
            <a:ext cx="3056357" cy="387548"/>
          </a:xfrm>
          <a:prstGeom prst="roundRect">
            <a:avLst>
              <a:gd name="adj" fmla="val 49999"/>
            </a:avLst>
          </a:prstGeom>
          <a:solidFill>
            <a:srgbClr val="F2F4ED"/>
          </a:solidFill>
          <a:ln/>
        </p:spPr>
      </p:sp>
      <p:sp>
        <p:nvSpPr>
          <p:cNvPr id="16" name="Text 14"/>
          <p:cNvSpPr/>
          <p:nvPr/>
        </p:nvSpPr>
        <p:spPr>
          <a:xfrm>
            <a:off x="4669217" y="5466890"/>
            <a:ext cx="2954760" cy="184348"/>
          </a:xfrm>
          <a:prstGeom prst="rect">
            <a:avLst/>
          </a:prstGeom>
          <a:noFill/>
          <a:ln/>
        </p:spPr>
        <p:txBody>
          <a:bodyPr wrap="none" lIns="0" tIns="0" rIns="0" bIns="0" rtlCol="0" anchor="t"/>
          <a:lstStyle/>
          <a:p>
            <a:pPr algn="l" indent="0" marL="0">
              <a:lnSpc>
                <a:spcPct val="110000"/>
              </a:lnSpc>
              <a:buNone/>
            </a:pPr>
            <a:r>
              <a:rPr lang="en-US" sz="1100" dirty="0">
                <a:solidFill>
                  <a:srgbClr val="000000"/>
                </a:solidFill>
                <a:latin typeface="IBM Plex Sans" pitchFamily="34" charset="0"/>
                <a:ea typeface="IBM Plex Sans" pitchFamily="34" charset="-122"/>
                <a:cs typeface="IBM Plex Sans" pitchFamily="34" charset="-120"/>
              </a:rPr>
              <a:t>RPO y RTO mínimos ante desastres</a:t>
            </a:r>
            <a:endParaRPr lang="en-US" sz="1100" dirty="0"/>
          </a:p>
        </p:txBody>
      </p:sp>
      <p:sp>
        <p:nvSpPr>
          <p:cNvPr id="17" name="Shape 15"/>
          <p:cNvSpPr/>
          <p:nvPr/>
        </p:nvSpPr>
        <p:spPr>
          <a:xfrm>
            <a:off x="8144663" y="2191742"/>
            <a:ext cx="3488246" cy="3796109"/>
          </a:xfrm>
          <a:prstGeom prst="roundRect">
            <a:avLst>
              <a:gd name="adj" fmla="val 6116"/>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8" name="Shape 16"/>
          <p:cNvSpPr/>
          <p:nvPr/>
        </p:nvSpPr>
        <p:spPr>
          <a:xfrm>
            <a:off x="8360558" y="2433042"/>
            <a:ext cx="1785496" cy="387548"/>
          </a:xfrm>
          <a:prstGeom prst="roundRect">
            <a:avLst>
              <a:gd name="adj" fmla="val 49999"/>
            </a:avLst>
          </a:prstGeom>
          <a:solidFill>
            <a:srgbClr val="0A7C78"/>
          </a:solidFill>
          <a:ln/>
        </p:spPr>
      </p:sp>
      <p:sp>
        <p:nvSpPr>
          <p:cNvPr id="19" name="Text 17"/>
          <p:cNvSpPr/>
          <p:nvPr/>
        </p:nvSpPr>
        <p:spPr>
          <a:xfrm>
            <a:off x="8487555" y="2540929"/>
            <a:ext cx="1658499" cy="184348"/>
          </a:xfrm>
          <a:prstGeom prst="rect">
            <a:avLst/>
          </a:prstGeom>
          <a:noFill/>
          <a:ln/>
        </p:spPr>
        <p:txBody>
          <a:bodyPr wrap="none" lIns="0" tIns="0" rIns="0" bIns="0" rtlCol="0" anchor="t"/>
          <a:lstStyle/>
          <a:p>
            <a:pPr algn="l" indent="0" marL="0">
              <a:lnSpc>
                <a:spcPct val="110000"/>
              </a:lnSpc>
              <a:buNone/>
            </a:pPr>
            <a:r>
              <a:rPr lang="en-US" sz="1100" b="1" dirty="0">
                <a:solidFill>
                  <a:srgbClr val="FFFFFF"/>
                </a:solidFill>
                <a:latin typeface="IBM Plex Sans Bold" pitchFamily="34" charset="0"/>
                <a:ea typeface="IBM Plex Sans Bold" pitchFamily="34" charset="-122"/>
                <a:cs typeface="IBM Plex Sans Bold" pitchFamily="34" charset="-120"/>
              </a:rPr>
              <a:t>ALTA DISPONIBILIDAD</a:t>
            </a:r>
            <a:endParaRPr lang="en-US" sz="1100" dirty="0"/>
          </a:p>
        </p:txBody>
      </p:sp>
      <p:sp>
        <p:nvSpPr>
          <p:cNvPr id="20" name="Text 18"/>
          <p:cNvSpPr/>
          <p:nvPr/>
        </p:nvSpPr>
        <p:spPr>
          <a:xfrm>
            <a:off x="8360558" y="2957878"/>
            <a:ext cx="3056456"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Oracle RAC</a:t>
            </a:r>
            <a:endParaRPr lang="en-US" sz="1800" dirty="0"/>
          </a:p>
        </p:txBody>
      </p:sp>
      <p:sp>
        <p:nvSpPr>
          <p:cNvPr id="21" name="Text 19"/>
          <p:cNvSpPr/>
          <p:nvPr/>
        </p:nvSpPr>
        <p:spPr>
          <a:xfrm>
            <a:off x="8360558" y="3438799"/>
            <a:ext cx="3056456" cy="1471613"/>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Real Application Clusters:</a:t>
            </a:r>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 Múltiples servidores e instancias independientes acceden simultáneamente al mismo conjunto de datos compartido en disco, ofreciendo escalabilidad activa-activa.</a:t>
            </a:r>
            <a:endParaRPr lang="en-US" sz="1400" dirty="0"/>
          </a:p>
        </p:txBody>
      </p:sp>
      <p:sp>
        <p:nvSpPr>
          <p:cNvPr id="22" name="Text 20"/>
          <p:cNvSpPr/>
          <p:nvPr/>
        </p:nvSpPr>
        <p:spPr>
          <a:xfrm>
            <a:off x="558786" y="6222738"/>
            <a:ext cx="11632909" cy="260548"/>
          </a:xfrm>
          <a:prstGeom prst="rect">
            <a:avLst/>
          </a:prstGeom>
          <a:noFill/>
          <a:ln/>
        </p:spPr>
        <p:txBody>
          <a:bodyPr wrap="none" lIns="0" tIns="63498" rIns="0" bIns="0" rtlCol="0" anchor="t"/>
          <a:lstStyle/>
          <a:p>
            <a:pPr algn="l" indent="0" marL="0">
              <a:lnSpc>
                <a:spcPct val="110000"/>
              </a:lnSpc>
              <a:buNone/>
            </a:pPr>
            <a:r>
              <a:rPr lang="en-US" sz="1100" dirty="0">
                <a:solidFill>
                  <a:srgbClr val="5F6D68"/>
                </a:solidFill>
                <a:latin typeface="IBM Plex Sans" pitchFamily="34" charset="0"/>
                <a:ea typeface="IBM Plex Sans" pitchFamily="34" charset="-122"/>
                <a:cs typeface="IBM Plex Sans" pitchFamily="34" charset="-120"/>
              </a:rPr>
              <a:t>CDB = Container Database · PDB = Pluggable Database · RAC = Real Application Clusters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82588" y="288480"/>
            <a:ext cx="11709107"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BUENAS PRÁCTICAS OPERATIVAS</a:t>
            </a:r>
            <a:endParaRPr lang="en-US" sz="1100" dirty="0"/>
          </a:p>
        </p:txBody>
      </p:sp>
      <p:sp>
        <p:nvSpPr>
          <p:cNvPr id="3" name="Text 1"/>
          <p:cNvSpPr/>
          <p:nvPr/>
        </p:nvSpPr>
        <p:spPr>
          <a:xfrm>
            <a:off x="482588" y="587347"/>
            <a:ext cx="11226519" cy="457696"/>
          </a:xfrm>
          <a:prstGeom prst="rect">
            <a:avLst/>
          </a:prstGeom>
          <a:noFill/>
          <a:ln/>
        </p:spPr>
        <p:txBody>
          <a:bodyPr wrap="none" lIns="0" tIns="0" rIns="0" bIns="0" rtlCol="0" anchor="t"/>
          <a:lstStyle/>
          <a:p>
            <a:pPr algn="l" indent="0" marL="0">
              <a:lnSpc>
                <a:spcPct val="88000"/>
              </a:lnSpc>
              <a:buNone/>
            </a:pPr>
            <a:r>
              <a:rPr lang="en-US" sz="3400" b="1" spc="-68" kern="100" dirty="0">
                <a:solidFill>
                  <a:srgbClr val="10201D"/>
                </a:solidFill>
                <a:latin typeface="Sora Bold" pitchFamily="34" charset="0"/>
                <a:ea typeface="Sora Bold" pitchFamily="34" charset="-122"/>
                <a:cs typeface="Sora Bold" pitchFamily="34" charset="-120"/>
              </a:rPr>
              <a:t>Tips de rendimiento: mide antes de tocar</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2588" y="1265833"/>
          <a:ext cx="11226519" cy="914400"/>
        </p:xfrm>
        <a:graphic>
          <a:graphicData uri="http://schemas.openxmlformats.org/drawingml/2006/table">
            <a:tbl>
              <a:tblPr/>
              <a:tblGrid>
                <a:gridCol w="2694317"/>
                <a:gridCol w="8532202"/>
              </a:tblGrid>
              <a:tr h="437544">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Área</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F2F4ED"/>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Práctica recomendada e impacto</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F2F4ED"/>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735391">
                <a:tc>
                  <a:txBody>
                    <a:bodyPr/>
                    <a:lstStyle/>
                    <a:p>
                      <a:pPr algn="l" indent="0" marL="0">
                        <a:buNone/>
                      </a:pPr>
                      <a:r>
                        <a:rPr lang="en-US" sz="1700" b="1" dirty="0">
                          <a:solidFill>
                            <a:srgbClr val="10201D"/>
                          </a:solidFill>
                          <a:latin typeface="IBM Plex Sans" pitchFamily="34" charset="0"/>
                          <a:ea typeface="IBM Plex Sans" pitchFamily="34" charset="-122"/>
                          <a:cs typeface="IBM Plex Sans" pitchFamily="34" charset="-120"/>
                        </a:rPr>
                        <a:t>Variables Bind</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Reemplaza valores literales por parámetros enlazados (:id): evita </a:t>
                      </a:r>
                      <a:pPr algn="l" indent="0" marL="0">
                        <a:buNone/>
                      </a:pPr>
                      <a:r>
                        <a:rPr lang="en-US" sz="1700" i="1" dirty="0">
                          <a:solidFill>
                            <a:srgbClr val="10201D"/>
                          </a:solidFill>
                          <a:latin typeface="IBM Plex Sans" pitchFamily="34" charset="0"/>
                          <a:ea typeface="IBM Plex Sans" pitchFamily="34" charset="-122"/>
                          <a:cs typeface="IBM Plex Sans" pitchFamily="34" charset="-120"/>
                        </a:rPr>
                        <a:t>hard parses</a:t>
                      </a:r>
                      <a:pPr algn="l" indent="0" marL="0">
                        <a:buNone/>
                      </a:pPr>
                      <a:r>
                        <a:rPr lang="en-US" sz="1700" dirty="0">
                          <a:solidFill>
                            <a:srgbClr val="10201D"/>
                          </a:solidFill>
                          <a:latin typeface="IBM Plex Sans" pitchFamily="34" charset="0"/>
                          <a:ea typeface="IBM Plex Sans" pitchFamily="34" charset="-122"/>
                          <a:cs typeface="IBM Plex Sans" pitchFamily="34" charset="-120"/>
                        </a:rPr>
                        <a:t> en la Shared Pool y permite reutilizar planes de ejecución compilados.</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735391">
                <a:tc>
                  <a:txBody>
                    <a:bodyPr/>
                    <a:lstStyle/>
                    <a:p>
                      <a:pPr algn="l" indent="0" marL="0">
                        <a:buNone/>
                      </a:pPr>
                      <a:r>
                        <a:rPr lang="en-US" sz="1700" b="1" dirty="0">
                          <a:solidFill>
                            <a:srgbClr val="10201D"/>
                          </a:solidFill>
                          <a:latin typeface="IBM Plex Sans" pitchFamily="34" charset="0"/>
                          <a:ea typeface="IBM Plex Sans" pitchFamily="34" charset="-122"/>
                          <a:cs typeface="IBM Plex Sans" pitchFamily="34" charset="-120"/>
                        </a:rPr>
                        <a:t>Planes de Ejecución</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Revisa rutas con EXPLAIN PLAN y DBMS_XPLAN.DISPLAY; identifica Full Table Scan y costos excesivos de ordenamiento.</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1033238">
                <a:tc>
                  <a:txBody>
                    <a:bodyPr/>
                    <a:lstStyle/>
                    <a:p>
                      <a:pPr algn="l" indent="0" marL="0">
                        <a:buNone/>
                      </a:pPr>
                      <a:r>
                        <a:rPr lang="en-US" sz="1700" b="1" dirty="0">
                          <a:solidFill>
                            <a:srgbClr val="10201D"/>
                          </a:solidFill>
                          <a:latin typeface="IBM Plex Sans" pitchFamily="34" charset="0"/>
                          <a:ea typeface="IBM Plex Sans" pitchFamily="34" charset="-122"/>
                          <a:cs typeface="IBM Plex Sans" pitchFamily="34" charset="-120"/>
                        </a:rPr>
                        <a:t>Estadísticas e Índices</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Mantén estadísticas actualizadas con DBMS_STATS e índices selectivos según filtros WHERE; el optimizador basado en costos (CBO, Cost-Based Optimizer) estima cardinalidades y elige la mejor ruta.</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CBD4CE"/>
                      </a:solidFill>
                      <a:prstDash val="solid"/>
                      <a:round/>
                      <a:headEnd type="none" w="med" len="med"/>
                      <a:tailEnd type="none" w="med" len="med"/>
                    </a:lnB>
                  </a:tcPr>
                </a:tc>
              </a:tr>
              <a:tr h="1020539">
                <a:tc>
                  <a:txBody>
                    <a:bodyPr/>
                    <a:lstStyle/>
                    <a:p>
                      <a:pPr algn="l" indent="0" marL="0">
                        <a:buNone/>
                      </a:pPr>
                      <a:r>
                        <a:rPr lang="en-US" sz="1700" b="1" dirty="0">
                          <a:solidFill>
                            <a:srgbClr val="10201D"/>
                          </a:solidFill>
                          <a:latin typeface="IBM Plex Sans" pitchFamily="34" charset="0"/>
                          <a:ea typeface="IBM Plex Sans" pitchFamily="34" charset="-122"/>
                          <a:cs typeface="IBM Plex Sans" pitchFamily="34" charset="-120"/>
                        </a:rPr>
                        <a:t>Diagnóstico Proactivo</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2F4ED"/>
                      </a:solidFill>
                      <a:prstDash val="solid"/>
                      <a:round/>
                      <a:headEnd type="none" w="med" len="med"/>
                      <a:tailEnd type="none" w="med" len="med"/>
                    </a:lnB>
                  </a:tcPr>
                </a:tc>
                <a:tc>
                  <a:txBody>
                    <a:bodyPr/>
                    <a:lstStyle/>
                    <a:p>
                      <a:pPr algn="l" indent="0" marL="0">
                        <a:buNone/>
                      </a:pPr>
                      <a:r>
                        <a:rPr lang="en-US" sz="1700" dirty="0">
                          <a:solidFill>
                            <a:srgbClr val="10201D"/>
                          </a:solidFill>
                          <a:latin typeface="IBM Plex Sans" pitchFamily="34" charset="0"/>
                          <a:ea typeface="IBM Plex Sans" pitchFamily="34" charset="-122"/>
                          <a:cs typeface="IBM Plex Sans" pitchFamily="34" charset="-120"/>
                        </a:rPr>
                        <a:t>Usa AWR (Automatic Workload Repository), Active Session History (ASH) y SQL Tuning Advisor para aislar con precisión milimétrica si el cuello de botella es CPU, bloqueos de sesión o lentitud de E/S.</a:t>
                      </a:r>
                      <a:endParaRPr lang="en-US" sz="1700" dirty="0">
                        <a:latin typeface="IBM Plex Sans" charset="0"/>
                        <a:ea typeface="IBM Plex Sans" charset="0"/>
                        <a:cs typeface="IBM Plex Sans" charset="0"/>
                      </a:endParaRPr>
                    </a:p>
                  </a:txBody>
                  <a:tcPr marL="50799" marR="50799" marT="63498" marB="63498" anchor="ctr">
                    <a:lnL w="12700" cap="flat" cmpd="sng" algn="ctr">
                      <a:solidFill>
                        <a:srgbClr val="F2F4ED"/>
                      </a:solidFill>
                      <a:prstDash val="solid"/>
                      <a:round/>
                      <a:headEnd type="none" w="med" len="med"/>
                      <a:tailEnd type="none" w="med" len="med"/>
                    </a:lnL>
                    <a:lnR w="12700" cap="flat" cmpd="sng" algn="ctr">
                      <a:solidFill>
                        <a:srgbClr val="F2F4ED"/>
                      </a:solidFill>
                      <a:prstDash val="solid"/>
                      <a:round/>
                      <a:headEnd type="none" w="med" len="med"/>
                      <a:tailEnd type="none" w="med" len="med"/>
                    </a:lnR>
                    <a:lnT w="12700" cap="flat" cmpd="sng" algn="ctr">
                      <a:solidFill>
                        <a:srgbClr val="CBD4CE"/>
                      </a:solidFill>
                      <a:prstDash val="solid"/>
                      <a:round/>
                      <a:headEnd type="none" w="med" len="med"/>
                      <a:tailEnd type="none" w="med" len="med"/>
                    </a:lnT>
                    <a:lnB w="12700" cap="flat" cmpd="sng" algn="ctr">
                      <a:solidFill>
                        <a:srgbClr val="F2F4ED"/>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86" y="466280"/>
            <a:ext cx="7975400"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0A7C78"/>
                </a:solidFill>
                <a:latin typeface="IBM Plex Sans SemiBold" pitchFamily="34" charset="0"/>
                <a:ea typeface="IBM Plex Sans SemiBold" pitchFamily="34" charset="-122"/>
                <a:cs typeface="IBM Plex Sans SemiBold" pitchFamily="34" charset="-120"/>
              </a:rPr>
              <a:t>SEGURIDAD Y CONTINUIDAD</a:t>
            </a:r>
            <a:endParaRPr lang="en-US" sz="1100" dirty="0"/>
          </a:p>
        </p:txBody>
      </p:sp>
      <p:sp>
        <p:nvSpPr>
          <p:cNvPr id="3" name="Text 1"/>
          <p:cNvSpPr/>
          <p:nvPr/>
        </p:nvSpPr>
        <p:spPr>
          <a:xfrm>
            <a:off x="558786" y="756765"/>
            <a:ext cx="7543611" cy="376932"/>
          </a:xfrm>
          <a:prstGeom prst="rect">
            <a:avLst/>
          </a:prstGeom>
          <a:noFill/>
          <a:ln/>
        </p:spPr>
        <p:txBody>
          <a:bodyPr wrap="none" lIns="0" tIns="0" rIns="0" bIns="0" rtlCol="0" anchor="t"/>
          <a:lstStyle/>
          <a:p>
            <a:pPr algn="l" indent="0" marL="0">
              <a:lnSpc>
                <a:spcPct val="88000"/>
              </a:lnSpc>
              <a:buNone/>
            </a:pPr>
            <a:r>
              <a:rPr lang="en-US" sz="2800" b="1" spc="-56" kern="100" dirty="0">
                <a:solidFill>
                  <a:srgbClr val="10201D"/>
                </a:solidFill>
                <a:latin typeface="Sora Bold" pitchFamily="34" charset="0"/>
                <a:ea typeface="Sora Bold" pitchFamily="34" charset="-122"/>
                <a:cs typeface="Sora Bold" pitchFamily="34" charset="-120"/>
              </a:rPr>
              <a:t>Tips de seguridad y backup</a:t>
            </a:r>
            <a:endParaRPr lang="en-US" sz="2800" dirty="0"/>
          </a:p>
        </p:txBody>
      </p:sp>
      <p:sp>
        <p:nvSpPr>
          <p:cNvPr id="4" name="Text 2"/>
          <p:cNvSpPr/>
          <p:nvPr/>
        </p:nvSpPr>
        <p:spPr>
          <a:xfrm>
            <a:off x="558786" y="1347756"/>
            <a:ext cx="7543611"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Protege y prueba la restauración</a:t>
            </a:r>
            <a:endParaRPr lang="en-US" sz="1800" dirty="0"/>
          </a:p>
        </p:txBody>
      </p:sp>
      <p:sp>
        <p:nvSpPr>
          <p:cNvPr id="5" name="Shape 3"/>
          <p:cNvSpPr/>
          <p:nvPr/>
        </p:nvSpPr>
        <p:spPr>
          <a:xfrm>
            <a:off x="558786" y="1823343"/>
            <a:ext cx="3695608" cy="2237879"/>
          </a:xfrm>
          <a:prstGeom prst="roundRect">
            <a:avLst>
              <a:gd name="adj" fmla="val 9534"/>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6" name="Text 4"/>
          <p:cNvSpPr/>
          <p:nvPr/>
        </p:nvSpPr>
        <p:spPr>
          <a:xfrm>
            <a:off x="749281" y="2022923"/>
            <a:ext cx="350511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CONTROL DE ACCESO</a:t>
            </a:r>
            <a:endParaRPr lang="en-US" sz="1100" dirty="0"/>
          </a:p>
        </p:txBody>
      </p:sp>
      <p:sp>
        <p:nvSpPr>
          <p:cNvPr id="7" name="Text 5"/>
          <p:cNvSpPr/>
          <p:nvPr/>
        </p:nvSpPr>
        <p:spPr>
          <a:xfrm>
            <a:off x="749281" y="2298867"/>
            <a:ext cx="3314617"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Mínimo privilegio</a:t>
            </a:r>
            <a:endParaRPr lang="en-US" sz="1800" dirty="0"/>
          </a:p>
        </p:txBody>
      </p:sp>
      <p:sp>
        <p:nvSpPr>
          <p:cNvPr id="8" name="Text 6"/>
          <p:cNvSpPr/>
          <p:nvPr/>
        </p:nvSpPr>
        <p:spPr>
          <a:xfrm>
            <a:off x="749281" y="2779788"/>
            <a:ext cx="3314617"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Asigna privilegios estrictamente mediante roles y perfiles; no otorgues permisos DBA genéricos a cuentas de aplicación.</a:t>
            </a:r>
            <a:endParaRPr lang="en-US" sz="1400" dirty="0"/>
          </a:p>
        </p:txBody>
      </p:sp>
      <p:sp>
        <p:nvSpPr>
          <p:cNvPr id="9" name="Shape 7"/>
          <p:cNvSpPr/>
          <p:nvPr/>
        </p:nvSpPr>
        <p:spPr>
          <a:xfrm>
            <a:off x="4406790" y="1823343"/>
            <a:ext cx="3695608" cy="2237879"/>
          </a:xfrm>
          <a:prstGeom prst="roundRect">
            <a:avLst>
              <a:gd name="adj" fmla="val 9534"/>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0" name="Text 8"/>
          <p:cNvSpPr/>
          <p:nvPr/>
        </p:nvSpPr>
        <p:spPr>
          <a:xfrm>
            <a:off x="4597285" y="2022923"/>
            <a:ext cx="350511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CONFIDENCIALIDAD</a:t>
            </a:r>
            <a:endParaRPr lang="en-US" sz="1100" dirty="0"/>
          </a:p>
        </p:txBody>
      </p:sp>
      <p:sp>
        <p:nvSpPr>
          <p:cNvPr id="11" name="Text 9"/>
          <p:cNvSpPr/>
          <p:nvPr/>
        </p:nvSpPr>
        <p:spPr>
          <a:xfrm>
            <a:off x="4597285" y="2298867"/>
            <a:ext cx="3314617"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Cifrado con TDE</a:t>
            </a:r>
            <a:endParaRPr lang="en-US" sz="1800" dirty="0"/>
          </a:p>
        </p:txBody>
      </p:sp>
      <p:sp>
        <p:nvSpPr>
          <p:cNvPr id="12" name="Text 10"/>
          <p:cNvSpPr/>
          <p:nvPr/>
        </p:nvSpPr>
        <p:spPr>
          <a:xfrm>
            <a:off x="4597285" y="2779788"/>
            <a:ext cx="3314617"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TDE (Transparent Data Encryption, cifrado transparente de datos) cifra datafiles y copias en reposo; Unified Auditing aporta trazabilidad completa.</a:t>
            </a:r>
            <a:endParaRPr lang="en-US" sz="1400" dirty="0"/>
          </a:p>
        </p:txBody>
      </p:sp>
      <p:sp>
        <p:nvSpPr>
          <p:cNvPr id="13" name="Shape 11"/>
          <p:cNvSpPr/>
          <p:nvPr/>
        </p:nvSpPr>
        <p:spPr>
          <a:xfrm>
            <a:off x="558786" y="4213622"/>
            <a:ext cx="3695608" cy="2237978"/>
          </a:xfrm>
          <a:prstGeom prst="roundRect">
            <a:avLst>
              <a:gd name="adj" fmla="val 9533"/>
            </a:avLst>
          </a:prstGeom>
          <a:solidFill>
            <a:srgbClr val="FFFFFF"/>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4" name="Text 12"/>
          <p:cNvSpPr/>
          <p:nvPr/>
        </p:nvSpPr>
        <p:spPr>
          <a:xfrm>
            <a:off x="749281" y="4413202"/>
            <a:ext cx="350511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10201D"/>
                </a:solidFill>
                <a:latin typeface="IBM Plex Sans SemiBold" pitchFamily="34" charset="0"/>
                <a:ea typeface="IBM Plex Sans SemiBold" pitchFamily="34" charset="-122"/>
                <a:cs typeface="IBM Plex Sans SemiBold" pitchFamily="34" charset="-120"/>
              </a:rPr>
              <a:t>BACKUP FÍSICO</a:t>
            </a:r>
            <a:endParaRPr lang="en-US" sz="1100" dirty="0"/>
          </a:p>
        </p:txBody>
      </p:sp>
      <p:sp>
        <p:nvSpPr>
          <p:cNvPr id="15" name="Text 13"/>
          <p:cNvSpPr/>
          <p:nvPr/>
        </p:nvSpPr>
        <p:spPr>
          <a:xfrm>
            <a:off x="749281" y="4689146"/>
            <a:ext cx="3314617" cy="301724"/>
          </a:xfrm>
          <a:prstGeom prst="rect">
            <a:avLst/>
          </a:prstGeom>
          <a:noFill/>
          <a:ln/>
        </p:spPr>
        <p:txBody>
          <a:bodyPr wrap="none" lIns="0" tIns="0" rIns="0" bIns="0" rtlCol="0" anchor="t"/>
          <a:lstStyle/>
          <a:p>
            <a:pPr algn="l" indent="0" marL="0">
              <a:lnSpc>
                <a:spcPct val="110000"/>
              </a:lnSpc>
              <a:buNone/>
            </a:pPr>
            <a:r>
              <a:rPr lang="en-US" sz="1800" dirty="0">
                <a:solidFill>
                  <a:srgbClr val="10201D"/>
                </a:solidFill>
                <a:latin typeface="IBM Plex Sans" pitchFamily="34" charset="0"/>
                <a:ea typeface="IBM Plex Sans" pitchFamily="34" charset="-122"/>
                <a:cs typeface="IBM Plex Sans" pitchFamily="34" charset="-120"/>
              </a:rPr>
              <a:t>RMAN y ARCHIVELOG</a:t>
            </a:r>
            <a:endParaRPr lang="en-US" sz="1800" dirty="0"/>
          </a:p>
        </p:txBody>
      </p:sp>
      <p:sp>
        <p:nvSpPr>
          <p:cNvPr id="16" name="Text 14"/>
          <p:cNvSpPr/>
          <p:nvPr/>
        </p:nvSpPr>
        <p:spPr>
          <a:xfrm>
            <a:off x="749281" y="5170067"/>
            <a:ext cx="3314617" cy="981075"/>
          </a:xfrm>
          <a:prstGeom prst="rect">
            <a:avLst/>
          </a:prstGeom>
          <a:noFill/>
          <a:ln/>
        </p:spPr>
        <p:txBody>
          <a:bodyPr wrap="square" lIns="0" tIns="0" rIns="0" bIns="0" rtlCol="0" anchor="t">
            <a:normAutofit/>
          </a:bodyPr>
          <a:lstStyle/>
          <a:p>
            <a:pPr algn="l" indent="0" marL="0">
              <a:lnSpc>
                <a:spcPct val="115000"/>
              </a:lnSpc>
              <a:buNone/>
            </a:pPr>
            <a:r>
              <a:rPr lang="en-US" sz="1400" dirty="0">
                <a:solidFill>
                  <a:srgbClr val="10201D"/>
                </a:solidFill>
                <a:latin typeface="IBM Plex Sans" pitchFamily="34" charset="0"/>
                <a:ea typeface="IBM Plex Sans" pitchFamily="34" charset="-122"/>
                <a:cs typeface="IBM Plex Sans" pitchFamily="34" charset="-120"/>
              </a:rPr>
              <a:t>RMAN (Recovery Manager) con ARCHIVELOG activo permite respaldo en caliente y recuperación punto en el tiempo: PITR (Point-In-Time Recovery).</a:t>
            </a:r>
            <a:endParaRPr lang="en-US" sz="1400" dirty="0"/>
          </a:p>
        </p:txBody>
      </p:sp>
      <p:sp>
        <p:nvSpPr>
          <p:cNvPr id="17" name="Shape 15"/>
          <p:cNvSpPr/>
          <p:nvPr/>
        </p:nvSpPr>
        <p:spPr>
          <a:xfrm>
            <a:off x="4406790" y="4213622"/>
            <a:ext cx="3695608" cy="2237978"/>
          </a:xfrm>
          <a:prstGeom prst="roundRect">
            <a:avLst>
              <a:gd name="adj" fmla="val 9533"/>
            </a:avLst>
          </a:prstGeom>
          <a:solidFill>
            <a:srgbClr val="083C35"/>
          </a:solidFill>
          <a:ln w="12700">
            <a:solidFill>
              <a:srgbClr val="CBD4CE"/>
            </a:solidFill>
            <a:prstDash val="solid"/>
          </a:ln>
          <a:effectLst>
            <a:outerShdw sx="100000" sy="100000" kx="0" ky="0" algn="bl" rotWithShape="0" blurRad="227330" dist="74930" dir="5400000">
              <a:srgbClr val="083c35">
                <a:alpha val="10000"/>
              </a:srgbClr>
            </a:outerShdw>
          </a:effectLst>
        </p:spPr>
      </p:sp>
      <p:sp>
        <p:nvSpPr>
          <p:cNvPr id="18" name="Text 16"/>
          <p:cNvSpPr/>
          <p:nvPr/>
        </p:nvSpPr>
        <p:spPr>
          <a:xfrm>
            <a:off x="4597285" y="4413202"/>
            <a:ext cx="3505112" cy="173137"/>
          </a:xfrm>
          <a:prstGeom prst="rect">
            <a:avLst/>
          </a:prstGeom>
          <a:noFill/>
          <a:ln/>
        </p:spPr>
        <p:txBody>
          <a:bodyPr wrap="none" lIns="0" tIns="0" rIns="0" bIns="0" rtlCol="0" anchor="t"/>
          <a:lstStyle/>
          <a:p>
            <a:pPr algn="l" indent="0" marL="0">
              <a:lnSpc>
                <a:spcPct val="103000"/>
              </a:lnSpc>
              <a:buNone/>
            </a:pPr>
            <a:r>
              <a:rPr lang="en-US" sz="1100" spc="60" kern="100" dirty="0">
                <a:solidFill>
                  <a:srgbClr val="FFFFFF"/>
                </a:solidFill>
                <a:latin typeface="IBM Plex Sans SemiBold" pitchFamily="34" charset="0"/>
                <a:ea typeface="IBM Plex Sans SemiBold" pitchFamily="34" charset="-122"/>
                <a:cs typeface="IBM Plex Sans SemiBold" pitchFamily="34" charset="-120"/>
              </a:rPr>
              <a:t>REGLA CRÍTICA</a:t>
            </a:r>
            <a:endParaRPr lang="en-US" sz="1100" dirty="0"/>
          </a:p>
        </p:txBody>
      </p:sp>
      <p:sp>
        <p:nvSpPr>
          <p:cNvPr id="19" name="Text 17"/>
          <p:cNvSpPr/>
          <p:nvPr/>
        </p:nvSpPr>
        <p:spPr>
          <a:xfrm>
            <a:off x="4597285" y="4689146"/>
            <a:ext cx="3314617" cy="301724"/>
          </a:xfrm>
          <a:prstGeom prst="rect">
            <a:avLst/>
          </a:prstGeom>
          <a:noFill/>
          <a:ln/>
        </p:spPr>
        <p:txBody>
          <a:bodyPr wrap="none" lIns="0" tIns="0" rIns="0" bIns="0" rtlCol="0" anchor="t"/>
          <a:lstStyle/>
          <a:p>
            <a:pPr algn="l" indent="0" marL="0">
              <a:lnSpc>
                <a:spcPct val="110000"/>
              </a:lnSpc>
              <a:buNone/>
            </a:pPr>
            <a:r>
              <a:rPr lang="en-US" sz="1800" dirty="0">
                <a:solidFill>
                  <a:srgbClr val="FFFFFF"/>
                </a:solidFill>
                <a:latin typeface="IBM Plex Sans" pitchFamily="34" charset="0"/>
                <a:ea typeface="IBM Plex Sans" pitchFamily="34" charset="-122"/>
                <a:cs typeface="IBM Plex Sans" pitchFamily="34" charset="-120"/>
              </a:rPr>
              <a:t>Prueba la restauración</a:t>
            </a:r>
            <a:endParaRPr lang="en-US" sz="1800" dirty="0"/>
          </a:p>
        </p:txBody>
      </p:sp>
      <p:sp>
        <p:nvSpPr>
          <p:cNvPr id="20" name="Text 18"/>
          <p:cNvSpPr/>
          <p:nvPr/>
        </p:nvSpPr>
        <p:spPr>
          <a:xfrm>
            <a:off x="4597285" y="5170067"/>
            <a:ext cx="3314617" cy="981075"/>
          </a:xfrm>
          <a:prstGeom prst="rect">
            <a:avLst/>
          </a:prstGeom>
          <a:noFill/>
          <a:ln/>
        </p:spPr>
        <p:txBody>
          <a:bodyPr wrap="square" lIns="0" tIns="0" rIns="0" bIns="0" rtlCol="0" anchor="t">
            <a:normAutofit/>
          </a:bodyPr>
          <a:lstStyle/>
          <a:p>
            <a:pPr algn="l" indent="0" marL="0">
              <a:lnSpc>
                <a:spcPct val="115000"/>
              </a:lnSpc>
              <a:buNone/>
            </a:pPr>
            <a:r>
              <a:rPr lang="en-US" sz="1400" b="1" dirty="0">
                <a:solidFill>
                  <a:srgbClr val="FFFFFF"/>
                </a:solidFill>
                <a:latin typeface="IBM Plex Sans Bold" pitchFamily="34" charset="0"/>
                <a:ea typeface="IBM Plex Sans Bold" pitchFamily="34" charset="-122"/>
                <a:cs typeface="IBM Plex Sans Bold" pitchFamily="34" charset="-120"/>
              </a:rPr>
              <a:t>Un backup no probado no es un backup.</a:t>
            </a:r>
            <a:pPr algn="l" indent="0" marL="0">
              <a:lnSpc>
                <a:spcPct val="115000"/>
              </a:lnSpc>
              <a:buNone/>
            </a:pPr>
            <a:r>
              <a:rPr lang="en-US" sz="1400" dirty="0">
                <a:solidFill>
                  <a:srgbClr val="FFFFFF"/>
                </a:solidFill>
                <a:latin typeface="IBM Plex Sans" pitchFamily="34" charset="0"/>
                <a:ea typeface="IBM Plex Sans" pitchFamily="34" charset="-122"/>
                <a:cs typeface="IBM Plex Sans" pitchFamily="34" charset="-120"/>
              </a:rPr>
              <a:t> Realiza simulacros periódicos de restauración en entornos de prueba aislados.</a:t>
            </a:r>
            <a:endParaRPr lang="en-US" sz="1400" dirty="0"/>
          </a:p>
        </p:txBody>
      </p:sp>
      <p:pic>
        <p:nvPicPr>
          <p:cNvPr id="21" name="Image 0" descr="preencoded.png">    </p:cNvPr>
          <p:cNvPicPr>
            <a:picLocks noChangeAspect="1"/>
          </p:cNvPicPr>
          <p:nvPr/>
        </p:nvPicPr>
        <p:blipFill>
          <a:blip r:embed="rId1"/>
          <a:stretch>
            <a:fillRect/>
          </a:stretch>
        </p:blipFill>
        <p:spPr>
          <a:xfrm>
            <a:off x="8534187" y="0"/>
            <a:ext cx="365750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2026-10-20T20:37:46Z</dcterms:created>
  <dcterms:modified xsi:type="dcterms:W3CDTF">2026-10-20T20:37:46Z</dcterms:modified>
</cp:coreProperties>
</file>
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sesión destacando el rol único de Python: la herramienta común entre el modelado matemático riguroso y la producción de software a gran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Resaltar que el tipado dinámico no es tipado débil: Python no realiza coerción implícita destructiva (como sumar enteros y cadenas arbitrariamente).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Subrayar que Python actúa como pegamento de alto nivel (glue language) sobre primitivas de alto rendimiento compiladas en C, C++ y CUDA.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ruptura de compatibilidad en 3.0 fue traumática pero salvó el lenguaje a largo plazo, consolidando Unicode y saneando la API de tipos enteros unificados.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proyecto Faster CPython liderado por Mark Shannon y Guido, reduciendo el overhead de frames y agregando un JIT tier-1/tier-2 en 3.12 y 3.13.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la diferencia entre operador de identidad `is` (comprueba id de memoria PyObject*) y operador de equivalencia `==` (evalúa `__eq__`).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una comprensión de generador `(x for x in data)` devuelve un iterador perezoso, a diferencia de `[x for x in data]` que materializa la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el uso de @wraps(func) para preservar __name__, __doc__ y firma de introspección del invocable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el hito reciente de Python 3.13 con soporte experimental de free-threaded build (PEP 703) para deshabilitar el GIL en CPython.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reiterando la regla de oro: la legibilidad y la correctitud arquitectónica preceden a la microoptimización prematura.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051110"/>
            <a:ext cx="5435464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Python: ingeniería</a:t>
            </a:r>
            <a:endParaRPr lang="en-US" sz="3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y software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87380" y="2892643"/>
            <a:ext cx="543546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Fundamentos, arquitectura de ejecución y diseño idiomático para construir sistemas robustos.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7380" y="4437539"/>
            <a:ext cx="604504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ARQUITECTURA DE SOFTWARE · GUÍA TÉCNICA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DEFINICIÓN Y PRINCIPIOS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Qué es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5333867" cy="1867495"/>
          </a:xfrm>
          <a:prstGeom prst="roundRect">
            <a:avLst>
              <a:gd name="adj" fmla="val 816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1902321"/>
            <a:ext cx="48385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Lenguaje interpretado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7229" y="2450326"/>
            <a:ext cx="508622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 alto nivel y tipado dinámico.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48244" y="1641971"/>
            <a:ext cx="5333867" cy="1867495"/>
          </a:xfrm>
          <a:prstGeom prst="roundRect">
            <a:avLst>
              <a:gd name="adj" fmla="val 816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5887" y="1902321"/>
            <a:ext cx="48385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Multiparadigma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5887" y="2450326"/>
            <a:ext cx="483857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Orientado a objetos, imperativo y funcional.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09585" y="3814266"/>
            <a:ext cx="5333867" cy="1867495"/>
          </a:xfrm>
          <a:prstGeom prst="roundRect">
            <a:avLst>
              <a:gd name="adj" fmla="val 816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7229" y="4074616"/>
            <a:ext cx="48385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Sintaxis legible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7229" y="4622621"/>
            <a:ext cx="483857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indentación define los bloques.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48244" y="3814266"/>
            <a:ext cx="5333867" cy="1867495"/>
          </a:xfrm>
          <a:prstGeom prst="roundRect">
            <a:avLst>
              <a:gd name="adj" fmla="val 8160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5887" y="4074616"/>
            <a:ext cx="48385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Filosofía Python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5887" y="4622621"/>
            <a:ext cx="483857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“Baterías incluidas” y el Zen de Python.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23545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DOMINIOS INDUSTRIALES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43175"/>
            <a:ext cx="6603835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Python en el ecosistema de ingeniería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86" y="2328366"/>
            <a:ext cx="30733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Datos y cómputo científico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8786" y="3203714"/>
            <a:ext cx="330191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NumPy, pandas, SciPy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89298" y="2328366"/>
            <a:ext cx="307332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Automatización, scripting y DevOps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89298" y="3203714"/>
            <a:ext cx="30733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Automatización y scripting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8786" y="5074841"/>
            <a:ext cx="307332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Backend web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8786" y="5619988"/>
            <a:ext cx="330191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Django, FastAPI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89298" y="5074841"/>
            <a:ext cx="307332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89298" y="5619988"/>
            <a:ext cx="30733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PyTorch, scikit-learn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62301" cy="69040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678" y="624840"/>
            <a:ext cx="670543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Historia: de un hobby navideño a estándar global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8" y="1621036"/>
            <a:ext cx="609585" cy="60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76678" y="2421136"/>
            <a:ext cx="31241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1989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876678" y="2966283"/>
            <a:ext cx="312412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Guido van Rossum inicia el proyecto en el CWI, Países Bajos.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88" y="1621036"/>
            <a:ext cx="609585" cy="609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57988" y="2421136"/>
            <a:ext cx="31241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1991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8457988" y="2966283"/>
            <a:ext cx="312412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Primera versión pública, 0.9.0.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8" y="4340622"/>
            <a:ext cx="609585" cy="609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76678" y="5140722"/>
            <a:ext cx="31241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2000 · Python 2.0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4876678" y="5685869"/>
            <a:ext cx="312412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Listas por comprensión y recolector de ciclos.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88" y="4340622"/>
            <a:ext cx="609585" cy="609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57988" y="5140722"/>
            <a:ext cx="31241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2008 · Python 3.0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8457988" y="5685869"/>
            <a:ext cx="31241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Ruptura de compatibilidad.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8223044" y="1621036"/>
            <a:ext cx="12700" cy="2490986"/>
          </a:xfrm>
          <a:prstGeom prst="rect">
            <a:avLst/>
          </a:prstGeom>
          <a:solidFill>
            <a:srgbClr val="3A3D8C"/>
          </a:solidFill>
          <a:ln/>
        </p:spPr>
      </p:sp>
      <p:sp>
        <p:nvSpPr>
          <p:cNvPr id="17" name="Shape 10"/>
          <p:cNvSpPr/>
          <p:nvPr/>
        </p:nvSpPr>
        <p:spPr>
          <a:xfrm>
            <a:off x="4876678" y="4105672"/>
            <a:ext cx="3352716" cy="12700"/>
          </a:xfrm>
          <a:prstGeom prst="rect">
            <a:avLst/>
          </a:prstGeom>
          <a:solidFill>
            <a:srgbClr val="3A3D8C"/>
          </a:solidFill>
          <a:ln/>
        </p:spPr>
      </p:sp>
      <p:sp>
        <p:nvSpPr>
          <p:cNvPr id="18" name="Shape 11"/>
          <p:cNvSpPr/>
          <p:nvPr/>
        </p:nvSpPr>
        <p:spPr>
          <a:xfrm>
            <a:off x="8223044" y="4112022"/>
            <a:ext cx="12700" cy="2182416"/>
          </a:xfrm>
          <a:prstGeom prst="rect">
            <a:avLst/>
          </a:prstGeom>
          <a:solidFill>
            <a:srgbClr val="3A3D8C"/>
          </a:solidFill>
          <a:ln/>
        </p:spPr>
      </p:sp>
      <p:sp>
        <p:nvSpPr>
          <p:cNvPr id="19" name="Shape 12"/>
          <p:cNvSpPr/>
          <p:nvPr/>
        </p:nvSpPr>
        <p:spPr>
          <a:xfrm>
            <a:off x="8229394" y="4105672"/>
            <a:ext cx="3352716" cy="12700"/>
          </a:xfrm>
          <a:prstGeom prst="rect">
            <a:avLst/>
          </a:prstGeom>
          <a:solidFill>
            <a:srgbClr val="3A3D8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MODERNIZACIÓN Y GOBERNANZA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Python 2 vs Python 3 y la era moderna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5333867" cy="3565922"/>
          </a:xfrm>
          <a:prstGeom prst="roundRect">
            <a:avLst>
              <a:gd name="adj" fmla="val 427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1906766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TRANSICIÓN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7229" y="2226727"/>
            <a:ext cx="483857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Del legado al nuevo modelo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7229" y="2826742"/>
            <a:ext cx="4838579" cy="172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Python 2 llegó a fin de vida en 2020.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Gobernanza: de BDFL a Steering Council desde 2018.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48244" y="1641971"/>
            <a:ext cx="5333867" cy="3565922"/>
          </a:xfrm>
          <a:prstGeom prst="roundRect">
            <a:avLst>
              <a:gd name="adj" fmla="val 4274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5887" y="1906766"/>
            <a:ext cx="50862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ERA MODERNA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5887" y="2226727"/>
            <a:ext cx="483857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Lenguaje en evolución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5887" y="2826742"/>
            <a:ext cx="4838579" cy="2133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Type hints, f-strings, asyncio y dataclasses.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Ciclo anual de versiones y mejoras de rendimiento recientes.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SISTEMA DE TIPOS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Concepto clave: modelo de datos y tipos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5257668" cy="3695502"/>
          </a:xfrm>
          <a:prstGeom prst="roundRect">
            <a:avLst>
              <a:gd name="adj" fmla="val 412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1906766"/>
            <a:ext cx="501002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OBJETOS Y MUTABILIDAD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7229" y="2265462"/>
            <a:ext cx="4762381" cy="282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Todo es un objeto; las variables son referencias.</a:t>
            </a:r>
            <a:endParaRPr lang="en-US" sz="2400" dirty="0"/>
          </a:p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Mutables (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) frente a inmutables (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).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 [1]; b = a; b.append(2)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modifica el objeto compartido.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24442" y="1641971"/>
            <a:ext cx="5257668" cy="3695502"/>
          </a:xfrm>
          <a:prstGeom prst="roundRect">
            <a:avLst>
              <a:gd name="adj" fmla="val 412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2086" y="1906766"/>
            <a:ext cx="501002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DUCK TYPING Y PROTOCOLOS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72086" y="2265462"/>
            <a:ext cx="4762381" cy="2646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Duck typing: importa el comportamiento que ofrece un objeto.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protocolos usan métodos especiales (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__dunder__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), como 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__add__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o 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__getitem__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170"/>
            <a:ext cx="11582110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70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EVALUACIÓN PEREZOSA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99331"/>
            <a:ext cx="1097252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500" spc="-13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Iteradores, generadores y comprensiones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511539"/>
            <a:ext cx="10972526" cy="698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1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Procesamiento de flujos masivos de datos manteniendo la complejidad espacial en O(1).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609585" y="2651338"/>
            <a:ext cx="525766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Protocolo de iteración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3121353"/>
            <a:ext cx="5257668" cy="798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Cualquier objeto con </a:t>
            </a:r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__iter__()</a:t>
            </a:r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que retorna un iterable y </a:t>
            </a:r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__next__()</a:t>
            </a:r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que arroja </a:t>
            </a:r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StopIteration</a:t>
            </a:r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al agotarse.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4139421"/>
            <a:ext cx="525766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Generadores con yield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4609436"/>
            <a:ext cx="5257668" cy="785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Pausan el frame de ejecución y liberan CPU/memoria entre llamadas sucesivas sin almacenar el dataset completo.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5614804"/>
            <a:ext cx="525766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9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Comprensiones idiomáticas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6084819"/>
            <a:ext cx="5257668" cy="785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Sintaxis declarativa compacta para listas, conjuntos y diccionarios con bucle y filtro interno en bytecode optimizado.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2" y="2410916"/>
            <a:ext cx="5257668" cy="4677271"/>
          </a:xfrm>
          <a:prstGeom prst="roundRect">
            <a:avLst>
              <a:gd name="adj" fmla="val 3258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72086" y="2676137"/>
            <a:ext cx="5010025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70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STREAMING CON MEMORIA CONSTANTE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72086" y="2986941"/>
            <a:ext cx="4762381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stream_metrics(file_path: str):</a:t>
            </a:r>
            <a:endParaRPr lang="en-US" sz="14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open(file_path) as f:</a:t>
            </a:r>
            <a:endParaRPr lang="en-US" sz="14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f:</a:t>
            </a:r>
            <a:endParaRPr lang="en-US" sz="14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line.startswith("METRIC:"):</a:t>
            </a:r>
            <a:endParaRPr lang="en-US" sz="14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yield float(line.split()[1])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72086" y="4301340"/>
            <a:ext cx="5010025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70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COMPRENSIONES DECLARATIVAS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72086" y="4613831"/>
            <a:ext cx="5010025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3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# Diccionario filtrado con set comprehension previa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72086" y="4961493"/>
            <a:ext cx="4762381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valid_ids = {node.id for node in cluster if node.active}</a:t>
            </a:r>
            <a:endParaRPr lang="en-US" sz="14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{k: v * 1.5 for k, v in raw_data.items() if k in valid_ids}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REUTILIZACIÓN E INGENIERÍA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Funciones, decoradores y gestores de contexto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62282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Funciones como objetos de primera clase y closures: patrones para separar responsabilidades y liberar recursos con seguridad.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146822"/>
            <a:ext cx="5333867" cy="2656681"/>
          </a:xfrm>
          <a:prstGeom prst="roundRect">
            <a:avLst>
              <a:gd name="adj" fmla="val 4819"/>
            </a:avLst>
          </a:prstGeom>
          <a:solidFill>
            <a:srgbClr val="1E1F66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392567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DECORADORES (WRAPPERS)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8179" y="3751263"/>
            <a:ext cx="4876678" cy="182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@wraps(func)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wrapper(*args, **kwargs)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Logging, caché y validación sin modificar la lógica base.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48244" y="3146822"/>
            <a:ext cx="5333867" cy="2656681"/>
          </a:xfrm>
          <a:prstGeom prst="roundRect">
            <a:avLst>
              <a:gd name="adj" fmla="val 4819"/>
            </a:avLst>
          </a:prstGeom>
          <a:solidFill>
            <a:srgbClr val="1E1F66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3392567"/>
            <a:ext cx="51052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CONTEXT MANAGERS (PEP 343)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6838" y="3751263"/>
            <a:ext cx="4876678" cy="182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recurso: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try: yield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· </a:t>
            </a:r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 liberar()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Liberan recursos con seguridad mediante 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__enter__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__exit__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987"/>
            <a:ext cx="11582110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57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INTERNOS DEL RUNTIME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830667"/>
            <a:ext cx="10972526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50" spc="-10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Ejecución, el GIL y modelos de concurrencia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09585" y="1287310"/>
            <a:ext cx="10972526" cy="521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75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Elegir la estrategia adecuada requiere comprender cómo CPython interactúa con los núcleos del procesador.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9457" y="1948755"/>
            <a:ext cx="5192682" cy="29209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5015805"/>
            <a:ext cx="3352716" cy="1846957"/>
          </a:xfrm>
          <a:prstGeom prst="roundRect">
            <a:avLst>
              <a:gd name="adj" fmla="val 82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7229" y="5274842"/>
            <a:ext cx="3105072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57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THREADING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29" y="5485634"/>
            <a:ext cx="2857429" cy="24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7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I/O Concurrente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7229" y="5838688"/>
            <a:ext cx="2857429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GIL se libera en llamadas syscall de red o disco. Hilos livianos del OS para sockets y queries.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19489" y="5015805"/>
            <a:ext cx="3352716" cy="1846957"/>
          </a:xfrm>
          <a:prstGeom prst="roundRect">
            <a:avLst>
              <a:gd name="adj" fmla="val 8251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sx="100000" sy="100000" kx="0" ky="0" algn="bl" rotWithShape="0" blurRad="201930" dist="127" dir="16200000">
              <a:srgbClr val="ff9347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7133" y="5274842"/>
            <a:ext cx="3105072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57" kern="100" dirty="0">
                <a:solidFill>
                  <a:srgbClr val="FF9347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MULTIPROCESSING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7133" y="5485634"/>
            <a:ext cx="2857429" cy="24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7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Paralelismo CPU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667133" y="5838688"/>
            <a:ext cx="2857429" cy="781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Procesos aislados con heap propio; evade el GIL por completo a expensas de costo de IPC y serialización.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394" y="5015805"/>
            <a:ext cx="3352716" cy="1846957"/>
          </a:xfrm>
          <a:prstGeom prst="roundRect">
            <a:avLst>
              <a:gd name="adj" fmla="val 825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77038" y="5274842"/>
            <a:ext cx="3105072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57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ASYNCIO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477038" y="5485634"/>
            <a:ext cx="2857429" cy="24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7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Event Loop Único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477038" y="5838688"/>
            <a:ext cx="2857429" cy="781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Concurrencia cooperativa de decenas de miles de conexiones simultáneas sin overhead de context switch.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2369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43324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Tips de ingeniería para código robusto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38920"/>
            <a:ext cx="609585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39020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Entornos y dependencias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3184168"/>
            <a:ext cx="533386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Usa entornos virtuales y fija dependencias con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poetry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4097536"/>
            <a:ext cx="609585" cy="609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4897636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Tipado, formato y pruebas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09585" y="5442783"/>
            <a:ext cx="533386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Type hints con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mypy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; formato con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ruff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o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; pruebas con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838920"/>
            <a:ext cx="609585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48244" y="2639020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Evita antipatrones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248244" y="3184168"/>
            <a:ext cx="533386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Evita argumentos por defecto mutables y los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desnudos.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4097536"/>
            <a:ext cx="609585" cy="609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244" y="4897636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Perfila antes de optimizar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248244" y="5442783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Usa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highlight>
                  <a:srgbClr val="1E1F6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cProfile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vectorización y extensiones en C.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2026-10-20T18:46:59Z</dcterms:created>
  <dcterms:modified xsi:type="dcterms:W3CDTF">2026-10-20T18:46:59Z</dcterms:modified>
</cp:coreProperties>
</file>
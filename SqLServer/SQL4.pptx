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Nunito SemiBold"/>
      <p:regular r:id="rId17"/>
    </p:embeddedFont>
    <p:embeddedFont>
      <p:font typeface="Nunito Bold"/>
      <p:regular r:id="rId18"/>
    </p:embeddedFont>
    <p:embeddedFont>
      <p:font typeface="PT Sans"/>
      <p:regular r:id="rId19"/>
    </p:embeddedFont>
    <p:embeddedFont>
      <p:font typeface="PT Sans Bold"/>
      <p:regular r:id="rId20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2" Type="http://schemas.openxmlformats.org/officeDocument/2006/relationships/image" Target="../media/image-1010-2.png"/><Relationship Id="rId4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2" Type="http://schemas.openxmlformats.org/officeDocument/2006/relationships/image" Target="../media/image-1011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4.png"/><Relationship Id="rId5" Type="http://schemas.openxmlformats.org/officeDocument/2006/relationships/image" Target="../media/image-2-5.svg"/><Relationship Id="rId6" Type="http://schemas.openxmlformats.org/officeDocument/2006/relationships/image" Target="../media/image-2-6.png"/><Relationship Id="rId7" Type="http://schemas.openxmlformats.org/officeDocument/2006/relationships/image" Target="../media/image-2-7.sv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svg"/><Relationship Id="rId4" Type="http://schemas.openxmlformats.org/officeDocument/2006/relationships/image" Target="../media/image-4-4.png"/><Relationship Id="rId5" Type="http://schemas.openxmlformats.org/officeDocument/2006/relationships/image" Target="../media/image-4-5.svg"/><Relationship Id="rId6" Type="http://schemas.openxmlformats.org/officeDocument/2006/relationships/image" Target="../media/image-4-6.png"/><Relationship Id="rId7" Type="http://schemas.openxmlformats.org/officeDocument/2006/relationships/image" Target="../media/image-4-7.svg"/><Relationship Id="rId8" Type="http://schemas.openxmlformats.org/officeDocument/2006/relationships/slideLayout" Target="../slideLayouts/slideLayout5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6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7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svg"/><Relationship Id="rId4" Type="http://schemas.openxmlformats.org/officeDocument/2006/relationships/slideLayout" Target="../slideLayouts/slideLayout8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9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0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577" y="1675135"/>
            <a:ext cx="4667845" cy="88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Procedimientos Almacenados en SQL Server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523577" y="2779514"/>
            <a:ext cx="5125045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Potencia, control y eficiencia en el corazón de tu base de datos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523577" y="3187154"/>
            <a:ext cx="1208931" cy="281136"/>
          </a:xfrm>
          <a:prstGeom prst="roundRect">
            <a:avLst>
              <a:gd name="adj" fmla="val 63861"/>
            </a:avLst>
          </a:prstGeom>
          <a:solidFill>
            <a:srgbClr val="483304"/>
          </a:solidFill>
          <a:ln/>
        </p:spPr>
      </p:sp>
      <p:sp>
        <p:nvSpPr>
          <p:cNvPr id="6" name="Text 3"/>
          <p:cNvSpPr/>
          <p:nvPr/>
        </p:nvSpPr>
        <p:spPr>
          <a:xfrm>
            <a:off x="613321" y="3232026"/>
            <a:ext cx="1486644" cy="191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SQL SERVER · T-SQL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050" y="382712"/>
            <a:ext cx="4221212" cy="3713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¿Qué son y para qué sirven?</a:t>
            </a:r>
            <a:endParaRPr lang="en-US" sz="23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3050" y="1358057"/>
            <a:ext cx="5220816" cy="2958405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92267" y="1033611"/>
            <a:ext cx="2683371" cy="113146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189911" y="1174105"/>
            <a:ext cx="2173114" cy="185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Bloques de código permanentes</a:t>
            </a:r>
            <a:endParaRPr lang="en-US" sz="1150" dirty="0"/>
          </a:p>
        </p:txBody>
      </p:sp>
      <p:sp>
        <p:nvSpPr>
          <p:cNvPr id="6" name="Text 2"/>
          <p:cNvSpPr/>
          <p:nvPr/>
        </p:nvSpPr>
        <p:spPr>
          <a:xfrm>
            <a:off x="6189911" y="1466255"/>
            <a:ext cx="2345234" cy="5583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Son fragmentos de T-SQL guardados directamente en SQL Server, disponibles para cualquier aplicación conectada.</a:t>
            </a:r>
            <a:endParaRPr lang="en-US" sz="9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92267" y="2271564"/>
            <a:ext cx="2683371" cy="113146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189911" y="2412057"/>
            <a:ext cx="1890787" cy="185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Reutilización como métodos</a:t>
            </a:r>
            <a:endParaRPr lang="en-US" sz="1150" dirty="0"/>
          </a:p>
        </p:txBody>
      </p:sp>
      <p:sp>
        <p:nvSpPr>
          <p:cNvPr id="9" name="Text 4"/>
          <p:cNvSpPr/>
          <p:nvPr/>
        </p:nvSpPr>
        <p:spPr>
          <a:xfrm>
            <a:off x="6189911" y="2704207"/>
            <a:ext cx="2345234" cy="5583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Se definen una vez y se ejecutan infinitas veces, igual que las funciones en programación.</a:t>
            </a:r>
            <a:endParaRPr lang="en-US" sz="9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992267" y="3509516"/>
            <a:ext cx="2683371" cy="113146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189911" y="3650010"/>
            <a:ext cx="1600870" cy="185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Centralización de lógica</a:t>
            </a:r>
            <a:endParaRPr lang="en-US" sz="1150" dirty="0"/>
          </a:p>
        </p:txBody>
      </p:sp>
      <p:sp>
        <p:nvSpPr>
          <p:cNvPr id="12" name="Text 6"/>
          <p:cNvSpPr/>
          <p:nvPr/>
        </p:nvSpPr>
        <p:spPr>
          <a:xfrm>
            <a:off x="6189911" y="3942159"/>
            <a:ext cx="2345234" cy="5583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Permiten estandarizar procesos complejos y mantener la lógica de negocio en un único punto de control.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6353" y="390227"/>
            <a:ext cx="4821882" cy="391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¿Cómo funcionan bajo el capó?</a:t>
            </a:r>
            <a:endParaRPr lang="en-US" sz="2450" dirty="0"/>
          </a:p>
        </p:txBody>
      </p:sp>
      <p:sp>
        <p:nvSpPr>
          <p:cNvPr id="3" name="Text 1"/>
          <p:cNvSpPr/>
          <p:nvPr/>
        </p:nvSpPr>
        <p:spPr>
          <a:xfrm>
            <a:off x="466353" y="1019398"/>
            <a:ext cx="8668494" cy="201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Cada vez que ejecutas un procedimiento almacenado, SQL Server sigue un proceso interno optimizado que garantiza rendimiento y coherencia.</a:t>
            </a:r>
            <a:endParaRPr lang="en-US" sz="1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0612" y="1354410"/>
            <a:ext cx="4822701" cy="286226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288676" y="3559555"/>
            <a:ext cx="1427403" cy="2172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Ejecución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3777857" y="3559555"/>
            <a:ext cx="1427402" cy="2172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Encapsulación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2242404" y="3559555"/>
            <a:ext cx="1427402" cy="2172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Compilación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466353" y="4350172"/>
            <a:ext cx="8211294" cy="403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Este flujo de tres fases asegura que el procedimiento se compile una sola vez, se encapsule para reducir la sobrecarga de red y se ejecute como una unidad coherente con soporte completo para parámetros.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36281" y="421630"/>
            <a:ext cx="3867448" cy="426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Ventajas Críticas</a:t>
            </a:r>
            <a:endParaRPr lang="en-US" sz="2650" dirty="0"/>
          </a:p>
        </p:txBody>
      </p:sp>
      <p:sp>
        <p:nvSpPr>
          <p:cNvPr id="4" name="Shape 1"/>
          <p:cNvSpPr/>
          <p:nvPr/>
        </p:nvSpPr>
        <p:spPr>
          <a:xfrm>
            <a:off x="3936281" y="1058466"/>
            <a:ext cx="2280047" cy="1875681"/>
          </a:xfrm>
          <a:prstGeom prst="roundRect">
            <a:avLst>
              <a:gd name="adj" fmla="val 11591"/>
            </a:avLst>
          </a:prstGeom>
          <a:solidFill>
            <a:srgbClr val="00002E"/>
          </a:solidFill>
          <a:ln w="14288">
            <a:solidFill>
              <a:srgbClr val="F2B42D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095452" y="1217637"/>
            <a:ext cx="434801" cy="434801"/>
          </a:xfrm>
          <a:prstGeom prst="roundRect">
            <a:avLst>
              <a:gd name="adj" fmla="val 13142630"/>
            </a:avLst>
          </a:prstGeom>
          <a:solidFill>
            <a:srgbClr val="F2B42D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15036" y="1337146"/>
            <a:ext cx="195635" cy="19563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095452" y="1792784"/>
            <a:ext cx="1705124" cy="213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Reducción del tráfico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4095452" y="2090068"/>
            <a:ext cx="1961704" cy="6849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Solo se envía la llamada </a:t>
            </a:r>
            <a:pPr algn="l" indent="0" marL="0">
              <a:lnSpc>
                <a:spcPct val="131000"/>
              </a:lnSpc>
              <a:buNone/>
            </a:pPr>
            <a:r>
              <a:rPr lang="en-US" sz="1100" dirty="0">
                <a:solidFill>
                  <a:srgbClr val="FFFFFF"/>
                </a:solidFill>
                <a:highlight>
                  <a:srgbClr val="0D0D3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EXEC</a:t>
            </a:r>
            <a:pPr algn="l" indent="0" marL="0">
              <a:lnSpc>
                <a:spcPct val="131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por la conexión, no miles de líneas de código.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6356672" y="1058466"/>
            <a:ext cx="2280047" cy="1875681"/>
          </a:xfrm>
          <a:prstGeom prst="roundRect">
            <a:avLst>
              <a:gd name="adj" fmla="val 11591"/>
            </a:avLst>
          </a:prstGeom>
          <a:solidFill>
            <a:srgbClr val="00002E"/>
          </a:solidFill>
          <a:ln w="14288">
            <a:solidFill>
              <a:srgbClr val="D7425E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515844" y="1217637"/>
            <a:ext cx="434801" cy="434801"/>
          </a:xfrm>
          <a:prstGeom prst="roundRect">
            <a:avLst>
              <a:gd name="adj" fmla="val 13142630"/>
            </a:avLst>
          </a:prstGeom>
          <a:solidFill>
            <a:srgbClr val="D7425E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35428" y="1337146"/>
            <a:ext cx="195635" cy="19563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515844" y="1792784"/>
            <a:ext cx="1705124" cy="213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Seguridad mejorada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6515844" y="2090068"/>
            <a:ext cx="1961704" cy="6849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Permite ejecutar acciones sin otorgar permisos directos sobre las tablas subyacentes.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3936281" y="3074491"/>
            <a:ext cx="4700439" cy="1647379"/>
          </a:xfrm>
          <a:prstGeom prst="roundRect">
            <a:avLst>
              <a:gd name="adj" fmla="val 13197"/>
            </a:avLst>
          </a:prstGeom>
          <a:solidFill>
            <a:srgbClr val="00002E"/>
          </a:solidFill>
          <a:ln w="14288">
            <a:solidFill>
              <a:srgbClr val="DD785E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4095452" y="3233663"/>
            <a:ext cx="434801" cy="434801"/>
          </a:xfrm>
          <a:prstGeom prst="roundRect">
            <a:avLst>
              <a:gd name="adj" fmla="val 13142630"/>
            </a:avLst>
          </a:prstGeom>
          <a:solidFill>
            <a:srgbClr val="DD785E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215036" y="3353172"/>
            <a:ext cx="195635" cy="195635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095452" y="3808809"/>
            <a:ext cx="1705124" cy="213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Abstracción técnica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4095452" y="4106094"/>
            <a:ext cx="4382095" cy="4566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Oculta la complejidad del código tras una interfaz de llamada simple y limpia.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050" y="382712"/>
            <a:ext cx="4576167" cy="3713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¿Qué se debe tener en cuenta?</a:t>
            </a:r>
            <a:endParaRPr lang="en-US" sz="23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3050" y="1033611"/>
            <a:ext cx="2669084" cy="113146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8724" y="1174105"/>
            <a:ext cx="1485081" cy="185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Naming Convention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098724" y="1466255"/>
            <a:ext cx="1902916" cy="5583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Nunca uses el prefijo </a:t>
            </a:r>
            <a:pPr algn="l" indent="0" marL="0">
              <a:lnSpc>
                <a:spcPct val="123000"/>
              </a:lnSpc>
              <a:buNone/>
            </a:pPr>
            <a:r>
              <a:rPr lang="en-US" sz="950" dirty="0">
                <a:solidFill>
                  <a:srgbClr val="FFFFFF"/>
                </a:solidFill>
                <a:highlight>
                  <a:srgbClr val="0D0D3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sp_</a:t>
            </a:r>
            <a:pPr algn="l" indent="0" marL="0">
              <a:lnSpc>
                <a:spcPct val="123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(reservado para el sistema). Prefiere </a:t>
            </a:r>
            <a:pPr algn="l" indent="0" marL="0">
              <a:lnSpc>
                <a:spcPct val="123000"/>
              </a:lnSpc>
              <a:buNone/>
            </a:pPr>
            <a:r>
              <a:rPr lang="en-US" sz="950" dirty="0">
                <a:solidFill>
                  <a:srgbClr val="FFFFFF"/>
                </a:solidFill>
                <a:highlight>
                  <a:srgbClr val="0D0D3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usp_</a:t>
            </a:r>
            <a:pPr algn="l" indent="0" marL="0">
              <a:lnSpc>
                <a:spcPct val="123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o </a:t>
            </a:r>
            <a:pPr algn="l" indent="0" marL="0">
              <a:lnSpc>
                <a:spcPct val="123000"/>
              </a:lnSpc>
              <a:buNone/>
            </a:pPr>
            <a:r>
              <a:rPr lang="en-US" sz="950" dirty="0">
                <a:solidFill>
                  <a:srgbClr val="FFFFFF"/>
                </a:solidFill>
                <a:highlight>
                  <a:srgbClr val="0D0D3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proc_</a:t>
            </a:r>
            <a:pPr algn="l" indent="0" marL="0">
              <a:lnSpc>
                <a:spcPct val="123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.</a:t>
            </a:r>
            <a:endParaRPr lang="en-US" sz="9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3050" y="2271564"/>
            <a:ext cx="2669084" cy="113146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98724" y="2412057"/>
            <a:ext cx="1627584" cy="185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Calificación de esquema</a:t>
            </a:r>
            <a:endParaRPr lang="en-US" sz="1150" dirty="0"/>
          </a:p>
        </p:txBody>
      </p:sp>
      <p:sp>
        <p:nvSpPr>
          <p:cNvPr id="8" name="Text 4"/>
          <p:cNvSpPr/>
          <p:nvPr/>
        </p:nvSpPr>
        <p:spPr>
          <a:xfrm>
            <a:off x="1098724" y="2704207"/>
            <a:ext cx="1902916" cy="5583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Siempre especifica el esquema: </a:t>
            </a:r>
            <a:pPr algn="l" indent="0" marL="0">
              <a:lnSpc>
                <a:spcPct val="123000"/>
              </a:lnSpc>
              <a:buNone/>
            </a:pPr>
            <a:r>
              <a:rPr lang="en-US" sz="950" dirty="0">
                <a:solidFill>
                  <a:srgbClr val="FFFFFF"/>
                </a:solidFill>
                <a:highlight>
                  <a:srgbClr val="0D0D3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dbo.NombreProc</a:t>
            </a:r>
            <a:pPr algn="l" indent="0" marL="0">
              <a:lnSpc>
                <a:spcPct val="123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. Mejora el rendimiento y evita ambigüedades.</a:t>
            </a:r>
            <a:endParaRPr lang="en-US" sz="9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3050" y="3509516"/>
            <a:ext cx="2669084" cy="113146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98724" y="3650010"/>
            <a:ext cx="1485081" cy="185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Gestión de errores</a:t>
            </a:r>
            <a:endParaRPr lang="en-US" sz="1150" dirty="0"/>
          </a:p>
        </p:txBody>
      </p:sp>
      <p:sp>
        <p:nvSpPr>
          <p:cNvPr id="11" name="Text 6"/>
          <p:cNvSpPr/>
          <p:nvPr/>
        </p:nvSpPr>
        <p:spPr>
          <a:xfrm>
            <a:off x="1098724" y="3942159"/>
            <a:ext cx="1902916" cy="5583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Usa bloques </a:t>
            </a:r>
            <a:pPr algn="l" indent="0" marL="0">
              <a:lnSpc>
                <a:spcPct val="123000"/>
              </a:lnSpc>
              <a:buNone/>
            </a:pPr>
            <a:r>
              <a:rPr lang="en-US" sz="950" dirty="0">
                <a:solidFill>
                  <a:srgbClr val="FFFFFF"/>
                </a:solidFill>
                <a:highlight>
                  <a:srgbClr val="0D0D3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TRY-CATCH</a:t>
            </a:r>
            <a:pPr algn="l" indent="0" marL="0">
              <a:lnSpc>
                <a:spcPct val="123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para capturar y gestionar fallos de ejecución de forma controlada.</a:t>
            </a:r>
            <a:endParaRPr lang="en-US" sz="9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54822" y="1358057"/>
            <a:ext cx="5220816" cy="295840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830238"/>
            <a:ext cx="6594351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¿Cómo aplicarlo: Creación y Ejecución?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577" y="1569467"/>
            <a:ext cx="2698924" cy="5984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73150" y="2317477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1. Creación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673150" y="2627188"/>
            <a:ext cx="2399779" cy="7276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Usa 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FFFFFF"/>
                </a:solidFill>
                <a:highlight>
                  <a:srgbClr val="0D0D3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CREATE PROCEDURE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definiendo parámetros con 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FFFFFF"/>
                </a:solidFill>
                <a:highlight>
                  <a:srgbClr val="0D0D3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@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y sus tipos de datos.</a:t>
            </a:r>
            <a:endParaRPr lang="en-US" sz="11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2501" y="1569467"/>
            <a:ext cx="2698924" cy="59843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372073" y="2317477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2. Ejecución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372073" y="2627188"/>
            <a:ext cx="2399779" cy="7276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Invoca el procedimiento con 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FFFFFF"/>
                </a:solidFill>
                <a:highlight>
                  <a:srgbClr val="0D0D3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EXEC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o 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FFFFFF"/>
                </a:solidFill>
                <a:highlight>
                  <a:srgbClr val="0D0D3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EXECUTE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pasando los valores necesarios.</a:t>
            </a:r>
            <a:endParaRPr lang="en-US" sz="11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1425" y="1569467"/>
            <a:ext cx="2698924" cy="59843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070997" y="2317477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3. Parámetros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070997" y="2627188"/>
            <a:ext cx="2399779" cy="722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Soporta entrada estándar y parámetros 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FFFFFF"/>
                </a:solidFill>
                <a:highlight>
                  <a:srgbClr val="0D0D3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para devolver resultados al llamador.</a:t>
            </a:r>
            <a:endParaRPr lang="en-US" sz="1150" dirty="0"/>
          </a:p>
        </p:txBody>
      </p:sp>
      <p:sp>
        <p:nvSpPr>
          <p:cNvPr id="12" name="Shape 7"/>
          <p:cNvSpPr/>
          <p:nvPr/>
        </p:nvSpPr>
        <p:spPr>
          <a:xfrm>
            <a:off x="523577" y="3672706"/>
            <a:ext cx="8096845" cy="640482"/>
          </a:xfrm>
          <a:prstGeom prst="roundRect">
            <a:avLst>
              <a:gd name="adj" fmla="val 35039"/>
            </a:avLst>
          </a:prstGeom>
          <a:solidFill>
            <a:srgbClr val="022349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50" y="3900190"/>
            <a:ext cx="187003" cy="14957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09724" y="3859634"/>
            <a:ext cx="7918326" cy="244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Ejemplo rápido: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FFFFFF"/>
                </a:solidFill>
                <a:highlight>
                  <a:srgbClr val="0D0D3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EXEC dbo.usp_ObtenerCliente @ClienteID = 101, @Nombre = @Out OUTPUT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952577" y="727770"/>
            <a:ext cx="1126406" cy="281136"/>
          </a:xfrm>
          <a:prstGeom prst="roundRect">
            <a:avLst>
              <a:gd name="adj" fmla="val 63861"/>
            </a:avLst>
          </a:prstGeom>
          <a:solidFill>
            <a:srgbClr val="483304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42321" y="808509"/>
            <a:ext cx="119658" cy="11965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221807" y="772641"/>
            <a:ext cx="1224632" cy="191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RETO TÉCNICO</a:t>
            </a:r>
            <a:endParaRPr lang="en-US" sz="900" dirty="0"/>
          </a:p>
        </p:txBody>
      </p:sp>
      <p:sp>
        <p:nvSpPr>
          <p:cNvPr id="6" name="Text 2"/>
          <p:cNvSpPr/>
          <p:nvPr/>
        </p:nvSpPr>
        <p:spPr>
          <a:xfrm>
            <a:off x="3952577" y="1068735"/>
            <a:ext cx="4194572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Optimización en Acción</a:t>
            </a:r>
            <a:endParaRPr lang="en-US" sz="2750" dirty="0"/>
          </a:p>
        </p:txBody>
      </p:sp>
      <p:sp>
        <p:nvSpPr>
          <p:cNvPr id="7" name="Shape 3"/>
          <p:cNvSpPr/>
          <p:nvPr/>
        </p:nvSpPr>
        <p:spPr>
          <a:xfrm>
            <a:off x="3952577" y="1733104"/>
            <a:ext cx="4667845" cy="2682627"/>
          </a:xfrm>
          <a:prstGeom prst="roundRect">
            <a:avLst>
              <a:gd name="adj" fmla="val 8366"/>
            </a:avLst>
          </a:prstGeom>
          <a:solidFill>
            <a:srgbClr val="00002E"/>
          </a:solidFill>
          <a:ln w="14288">
            <a:solidFill>
              <a:srgbClr val="F2B42D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3966865" y="1747391"/>
            <a:ext cx="2319635" cy="1566416"/>
          </a:xfrm>
          <a:prstGeom prst="roundRect">
            <a:avLst>
              <a:gd name="adj" fmla="val 14327"/>
            </a:avLst>
          </a:prstGeom>
          <a:solidFill>
            <a:srgbClr val="00002E"/>
          </a:solidFill>
          <a:ln/>
        </p:spPr>
      </p:sp>
      <p:sp>
        <p:nvSpPr>
          <p:cNvPr id="9" name="Text 5"/>
          <p:cNvSpPr/>
          <p:nvPr/>
        </p:nvSpPr>
        <p:spPr>
          <a:xfrm>
            <a:off x="4116437" y="1896963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🎯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 Tu misión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4116437" y="2206675"/>
            <a:ext cx="2020491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Migra una consulta compleja que ejecutas repetidamente a un procedimiento almacenado con parámetros dinámicos.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6286500" y="1747391"/>
            <a:ext cx="2319635" cy="1566416"/>
          </a:xfrm>
          <a:prstGeom prst="rect">
            <a:avLst/>
          </a:prstGeom>
          <a:solidFill>
            <a:srgbClr val="00002E"/>
          </a:solidFill>
          <a:ln/>
        </p:spPr>
      </p:sp>
      <p:sp>
        <p:nvSpPr>
          <p:cNvPr id="12" name="Shape 8"/>
          <p:cNvSpPr/>
          <p:nvPr/>
        </p:nvSpPr>
        <p:spPr>
          <a:xfrm>
            <a:off x="6286500" y="1747391"/>
            <a:ext cx="19050" cy="1566416"/>
          </a:xfrm>
          <a:prstGeom prst="roundRect">
            <a:avLst>
              <a:gd name="adj" fmla="val 1178055"/>
            </a:avLst>
          </a:prstGeom>
          <a:solidFill>
            <a:srgbClr val="F05B77"/>
          </a:solidFill>
          <a:ln/>
        </p:spPr>
      </p:sp>
      <p:sp>
        <p:nvSpPr>
          <p:cNvPr id="13" name="Text 9"/>
          <p:cNvSpPr/>
          <p:nvPr/>
        </p:nvSpPr>
        <p:spPr>
          <a:xfrm>
            <a:off x="6436072" y="1896963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📊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 Objetivo medible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6436072" y="2206675"/>
            <a:ext cx="2020491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Implementa parámetros de entrada y compara el tiempo de ejecución antes y después de la migración.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3966865" y="3313807"/>
            <a:ext cx="4639270" cy="1087636"/>
          </a:xfrm>
          <a:prstGeom prst="rect">
            <a:avLst/>
          </a:prstGeom>
          <a:solidFill>
            <a:srgbClr val="00002E"/>
          </a:solidFill>
          <a:ln/>
        </p:spPr>
      </p:sp>
      <p:sp>
        <p:nvSpPr>
          <p:cNvPr id="16" name="Shape 12"/>
          <p:cNvSpPr/>
          <p:nvPr/>
        </p:nvSpPr>
        <p:spPr>
          <a:xfrm>
            <a:off x="3966865" y="3313807"/>
            <a:ext cx="4639270" cy="19050"/>
          </a:xfrm>
          <a:prstGeom prst="roundRect">
            <a:avLst>
              <a:gd name="adj" fmla="val 1178055"/>
            </a:avLst>
          </a:prstGeom>
          <a:solidFill>
            <a:srgbClr val="C35E44"/>
          </a:solidFill>
          <a:ln/>
        </p:spPr>
      </p:sp>
      <p:sp>
        <p:nvSpPr>
          <p:cNvPr id="17" name="Text 13"/>
          <p:cNvSpPr/>
          <p:nvPr/>
        </p:nvSpPr>
        <p:spPr>
          <a:xfrm>
            <a:off x="4116437" y="3463379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✅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 Criterio de éxito</a:t>
            </a:r>
            <a:endParaRPr lang="en-US" sz="1350" dirty="0"/>
          </a:p>
        </p:txBody>
      </p:sp>
      <p:sp>
        <p:nvSpPr>
          <p:cNvPr id="18" name="Text 14"/>
          <p:cNvSpPr/>
          <p:nvPr/>
        </p:nvSpPr>
        <p:spPr>
          <a:xfrm>
            <a:off x="4116437" y="3773091"/>
            <a:ext cx="4340126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Reducción visible en el tiempo de respuesta y menor tráfico de red en el perfilador de SQL Server.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0757" y="355402"/>
            <a:ext cx="4616276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Consideraciones de Rendimiento</a:t>
            </a:r>
            <a:endParaRPr lang="en-US" sz="2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0757" y="955402"/>
            <a:ext cx="3725763" cy="3725763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757" y="955402"/>
            <a:ext cx="3725763" cy="372576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722093" y="1972568"/>
            <a:ext cx="2631951" cy="175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Gestión proactiva del ciclo de vida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4722093" y="2242840"/>
            <a:ext cx="3725763" cy="6852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Un procedimiento almacenado bien mantenido es un activo estratégico. Monitoriza su uso en caché, actualiza la lógica sin tocar el código de aplicación y aprovecha las transacciones para garantizar integridad en operaciones críticas.</a:t>
            </a:r>
            <a:endParaRPr lang="en-US" sz="900" dirty="0"/>
          </a:p>
        </p:txBody>
      </p:sp>
      <p:sp>
        <p:nvSpPr>
          <p:cNvPr id="7" name="Shape 3"/>
          <p:cNvSpPr/>
          <p:nvPr/>
        </p:nvSpPr>
        <p:spPr>
          <a:xfrm>
            <a:off x="4722093" y="3034903"/>
            <a:ext cx="3725763" cy="617190"/>
          </a:xfrm>
          <a:prstGeom prst="roundRect">
            <a:avLst>
              <a:gd name="adj" fmla="val 28976"/>
            </a:avLst>
          </a:prstGeom>
          <a:solidFill>
            <a:srgbClr val="483304"/>
          </a:solidFill>
          <a:ln/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1304" y="3203377"/>
            <a:ext cx="148977" cy="119211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109493" y="3159621"/>
            <a:ext cx="3219152" cy="3473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Usa </a:t>
            </a:r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  <a:highlight>
                  <a:srgbClr val="0D0D3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sys.dm_exec_procedure_stats</a:t>
            </a:r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para auditar el rendimiento de tus procedimientos.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1244650"/>
            <a:ext cx="589210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Conclusiones: El valor del experto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577" y="1983879"/>
            <a:ext cx="1132656" cy="70001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577" y="2870895"/>
            <a:ext cx="253357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Espina dorsal de la arquitectura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523577" y="3180606"/>
            <a:ext cx="2574280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Los procedimientos almacenados son el núcleo de una arquitectura SQL Server robusta y escalable.</a:t>
            </a:r>
            <a:endParaRPr lang="en-US" sz="11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4860" y="1983879"/>
            <a:ext cx="1132656" cy="70001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284860" y="2870895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Equilibrio en el uso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284860" y="3180606"/>
            <a:ext cx="2574280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Úsalos para lógica de negocio crítica, no para consultas simples que pueden resolverse directamente.</a:t>
            </a:r>
            <a:endParaRPr lang="en-US" sz="11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6143" y="1983879"/>
            <a:ext cx="1132656" cy="70001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046143" y="2870895"/>
            <a:ext cx="2384375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Código limpio y documentado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046143" y="3180606"/>
            <a:ext cx="2574280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Mantén tu base de código documentada y versionada para asegurar el éxito a largo plazo.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7281" y="428551"/>
            <a:ext cx="4700439" cy="1176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Es momento de construir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07281" y="1815629"/>
            <a:ext cx="4700439" cy="4566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Tu próximo sistema no solo debe </a:t>
            </a:r>
            <a:pPr algn="l" indent="0" marL="0">
              <a:lnSpc>
                <a:spcPct val="131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almacenar datos</a:t>
            </a:r>
            <a:pPr algn="l" indent="0" marL="0">
              <a:lnSpc>
                <a:spcPct val="131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, debe </a:t>
            </a:r>
            <a:pPr algn="l" indent="0" marL="0">
              <a:lnSpc>
                <a:spcPct val="131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procesarlos con eficiencia</a:t>
            </a:r>
            <a:pPr algn="l" indent="0" marL="0">
              <a:lnSpc>
                <a:spcPct val="131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507281" y="2430140"/>
            <a:ext cx="2280047" cy="1300535"/>
          </a:xfrm>
          <a:prstGeom prst="roundRect">
            <a:avLst>
              <a:gd name="adj" fmla="val 16717"/>
            </a:avLst>
          </a:prstGeom>
          <a:solidFill>
            <a:srgbClr val="00002E"/>
          </a:solidFill>
          <a:ln w="14288">
            <a:solidFill>
              <a:srgbClr val="F2B42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66452" y="2589312"/>
            <a:ext cx="1705124" cy="213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Empieza hoy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66452" y="2886596"/>
            <a:ext cx="1961704" cy="6849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Crea tu primer procedimiento almacenado y centraliza el poder de tus datos.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927672" y="2430140"/>
            <a:ext cx="2280047" cy="1300535"/>
          </a:xfrm>
          <a:prstGeom prst="roundRect">
            <a:avLst>
              <a:gd name="adj" fmla="val 16717"/>
            </a:avLst>
          </a:prstGeom>
          <a:solidFill>
            <a:srgbClr val="00002E"/>
          </a:solidFill>
          <a:ln w="14288">
            <a:solidFill>
              <a:srgbClr val="D7425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086844" y="2589312"/>
            <a:ext cx="1705124" cy="213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Mide el impacto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086844" y="2886596"/>
            <a:ext cx="1961704" cy="6849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Compara el rendimiento antes y después. Los números hablarán por ti.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07281" y="3871020"/>
            <a:ext cx="4700439" cy="843930"/>
          </a:xfrm>
          <a:prstGeom prst="roundRect">
            <a:avLst>
              <a:gd name="adj" fmla="val 25761"/>
            </a:avLst>
          </a:prstGeom>
          <a:solidFill>
            <a:srgbClr val="00002E"/>
          </a:solidFill>
          <a:ln w="14288">
            <a:solidFill>
              <a:srgbClr val="DD785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66452" y="4030191"/>
            <a:ext cx="1705124" cy="213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Itera y mejora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66452" y="4327475"/>
            <a:ext cx="4382095" cy="228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Aplica las buenas prácticas desde el primer día y escala con confianza.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2026-05-28T19:10:56Z</dcterms:created>
  <dcterms:modified xsi:type="dcterms:W3CDTF">2026-05-28T19:10:56Z</dcterms:modified>
</cp:coreProperties>
</file>
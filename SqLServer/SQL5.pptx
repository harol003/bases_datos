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unito SemiBold"/>
      <p:regular r:id="rId17"/>
    </p:embeddedFont>
    <p:embeddedFont>
      <p:font typeface="Nunito Bold"/>
      <p:regular r:id="rId18"/>
    </p:embeddedFont>
    <p:embeddedFont>
      <p:font typeface="PT Sans"/>
      <p:regular r:id="rId19"/>
    </p:embeddedFont>
    <p:embeddedFont>
      <p:font typeface="PT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89986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SQL Server: Automatización y Control Estratégico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3004245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Dominando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Vistas y Triggers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optimizar tu arquitectura de datos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982" y="381000"/>
            <a:ext cx="515764" cy="230014"/>
          </a:xfrm>
          <a:prstGeom prst="roundRect">
            <a:avLst>
              <a:gd name="adj" fmla="val 67078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527075" y="419546"/>
            <a:ext cx="818778" cy="1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PARTE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982" y="655141"/>
            <a:ext cx="5209729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Vistas — El Arte de la Abstracción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982" y="1493490"/>
            <a:ext cx="5248870" cy="297433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2908" y="1323231"/>
            <a:ext cx="2695873" cy="9676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2859" y="1466031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¿Qué son?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202859" y="1765548"/>
            <a:ext cx="2353121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Tablas virtuales que encapsulan consultas complejas bajo un nombre simple.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2908" y="2401267"/>
            <a:ext cx="2695873" cy="9676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02859" y="2544068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¿Para qué sirven?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202859" y="2843585"/>
            <a:ext cx="2353121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Seguridad (ocultan columnas), abstracción de lógica y legibilidad del código.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2908" y="3479304"/>
            <a:ext cx="2695873" cy="11588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2859" y="3622104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¿Cómo funcionan?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202859" y="3921621"/>
            <a:ext cx="2353121" cy="573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 ejecutan como un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cada vez que se invocan, reflejando datos en tiempo real.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095" y="415156"/>
            <a:ext cx="1131019" cy="263649"/>
          </a:xfrm>
          <a:prstGeom prst="roundRect">
            <a:avLst>
              <a:gd name="adj" fmla="val 64905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584597" y="457870"/>
            <a:ext cx="1417216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EJEMPLO PRÁCTICO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9095" y="733127"/>
            <a:ext cx="5176093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Aplicación de Vistas en Código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9095" y="1492225"/>
            <a:ext cx="21347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Escenario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9095" y="1837730"/>
            <a:ext cx="4323680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Ocultar columnas sensibles (salario, DNI) de la tabla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Empleados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exponiendo solo datos seguros a usuarios estándar.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9095" y="2436019"/>
            <a:ext cx="4323680" cy="1176040"/>
          </a:xfrm>
          <a:prstGeom prst="roundRect">
            <a:avLst>
              <a:gd name="adj" fmla="val 18188"/>
            </a:avLst>
          </a:prstGeom>
          <a:solidFill>
            <a:srgbClr val="0D0D3B"/>
          </a:solidFill>
          <a:ln/>
        </p:spPr>
      </p:sp>
      <p:sp>
        <p:nvSpPr>
          <p:cNvPr id="8" name="Shape 6"/>
          <p:cNvSpPr/>
          <p:nvPr/>
        </p:nvSpPr>
        <p:spPr>
          <a:xfrm>
            <a:off x="492026" y="2436019"/>
            <a:ext cx="4337819" cy="1176040"/>
          </a:xfrm>
          <a:prstGeom prst="roundRect">
            <a:avLst>
              <a:gd name="adj" fmla="val 1819"/>
            </a:avLst>
          </a:prstGeom>
          <a:solidFill>
            <a:srgbClr val="0D0D3B"/>
          </a:solidFill>
          <a:ln/>
        </p:spPr>
      </p:sp>
      <p:sp>
        <p:nvSpPr>
          <p:cNvPr id="9" name="Text 7"/>
          <p:cNvSpPr/>
          <p:nvPr/>
        </p:nvSpPr>
        <p:spPr>
          <a:xfrm>
            <a:off x="670247" y="2578596"/>
            <a:ext cx="3981376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VistaEmpleados AS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Nombre, Puesto, Departamento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Empleados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Activo = 1;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9095" y="3764905"/>
            <a:ext cx="4323680" cy="810518"/>
          </a:xfrm>
          <a:prstGeom prst="roundRect">
            <a:avLst>
              <a:gd name="adj" fmla="val 26391"/>
            </a:avLst>
          </a:prstGeom>
          <a:solidFill>
            <a:srgbClr val="02234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672" y="3980259"/>
            <a:ext cx="178222" cy="14257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2471" y="3936429"/>
            <a:ext cx="3717727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Los usuarios consultan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VistaEmpleados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sin acceso directo a la tabla original.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72732" y="1356345"/>
            <a:ext cx="3679552" cy="3371924"/>
          </a:xfrm>
          <a:prstGeom prst="roundRect">
            <a:avLst>
              <a:gd name="adj" fmla="val 10150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215310" y="1492225"/>
            <a:ext cx="21347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Beneficios inmediatos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15310" y="1837730"/>
            <a:ext cx="3394397" cy="1256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Las columnas sensibles quedan inaccesibles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Solo empleados activos son visibles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 la tabla cambia, la vista se adapta con 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highlight>
                  <a:srgbClr val="E5A7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VIEW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Reducción de errores en consultas repetitivas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9095" y="436141"/>
            <a:ext cx="1621706" cy="282699"/>
          </a:xfrm>
          <a:prstGeom prst="roundRect">
            <a:avLst>
              <a:gd name="adj" fmla="val 60531"/>
            </a:avLst>
          </a:prstGeom>
          <a:noFill/>
          <a:ln w="9525">
            <a:solidFill>
              <a:srgbClr val="F2B4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122" y="488379"/>
            <a:ext cx="1888852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CONSIDERACIONES CRÍTICAS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9095" y="773162"/>
            <a:ext cx="4716810" cy="838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 Que Debes Tener en Cuenta con las Vistas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99095" y="1815778"/>
            <a:ext cx="2290465" cy="1705347"/>
          </a:xfrm>
          <a:prstGeom prst="roundRect">
            <a:avLst>
              <a:gd name="adj" fmla="val 12543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5960" y="1972642"/>
            <a:ext cx="1976735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Sin almacenamiento físico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5960" y="2473375"/>
            <a:ext cx="1976735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Son reflejos dinámicos de la tabla base. No ocupan espacio, pero dependen de la tabla original.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5440" y="1815778"/>
            <a:ext cx="2290465" cy="1705347"/>
          </a:xfrm>
          <a:prstGeom prst="roundRect">
            <a:avLst>
              <a:gd name="adj" fmla="val 12543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82305" y="1972642"/>
            <a:ext cx="1804095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Impacto en rendimiento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82305" y="2263750"/>
            <a:ext cx="1976735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Consultas complejas sobre vistas anidadas pueden degradar la velocidad. Analiza el plan de ejecución.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9095" y="3657005"/>
            <a:ext cx="4716810" cy="1050280"/>
          </a:xfrm>
          <a:prstGeom prst="roundRect">
            <a:avLst>
              <a:gd name="adj" fmla="val 20366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5960" y="3813870"/>
            <a:ext cx="1713533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Mantenimiento seguro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5960" y="4104977"/>
            <a:ext cx="4403080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Usa siempre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VIEW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 lugar de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 + CREATE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preservar permisos asignados.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8167" y="378842"/>
            <a:ext cx="525363" cy="235446"/>
          </a:xfrm>
          <a:prstGeom prst="roundRect">
            <a:avLst>
              <a:gd name="adj" fmla="val 66722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536674" y="418058"/>
            <a:ext cx="825550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PARTE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8167" y="660053"/>
            <a:ext cx="5804669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Triggers — La Inteligencia Automática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167" y="1507108"/>
            <a:ext cx="5236146" cy="2967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18461" y="1345555"/>
            <a:ext cx="294531" cy="294531"/>
          </a:xfrm>
          <a:prstGeom prst="roundRect">
            <a:avLst>
              <a:gd name="adj" fmla="val 66671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7515" y="1390501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¿Qué son?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27515" y="1697534"/>
            <a:ext cx="2263006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Procedimientos almacenados que se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disparan automáticamente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ante eventos específicos en la base de datos.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18461" y="2515493"/>
            <a:ext cx="294531" cy="294531"/>
          </a:xfrm>
          <a:prstGeom prst="roundRect">
            <a:avLst>
              <a:gd name="adj" fmla="val 66671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7515" y="2560439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¿Para qué sirven?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27515" y="2867471"/>
            <a:ext cx="2263006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Auditoría de cambios, integridad referencial avanzada y automatización de reglas de negocio.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18461" y="3685431"/>
            <a:ext cx="294531" cy="294531"/>
          </a:xfrm>
          <a:prstGeom prst="roundRect">
            <a:avLst>
              <a:gd name="adj" fmla="val 66671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7515" y="373037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¿Cómo funcionan?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27515" y="4037409"/>
            <a:ext cx="2263006" cy="59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 ejecutan tras eventos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(DML) o cambios de esquema (DDL).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33326"/>
            <a:ext cx="406256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Tipos de Disparadores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872555"/>
            <a:ext cx="1493044" cy="9227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98229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DML Triggers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3292004"/>
            <a:ext cx="2574280" cy="488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Responden a cambios en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datos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sobre tablas o vistas.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60" y="1872555"/>
            <a:ext cx="1493044" cy="9227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860" y="298229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DDL Triggers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84860" y="3292004"/>
            <a:ext cx="2574280" cy="48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Reaccionan a cambios en la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estructura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de objetos.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3" y="1872555"/>
            <a:ext cx="1493044" cy="9227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6143" y="298229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Logon Triggers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143" y="3292004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 activan cuando un usuario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inicia sesión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 el servidor. Ideales para auditoría de acceso.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8167" y="406301"/>
            <a:ext cx="1038746" cy="235446"/>
          </a:xfrm>
          <a:prstGeom prst="roundRect">
            <a:avLst>
              <a:gd name="adj" fmla="val 66722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536674" y="445517"/>
            <a:ext cx="1338932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EJEMPLO PRÁCTICO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8167" y="687512"/>
            <a:ext cx="6721078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Aplicación de Triggers: Auditoría Automática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8167" y="1358726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Escenario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8167" y="1665759"/>
            <a:ext cx="4808786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Registrar automáticamente cada modificación en una tabla de auditoría sin intervención del usuario.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8167" y="2187178"/>
            <a:ext cx="4808786" cy="2421136"/>
          </a:xfrm>
          <a:prstGeom prst="roundRect">
            <a:avLst>
              <a:gd name="adj" fmla="val 8111"/>
            </a:avLst>
          </a:prstGeom>
          <a:solidFill>
            <a:srgbClr val="0D0D3B"/>
          </a:solidFill>
          <a:ln/>
        </p:spPr>
      </p:sp>
      <p:sp>
        <p:nvSpPr>
          <p:cNvPr id="8" name="Shape 6"/>
          <p:cNvSpPr/>
          <p:nvPr/>
        </p:nvSpPr>
        <p:spPr>
          <a:xfrm>
            <a:off x="451693" y="2187178"/>
            <a:ext cx="4821734" cy="2421136"/>
          </a:xfrm>
          <a:prstGeom prst="roundRect">
            <a:avLst>
              <a:gd name="adj" fmla="val 811"/>
            </a:avLst>
          </a:prstGeom>
          <a:solidFill>
            <a:srgbClr val="0D0D3B"/>
          </a:solidFill>
          <a:ln/>
        </p:spPr>
      </p:sp>
      <p:sp>
        <p:nvSpPr>
          <p:cNvPr id="9" name="Text 7"/>
          <p:cNvSpPr/>
          <p:nvPr/>
        </p:nvSpPr>
        <p:spPr>
          <a:xfrm>
            <a:off x="615330" y="2318072"/>
            <a:ext cx="4494461" cy="215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AuditoriaCambios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 Ventas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AFTER UPDATE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LogAuditoria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(Tabla, Usuario, Fecha)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 ('Ventas',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SYSTEM_USER,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GETDATE());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96818" y="1244203"/>
            <a:ext cx="3287985" cy="3492922"/>
          </a:xfrm>
          <a:prstGeom prst="roundRect">
            <a:avLst>
              <a:gd name="adj" fmla="val 9556"/>
            </a:avLst>
          </a:prstGeom>
          <a:solidFill>
            <a:srgbClr val="48A8E2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7712" y="1358726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Claves del ejemplo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7712" y="1665759"/>
            <a:ext cx="3026197" cy="1316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highlight>
                  <a:srgbClr val="3B9B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AFTER UPDATE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se ejecuta tras confirmar el cambio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highlight>
                  <a:srgbClr val="3B9B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SYSTEM_USER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captura quién hizo el cambio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highlight>
                  <a:srgbClr val="3B9B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GETDATE()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registra el momento exacto</a:t>
            </a:r>
            <a:endParaRPr lang="en-US" sz="10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También existe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highlight>
                  <a:srgbClr val="3B9B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INSTEAD OF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interceptar la acción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8126" y="298624"/>
            <a:ext cx="746373" cy="196751"/>
          </a:xfrm>
          <a:prstGeom prst="roundRect">
            <a:avLst>
              <a:gd name="adj" fmla="val 64160"/>
            </a:avLst>
          </a:prstGeom>
          <a:noFill/>
          <a:ln w="9525">
            <a:solidFill>
              <a:srgbClr val="F2B4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40754" y="339700"/>
            <a:ext cx="1058317" cy="114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BEST PRACTICES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68126" y="524917"/>
            <a:ext cx="4679082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Qué Tener en Cuenta con los Triggers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368126" y="1102891"/>
            <a:ext cx="4978747" cy="724719"/>
          </a:xfrm>
          <a:prstGeom prst="roundRect">
            <a:avLst>
              <a:gd name="adj" fmla="val 9463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8126" y="1088603"/>
            <a:ext cx="4978747" cy="57150"/>
          </a:xfrm>
          <a:prstGeom prst="roundRect">
            <a:avLst>
              <a:gd name="adj" fmla="val 276107"/>
            </a:avLst>
          </a:prstGeom>
          <a:solidFill>
            <a:srgbClr val="F2B42D"/>
          </a:solidFill>
          <a:ln/>
        </p:spPr>
      </p:sp>
      <p:sp>
        <p:nvSpPr>
          <p:cNvPr id="8" name="Shape 5"/>
          <p:cNvSpPr/>
          <p:nvPr/>
        </p:nvSpPr>
        <p:spPr>
          <a:xfrm>
            <a:off x="2699705" y="945133"/>
            <a:ext cx="315590" cy="315590"/>
          </a:xfrm>
          <a:prstGeom prst="roundRect">
            <a:avLst>
              <a:gd name="adj" fmla="val 181089"/>
            </a:avLst>
          </a:prstGeom>
          <a:solidFill>
            <a:srgbClr val="F2B42D"/>
          </a:solidFill>
          <a:ln/>
        </p:spPr>
      </p:sp>
      <p:sp>
        <p:nvSpPr>
          <p:cNvPr id="9" name="Text 6"/>
          <p:cNvSpPr/>
          <p:nvPr/>
        </p:nvSpPr>
        <p:spPr>
          <a:xfrm>
            <a:off x="2794360" y="1024012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87561" y="1365870"/>
            <a:ext cx="1687934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Precaución con el rendimiento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7561" y="1564853"/>
            <a:ext cx="4739878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uso excesivo degrada severamente el sistema. Cada trigger añade latencia a cada operación.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68126" y="2059260"/>
            <a:ext cx="4978747" cy="724719"/>
          </a:xfrm>
          <a:prstGeom prst="roundRect">
            <a:avLst>
              <a:gd name="adj" fmla="val 9463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8126" y="2044973"/>
            <a:ext cx="4978747" cy="57150"/>
          </a:xfrm>
          <a:prstGeom prst="roundRect">
            <a:avLst>
              <a:gd name="adj" fmla="val 276107"/>
            </a:avLst>
          </a:prstGeom>
          <a:solidFill>
            <a:srgbClr val="D7425E"/>
          </a:solidFill>
          <a:ln/>
        </p:spPr>
      </p:sp>
      <p:sp>
        <p:nvSpPr>
          <p:cNvPr id="14" name="Shape 11"/>
          <p:cNvSpPr/>
          <p:nvPr/>
        </p:nvSpPr>
        <p:spPr>
          <a:xfrm>
            <a:off x="2699705" y="1901503"/>
            <a:ext cx="315590" cy="315590"/>
          </a:xfrm>
          <a:prstGeom prst="roundRect">
            <a:avLst>
              <a:gd name="adj" fmla="val 181089"/>
            </a:avLst>
          </a:prstGeom>
          <a:solidFill>
            <a:srgbClr val="F2B42D"/>
          </a:solidFill>
          <a:ln/>
        </p:spPr>
      </p:sp>
      <p:sp>
        <p:nvSpPr>
          <p:cNvPr id="15" name="Text 12"/>
          <p:cNvSpPr/>
          <p:nvPr/>
        </p:nvSpPr>
        <p:spPr>
          <a:xfrm>
            <a:off x="2794360" y="1980381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7561" y="2322240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Mantén la simplicidad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7561" y="2521223"/>
            <a:ext cx="4739878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Deben ser </a:t>
            </a:r>
            <a:pPr algn="l" indent="0" marL="0">
              <a:lnSpc>
                <a:spcPct val="11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cortos, rápidos y enfocados</a:t>
            </a:r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 una sola tarea. Evita lógica compleja dentro de ellos.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68126" y="3015630"/>
            <a:ext cx="4978747" cy="729481"/>
          </a:xfrm>
          <a:prstGeom prst="roundRect">
            <a:avLst>
              <a:gd name="adj" fmla="val 9401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8126" y="3001342"/>
            <a:ext cx="4978747" cy="57150"/>
          </a:xfrm>
          <a:prstGeom prst="roundRect">
            <a:avLst>
              <a:gd name="adj" fmla="val 276107"/>
            </a:avLst>
          </a:prstGeom>
          <a:solidFill>
            <a:srgbClr val="DD785E"/>
          </a:solidFill>
          <a:ln/>
        </p:spPr>
      </p:sp>
      <p:sp>
        <p:nvSpPr>
          <p:cNvPr id="20" name="Shape 17"/>
          <p:cNvSpPr/>
          <p:nvPr/>
        </p:nvSpPr>
        <p:spPr>
          <a:xfrm>
            <a:off x="2699705" y="2857872"/>
            <a:ext cx="315590" cy="315590"/>
          </a:xfrm>
          <a:prstGeom prst="roundRect">
            <a:avLst>
              <a:gd name="adj" fmla="val 181089"/>
            </a:avLst>
          </a:prstGeom>
          <a:solidFill>
            <a:srgbClr val="F2B42D"/>
          </a:solidFill>
          <a:ln/>
        </p:spPr>
      </p:sp>
      <p:sp>
        <p:nvSpPr>
          <p:cNvPr id="21" name="Text 18"/>
          <p:cNvSpPr/>
          <p:nvPr/>
        </p:nvSpPr>
        <p:spPr>
          <a:xfrm>
            <a:off x="2794360" y="2936751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87561" y="3278609"/>
            <a:ext cx="133670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Controla la recursividad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7561" y="3477592"/>
            <a:ext cx="4739878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trigger que modifica la misma tabla puede llamarse a sí mismo. Usa </a:t>
            </a:r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RECURSIVE_TRIGGERS OFF</a:t>
            </a:r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68126" y="3976762"/>
            <a:ext cx="4978747" cy="868040"/>
          </a:xfrm>
          <a:prstGeom prst="roundRect">
            <a:avLst>
              <a:gd name="adj" fmla="val 7901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8126" y="3962474"/>
            <a:ext cx="4978747" cy="57150"/>
          </a:xfrm>
          <a:prstGeom prst="roundRect">
            <a:avLst>
              <a:gd name="adj" fmla="val 276107"/>
            </a:avLst>
          </a:prstGeom>
          <a:solidFill>
            <a:srgbClr val="48A8E2"/>
          </a:solidFill>
          <a:ln/>
        </p:spPr>
      </p:sp>
      <p:sp>
        <p:nvSpPr>
          <p:cNvPr id="26" name="Shape 23"/>
          <p:cNvSpPr/>
          <p:nvPr/>
        </p:nvSpPr>
        <p:spPr>
          <a:xfrm>
            <a:off x="2699705" y="3819004"/>
            <a:ext cx="315590" cy="315590"/>
          </a:xfrm>
          <a:prstGeom prst="roundRect">
            <a:avLst>
              <a:gd name="adj" fmla="val 181089"/>
            </a:avLst>
          </a:prstGeom>
          <a:solidFill>
            <a:srgbClr val="F2B42D"/>
          </a:solidFill>
          <a:ln/>
        </p:spPr>
      </p:sp>
      <p:sp>
        <p:nvSpPr>
          <p:cNvPr id="27" name="Text 24"/>
          <p:cNvSpPr/>
          <p:nvPr/>
        </p:nvSpPr>
        <p:spPr>
          <a:xfrm>
            <a:off x="2794360" y="3897883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87561" y="4239741"/>
            <a:ext cx="1237580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Documenta siempre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87561" y="4438724"/>
            <a:ext cx="4739878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Los triggers son invisibles para el desarrollador. Añade comentarios explicando cuándo y por qué se disparan.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681261"/>
            <a:ext cx="1132284" cy="285899"/>
          </a:xfrm>
          <a:prstGeom prst="roundRect">
            <a:avLst>
              <a:gd name="adj" fmla="val 62797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726132"/>
            <a:ext cx="1409998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🏆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EL RETO FINAL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1026988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 Guardián de Datos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15900" y="1691357"/>
            <a:ext cx="4081314" cy="2770882"/>
          </a:xfrm>
          <a:prstGeom prst="roundRect">
            <a:avLst>
              <a:gd name="adj" fmla="val 12959"/>
            </a:avLst>
          </a:prstGeom>
          <a:solidFill>
            <a:srgbClr val="D7425E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65472" y="1840929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Objetivo del reto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5472" y="2210470"/>
            <a:ext cx="3782169" cy="722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 un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trigger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que impida borrar registros de la tabla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E44F6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Ventas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si el usuario no tiene rol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E44F6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y una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vista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que solo muestre las ventas del mes actual.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5472" y="3101653"/>
            <a:ext cx="3782169" cy="884634"/>
          </a:xfrm>
          <a:prstGeom prst="roundRect">
            <a:avLst>
              <a:gd name="adj" fmla="val 25369"/>
            </a:avLst>
          </a:prstGeom>
          <a:solidFill>
            <a:srgbClr val="4B3F0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45" y="3329136"/>
            <a:ext cx="187003" cy="1495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620" y="3288581"/>
            <a:ext cx="3146450" cy="488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Pista: usa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E44F6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SYSTEM_USER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validar el rol y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E44F6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MONTH(GETDATE())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filtrar el mes.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59226" y="1840929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Requisitos técnicos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59226" y="2210470"/>
            <a:ext cx="3865959" cy="1119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Trigger tipo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INSTEAD OF DELETE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con validación de rol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Mensaje de error claro si el usuario no es admin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Vista con filtro dinámico por mes actual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Prueba con usuario estándar y admin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59226" y="3479304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Entregable esperado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759226" y="3848844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Script SQL completo con ambos objetos y comentarios explicativos.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9095" y="408384"/>
            <a:ext cx="3812456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99095" y="1031602"/>
            <a:ext cx="4716810" cy="2740149"/>
          </a:xfrm>
          <a:prstGeom prst="roundRect">
            <a:avLst>
              <a:gd name="adj" fmla="val 7806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3383" y="1045890"/>
            <a:ext cx="2344117" cy="1689869"/>
          </a:xfrm>
          <a:prstGeom prst="roundRect">
            <a:avLst>
              <a:gd name="adj" fmla="val 12658"/>
            </a:avLst>
          </a:prstGeom>
          <a:solidFill>
            <a:srgbClr val="00002E"/>
          </a:solidFill>
          <a:ln/>
        </p:spPr>
      </p:sp>
      <p:sp>
        <p:nvSpPr>
          <p:cNvPr id="6" name="Text 3"/>
          <p:cNvSpPr/>
          <p:nvPr/>
        </p:nvSpPr>
        <p:spPr>
          <a:xfrm>
            <a:off x="655960" y="1188467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Vistas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5960" y="1479575"/>
            <a:ext cx="2058963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Tu herramienta para </a:t>
            </a:r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simplificar el acceso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proteger información sensible y abstraer la complejidad de las consultas.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57500" y="1045890"/>
            <a:ext cx="2344117" cy="1689869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045890"/>
            <a:ext cx="19050" cy="1689869"/>
          </a:xfrm>
          <a:prstGeom prst="roundRect">
            <a:avLst>
              <a:gd name="adj" fmla="val 1122834"/>
            </a:avLst>
          </a:prstGeom>
          <a:solidFill>
            <a:srgbClr val="F05B77"/>
          </a:solidFill>
          <a:ln/>
        </p:spPr>
      </p:sp>
      <p:sp>
        <p:nvSpPr>
          <p:cNvPr id="10" name="Text 7"/>
          <p:cNvSpPr/>
          <p:nvPr/>
        </p:nvSpPr>
        <p:spPr>
          <a:xfrm>
            <a:off x="3000077" y="1188467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Triggers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00077" y="1479575"/>
            <a:ext cx="2058963" cy="11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Tu motor de </a:t>
            </a:r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reglas de negocio automatizado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Garantizan auditoría, integridad y consistencia sin depender del código de aplicación.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13383" y="2735759"/>
            <a:ext cx="4688235" cy="1021705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513383" y="2735759"/>
            <a:ext cx="4688235" cy="19050"/>
          </a:xfrm>
          <a:prstGeom prst="roundRect">
            <a:avLst>
              <a:gd name="adj" fmla="val 1122834"/>
            </a:avLst>
          </a:prstGeom>
          <a:solidFill>
            <a:srgbClr val="C35E44"/>
          </a:solidFill>
          <a:ln/>
        </p:spPr>
      </p:sp>
      <p:sp>
        <p:nvSpPr>
          <p:cNvPr id="14" name="Text 11"/>
          <p:cNvSpPr/>
          <p:nvPr/>
        </p:nvSpPr>
        <p:spPr>
          <a:xfrm>
            <a:off x="655960" y="2878336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 Futuro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5960" y="3169444"/>
            <a:ext cx="4403080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Ambos pilares son </a:t>
            </a:r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esenciales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una base de datos robusta, eficiente y mantenible a largo plazo.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9095" y="3924598"/>
            <a:ext cx="4716810" cy="810518"/>
          </a:xfrm>
          <a:prstGeom prst="roundRect">
            <a:avLst>
              <a:gd name="adj" fmla="val 26391"/>
            </a:avLst>
          </a:prstGeom>
          <a:solidFill>
            <a:srgbClr val="183A1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72" y="4139952"/>
            <a:ext cx="178222" cy="14257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2471" y="4096122"/>
            <a:ext cx="4110856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Recuerda: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Usa vistas para simplificar y triggers para automatizar, pero siempre con moderación y documentación clara.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2026-05-28T19:16:42Z</dcterms:created>
  <dcterms:modified xsi:type="dcterms:W3CDTF">2026-05-28T19:16:42Z</dcterms:modified>
</cp:coreProperties>
</file>
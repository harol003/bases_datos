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a Sans Semi Bold"/>
      <p:regular r:id="rId17"/>
    </p:embeddedFont>
    <p:embeddedFont>
      <p:font typeface="Mona Sans Semi Bold"/>
      <p:regular r:id="rId18"/>
    </p:embeddedFont>
    <p:embeddedFont>
      <p:font typeface="Mona Sans Semi Bold"/>
      <p:regular r:id="rId19"/>
    </p:embeddedFont>
    <p:embeddedFont>
      <p:font typeface="Mona Sans Semi Bold"/>
      <p:regular r:id="rId20"/>
    </p:embeddedFont>
    <p:embeddedFont>
      <p:font typeface="Funnel Sans"/>
      <p:regular r:id="rId21"/>
    </p:embeddedFont>
    <p:embeddedFont>
      <p:font typeface="Funn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El Corazón de los Datos: Dominando SQL Server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Una introducción completa a las bases de datos, su administración y los componentes del motor SQL Server.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76" y="603528"/>
            <a:ext cx="5266730" cy="7022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9025" y="924997"/>
            <a:ext cx="7488912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¿Qué es una Base de Datos?</a:t>
            </a:r>
            <a:endParaRPr lang="en-US" sz="4300" dirty="0"/>
          </a:p>
        </p:txBody>
      </p:sp>
      <p:sp>
        <p:nvSpPr>
          <p:cNvPr id="5" name="Shape 2"/>
          <p:cNvSpPr/>
          <p:nvPr/>
        </p:nvSpPr>
        <p:spPr>
          <a:xfrm>
            <a:off x="769025" y="1930837"/>
            <a:ext cx="1540431" cy="408384"/>
          </a:xfrm>
          <a:prstGeom prst="roundRect">
            <a:avLst>
              <a:gd name="adj" fmla="val 18079"/>
            </a:avLst>
          </a:prstGeom>
          <a:solidFill>
            <a:srgbClr val="E2E4E9"/>
          </a:solidFill>
          <a:ln/>
        </p:spPr>
      </p:sp>
      <p:sp>
        <p:nvSpPr>
          <p:cNvPr id="6" name="Text 3"/>
          <p:cNvSpPr/>
          <p:nvPr/>
        </p:nvSpPr>
        <p:spPr>
          <a:xfrm>
            <a:off x="900827" y="1996678"/>
            <a:ext cx="1276826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FUNDAMENTOS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9025" y="2578656"/>
            <a:ext cx="7605951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Una base de datos es una </a:t>
            </a:r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colección organizada de datos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estructurada para ser fácilmente accesible, gestionable y actualizable. Piensa en ella como una biblioteca digital donde cada dato está catalogado y puede encontrarse de forma rápida y eficiente.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69025" y="4202549"/>
            <a:ext cx="3696533" cy="1617702"/>
          </a:xfrm>
          <a:prstGeom prst="roundRect">
            <a:avLst>
              <a:gd name="adj" fmla="val 5705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315" y="442983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Organizada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996315" y="4900732"/>
            <a:ext cx="324195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Datos estructurados con relaciones claras entre sí.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678323" y="4202549"/>
            <a:ext cx="3696653" cy="1617702"/>
          </a:xfrm>
          <a:prstGeom prst="roundRect">
            <a:avLst>
              <a:gd name="adj" fmla="val 5705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05613" y="442983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Accesible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4905613" y="4900732"/>
            <a:ext cx="324207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Recuperación rápida mediante consultas precisas.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69025" y="6033016"/>
            <a:ext cx="7605951" cy="1271588"/>
          </a:xfrm>
          <a:prstGeom prst="roundRect">
            <a:avLst>
              <a:gd name="adj" fmla="val 7258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315" y="626030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Actualizable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996315" y="6731198"/>
            <a:ext cx="7151370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Permite insertar, modificar y eliminar información.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22571"/>
            <a:ext cx="192464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373B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598176"/>
            <a:ext cx="16372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CONCEPTOS CLAVE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54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Datos vs. Metadatos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1037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 materia prima y el mapa que la describe. Ambos son indispensables en cualquier sistema de bases de datos.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30436" y="3721775"/>
            <a:ext cx="6571417" cy="2985135"/>
          </a:xfrm>
          <a:prstGeom prst="roundRect">
            <a:avLst>
              <a:gd name="adj" fmla="val 5471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57250" y="39485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7250" y="4529733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 información cruda que almacenamos: nombres, fechas, cantidades, precios. Son los hechos concretos del negocio.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57250" y="5459611"/>
            <a:ext cx="6117788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'Juan García', '2024-01-15', 299.99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Registros de ventas, clientes, inventarios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9485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Metadatos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452973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"Datos sobre datos."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Describen la estructura, el tipo y las relaciones. En SQL Server incluyen información sobre tablas, columnas, índices, tipos de dato y restricciones.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822513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Nombre de columna: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Tipo: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Restricciones: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2228" y="536019"/>
            <a:ext cx="2009537" cy="348853"/>
          </a:xfrm>
          <a:prstGeom prst="roundRect">
            <a:avLst>
              <a:gd name="adj" fmla="val 18775"/>
            </a:avLst>
          </a:prstGeom>
          <a:solidFill>
            <a:srgbClr val="E2E4E9"/>
          </a:solidFill>
          <a:ln/>
        </p:spPr>
      </p:sp>
      <p:sp>
        <p:nvSpPr>
          <p:cNvPr id="3" name="Text 1"/>
          <p:cNvSpPr/>
          <p:nvPr/>
        </p:nvSpPr>
        <p:spPr>
          <a:xfrm>
            <a:off x="799148" y="594479"/>
            <a:ext cx="1775698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COMPONENTE CENTRAL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2228" y="951786"/>
            <a:ext cx="8421886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Metabase: El Cerebro de SQL Server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228" y="2000488"/>
            <a:ext cx="4333875" cy="4333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99259" y="3649861"/>
            <a:ext cx="256127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¿Qué es la Metabase?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99259" y="4121825"/>
            <a:ext cx="845641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Metabase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(o Motor de Base de Datos) es el componente central de SQL Server. Es el software que gestiona la creación, el acceso y la manipulación de las bases de datos.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33" y="6717209"/>
            <a:ext cx="292298" cy="2922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5641" y="6711077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Ejecuta consultas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315641" y="7116128"/>
            <a:ext cx="364902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Procesa e interpreta cada instrucción SQL enviada.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7084" y="6717209"/>
            <a:ext cx="292298" cy="2922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07393" y="6711077"/>
            <a:ext cx="244685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Garantiza integridad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5807393" y="7116128"/>
            <a:ext cx="364902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Aplica reglas y restricciones sobre los datos.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38836" y="6717209"/>
            <a:ext cx="292298" cy="2922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99144" y="6711077"/>
            <a:ext cx="269093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Gestiona concurrencia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10299144" y="7116128"/>
            <a:ext cx="364902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Permite múltiples usuarios simultáneos sin conflictos.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48157"/>
            <a:ext cx="241696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373B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523762"/>
            <a:ext cx="21295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ORGANIZACIÓN INTERNA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980367"/>
            <a:ext cx="116230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Directorio de Base y Catálogo de Variables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029307"/>
            <a:ext cx="6407944" cy="3752136"/>
          </a:xfrm>
          <a:prstGeom prst="roundRect">
            <a:avLst>
              <a:gd name="adj" fmla="val 389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3029307"/>
            <a:ext cx="121920" cy="3752136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2866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Directorio de Base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777020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Contiene información sobre la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estructura física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 la base de datos: archivos de datos, logs de transacciones y su ubicación en disco.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2524" y="5001816"/>
            <a:ext cx="5801916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Archivos primarios: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.mdf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Archivos de log: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.ldf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029307"/>
            <a:ext cx="6408063" cy="3752136"/>
          </a:xfrm>
          <a:prstGeom prst="roundRect">
            <a:avLst>
              <a:gd name="adj" fmla="val 389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A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8067" y="3029307"/>
            <a:ext cx="121920" cy="3752136"/>
          </a:xfrm>
          <a:prstGeom prst="roundRect">
            <a:avLst>
              <a:gd name="adj" fmla="val 78139"/>
            </a:avLst>
          </a:prstGeom>
          <a:solidFill>
            <a:srgbClr val="373B4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7282" y="3286601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Catálogo de Variables (Catálogo de Sistema)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7282" y="4131350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Conjunto de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tablas y vistas predefinidas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que almacenan metadatos de todos los objetos: tablas, columnas, procedimientos, usuarios y permisos. Esencial para la administración diaria.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777282" y="5719048"/>
            <a:ext cx="5802035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Vistas del sistema: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sys.tables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sys.columns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Consultas de diagnóstico y auditoría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2583" y="575310"/>
            <a:ext cx="5309235" cy="70789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0197" y="527685"/>
            <a:ext cx="1458397" cy="308253"/>
          </a:xfrm>
          <a:prstGeom prst="roundRect">
            <a:avLst>
              <a:gd name="adj" fmla="val 19316"/>
            </a:avLst>
          </a:prstGeom>
          <a:solidFill>
            <a:srgbClr val="E2E4E9"/>
          </a:solidFill>
          <a:ln/>
        </p:spPr>
      </p:sp>
      <p:sp>
        <p:nvSpPr>
          <p:cNvPr id="5" name="Text 2"/>
          <p:cNvSpPr/>
          <p:nvPr/>
        </p:nvSpPr>
        <p:spPr>
          <a:xfrm>
            <a:off x="726519" y="580787"/>
            <a:ext cx="1245751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ROL PROFESIONAL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0197" y="891302"/>
            <a:ext cx="7327106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Administración de Bases de Datos</a:t>
            </a:r>
            <a:endParaRPr lang="en-US" sz="3450" dirty="0"/>
          </a:p>
        </p:txBody>
      </p:sp>
      <p:sp>
        <p:nvSpPr>
          <p:cNvPr id="7" name="Text 4"/>
          <p:cNvSpPr/>
          <p:nvPr/>
        </p:nvSpPr>
        <p:spPr>
          <a:xfrm>
            <a:off x="620197" y="1652707"/>
            <a:ext cx="790360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 </a:t>
            </a:r>
            <a:pPr algn="l"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Administrador de Bases de Datos (DBA)</a:t>
            </a:r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es el guardián de la información. Su labor abarca todo el ciclo de vida del sistema de datos.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197" y="2313265"/>
            <a:ext cx="354330" cy="354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0197" y="2840593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Seguridad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20197" y="3200400"/>
            <a:ext cx="790360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Gestión de permisos, roles y políticas de acceso.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197" y="3729633"/>
            <a:ext cx="354330" cy="3543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197" y="4256961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Configuración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20197" y="4616768"/>
            <a:ext cx="790360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Instalación, parametrización y ajuste del motor.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197" y="5146000"/>
            <a:ext cx="354330" cy="3543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0197" y="5673328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Optimización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20197" y="6033135"/>
            <a:ext cx="790360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Mejora del rendimiento mediante índices y planes de ejecución.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197" y="6562368"/>
            <a:ext cx="354330" cy="3543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20197" y="708969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Disponibilidad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620197" y="7449503"/>
            <a:ext cx="790360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Copias de seguridad, recuperación ante desastres y alta disponibilidad.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9376" y="594241"/>
            <a:ext cx="1463397" cy="389096"/>
          </a:xfrm>
          <a:prstGeom prst="roundRect">
            <a:avLst>
              <a:gd name="adj" fmla="val 17751"/>
            </a:avLst>
          </a:prstGeom>
          <a:noFill/>
          <a:ln w="7620">
            <a:solidFill>
              <a:srgbClr val="373B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225" y="663416"/>
            <a:ext cx="1201698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376" y="1057751"/>
            <a:ext cx="12130564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Componentes Físicos y Estructura de SQL Server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9376" y="2165628"/>
            <a:ext cx="2678430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Componentes Físicos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19376" y="2696289"/>
            <a:ext cx="3079433" cy="1889284"/>
          </a:xfrm>
          <a:prstGeom prst="roundRect">
            <a:avLst>
              <a:gd name="adj" fmla="val 4570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498" y="290941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Archivos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498" y="3416737"/>
            <a:ext cx="2653189" cy="955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.mdf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primario,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.ndf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secundario,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.ldf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log de transacciones.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85022" y="2696289"/>
            <a:ext cx="3079433" cy="1889284"/>
          </a:xfrm>
          <a:prstGeom prst="roundRect">
            <a:avLst>
              <a:gd name="adj" fmla="val 4570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8144" y="2909411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Memoria y CPU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98144" y="3416737"/>
            <a:ext cx="2653189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Buffer Pool para caché de páginas y procesador para ejecución de consultas.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73566" y="2165628"/>
            <a:ext cx="3274219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Estructura Organizacional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73566" y="2696289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573566" y="3022759"/>
            <a:ext cx="6345079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5" name="Text 13"/>
          <p:cNvSpPr/>
          <p:nvPr/>
        </p:nvSpPr>
        <p:spPr>
          <a:xfrm>
            <a:off x="7573566" y="3171230"/>
            <a:ext cx="261306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Instancia SQL Server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73566" y="3678555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Nivel superior del motor instalado.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73566" y="4332327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73566" y="4658797"/>
            <a:ext cx="6345079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9" name="Text 17"/>
          <p:cNvSpPr/>
          <p:nvPr/>
        </p:nvSpPr>
        <p:spPr>
          <a:xfrm>
            <a:off x="7573566" y="4807268"/>
            <a:ext cx="3433762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Bases de Datos del Sistema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73566" y="5314593"/>
            <a:ext cx="6345079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master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msdb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tempdb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3566" y="5975985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73566" y="6302454"/>
            <a:ext cx="6345079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3" name="Text 21"/>
          <p:cNvSpPr/>
          <p:nvPr/>
        </p:nvSpPr>
        <p:spPr>
          <a:xfrm>
            <a:off x="7573566" y="6450925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Objetos de Usuario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73566" y="6958251"/>
            <a:ext cx="634507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Schemas, tablas, vistas, procedimientos, funciones, triggers.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79677" y="494467"/>
            <a:ext cx="1130022" cy="247055"/>
          </a:xfrm>
          <a:prstGeom prst="roundRect">
            <a:avLst>
              <a:gd name="adj" fmla="val 20245"/>
            </a:avLst>
          </a:prstGeom>
          <a:solidFill>
            <a:srgbClr val="E2E4E9"/>
          </a:solidFill>
          <a:ln/>
        </p:spPr>
      </p:sp>
      <p:sp>
        <p:nvSpPr>
          <p:cNvPr id="3" name="Text 1"/>
          <p:cNvSpPr/>
          <p:nvPr/>
        </p:nvSpPr>
        <p:spPr>
          <a:xfrm>
            <a:off x="2268974" y="539115"/>
            <a:ext cx="951428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¡RETO PRÁCTICO!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179677" y="780574"/>
            <a:ext cx="5514499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Crea tu Primera Base de Datos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179677" y="1392198"/>
            <a:ext cx="10271046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Usando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 Server Management Studio (SSMS)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crea la base de datos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MiTienda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y construye la tabla 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2586B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con el siguiente script: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79677" y="1699260"/>
            <a:ext cx="10271046" cy="5424011"/>
          </a:xfrm>
          <a:prstGeom prst="roundRect">
            <a:avLst>
              <a:gd name="adj" fmla="val 1153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2172295" y="1699260"/>
            <a:ext cx="10285809" cy="5424011"/>
          </a:xfrm>
          <a:prstGeom prst="roundRect">
            <a:avLst>
              <a:gd name="adj" fmla="val 4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2358271" y="1848088"/>
            <a:ext cx="9913858" cy="5126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Crear la base de datos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MiTienda;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 MiTienda;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Crear la tabla Productos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Productos (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IDProducto      INT           PRIMARY KEY IDENTITY(1,1),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NombreProducto  VARCHAR(100)  NOT NULL,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Precio          DECIMAL(10,2),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Stock           INT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Insertar al menos 3 registros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Productos (NombreProducto, Precio, Stock)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('Laptop Pro 15',   1299.99, 25),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('Teclado Mecánico',   89.99, 80),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('Monitor 27"',      349.99, 40);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 Verificar los datos</a:t>
            </a:r>
            <a:endParaRPr lang="en-US" sz="1150" dirty="0"/>
          </a:p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A737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Productos;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79677" y="7233166"/>
            <a:ext cx="10271046" cy="501848"/>
          </a:xfrm>
          <a:prstGeom prst="roundRect">
            <a:avLst>
              <a:gd name="adj" fmla="val 12458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505" y="7441287"/>
            <a:ext cx="185976" cy="1488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63309" y="7367945"/>
            <a:ext cx="9638586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💡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Objetivo:</a:t>
            </a:r>
            <a:pPr algn="l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Verificar que puedes crear objetos, insertar datos y consultarlos usando el lenguaje SQL estándar.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5562" y="605909"/>
            <a:ext cx="5263158" cy="70176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1407" y="653415"/>
            <a:ext cx="1121093" cy="432554"/>
          </a:xfrm>
          <a:prstGeom prst="roundRect">
            <a:avLst>
              <a:gd name="adj" fmla="val 17344"/>
            </a:avLst>
          </a:prstGeom>
          <a:noFill/>
          <a:ln w="7620">
            <a:solidFill>
              <a:srgbClr val="373B4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2972" y="727948"/>
            <a:ext cx="83796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RESUMEN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1407" y="1173837"/>
            <a:ext cx="7581186" cy="1395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Conclusiones: El Poder de la Estructura</a:t>
            </a:r>
            <a:endParaRPr lang="en-US" sz="4350" dirty="0"/>
          </a:p>
        </p:txBody>
      </p:sp>
      <p:sp>
        <p:nvSpPr>
          <p:cNvPr id="7" name="Shape 4"/>
          <p:cNvSpPr/>
          <p:nvPr/>
        </p:nvSpPr>
        <p:spPr>
          <a:xfrm>
            <a:off x="781407" y="2898934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3521" y="2975610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Fundamento Digital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503521" y="3456265"/>
            <a:ext cx="6859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Las bases de datos son la columna vertebral de cualquier sistema de información moderno.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81407" y="4604504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03521" y="4681180"/>
            <a:ext cx="437757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SQL Server: Plataforma Robusta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503521" y="5161836"/>
            <a:ext cx="6859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Ofrece escalabilidad, seguridad y rendimiento para entornos empresariales complejos.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81407" y="6310074"/>
            <a:ext cx="502325" cy="502325"/>
          </a:xfrm>
          <a:prstGeom prst="roundRect">
            <a:avLst>
              <a:gd name="adj" fmla="val 18669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3521" y="6386751"/>
            <a:ext cx="308788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El DBA: Rol Estratégico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503521" y="6867406"/>
            <a:ext cx="685907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Administrar correctamente una BD garantiza disponibilidad, integridad y valor del dato.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2E4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4368" y="577691"/>
            <a:ext cx="5305663" cy="7074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579" y="501134"/>
            <a:ext cx="5311021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El Futuro es de los Datos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32579" y="1281827"/>
            <a:ext cx="6235898" cy="779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dirty="0">
                <a:solidFill>
                  <a:srgbClr val="373B48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¡Sigue Explorando!</a:t>
            </a:r>
            <a:endParaRPr lang="en-US" sz="4900" dirty="0"/>
          </a:p>
        </p:txBody>
      </p:sp>
      <p:sp>
        <p:nvSpPr>
          <p:cNvPr id="6" name="Text 3"/>
          <p:cNvSpPr/>
          <p:nvPr/>
        </p:nvSpPr>
        <p:spPr>
          <a:xfrm>
            <a:off x="632579" y="2277308"/>
            <a:ext cx="787884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El mundo de las bases de datos está en constante evolución. Dominar sus fundamentos hoy te abre las puertas a tecnologías avanzadas mañana.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579" y="2958822"/>
            <a:ext cx="722948" cy="1084421"/>
          </a:xfrm>
          <a:prstGeom prst="roundRect">
            <a:avLst>
              <a:gd name="adj" fmla="val 36003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441" y="3365421"/>
            <a:ext cx="271105" cy="2711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99473" y="313955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Optimización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499473" y="3508296"/>
            <a:ext cx="70119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Índices, planes de ejecución y ajuste de consultas.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2579" y="4187190"/>
            <a:ext cx="722948" cy="1084421"/>
          </a:xfrm>
          <a:prstGeom prst="roundRect">
            <a:avLst>
              <a:gd name="adj" fmla="val 36003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8441" y="4593788"/>
            <a:ext cx="271105" cy="2711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99473" y="4367927"/>
            <a:ext cx="227742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Seguridad Avanzada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499473" y="4736663"/>
            <a:ext cx="70119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Encriptación, auditoría y gestión de roles.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32579" y="5415558"/>
            <a:ext cx="722948" cy="1084421"/>
          </a:xfrm>
          <a:prstGeom prst="roundRect">
            <a:avLst>
              <a:gd name="adj" fmla="val 36003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441" y="5822156"/>
            <a:ext cx="271105" cy="2711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99473" y="5596295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Replicación y HA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1499473" y="5965031"/>
            <a:ext cx="70119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Alta disponibilidad y distribución de datos.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32579" y="6643926"/>
            <a:ext cx="722948" cy="1084421"/>
          </a:xfrm>
          <a:prstGeom prst="roundRect">
            <a:avLst>
              <a:gd name="adj" fmla="val 360033"/>
            </a:avLst>
          </a:prstGeom>
          <a:solidFill>
            <a:srgbClr val="E2E4E9"/>
          </a:solidFill>
          <a:ln w="7620">
            <a:solidFill>
              <a:srgbClr val="C8CAC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8441" y="7050524"/>
            <a:ext cx="271105" cy="27110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99473" y="682466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2586B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Cloud &amp; Big Data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1499473" y="7193399"/>
            <a:ext cx="70119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Azure SQL, Synapse Analytics y más allá.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2026-04-30T21:36:38Z</dcterms:created>
  <dcterms:modified xsi:type="dcterms:W3CDTF">2026-04-30T21:36:38Z</dcterms:modified>
</cp:coreProperties>
</file>
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Nunito SemiBold"/>
      <p:regular r:id="rId17"/>
    </p:embeddedFont>
    <p:embeddedFont>
      <p:font typeface="Nunito Bold"/>
      <p:regular r:id="rId18"/>
    </p:embeddedFont>
    <p:embeddedFont>
      <p:font typeface="PT Sans"/>
      <p:regular r:id="rId19"/>
    </p:embeddedFont>
    <p:embeddedFont>
      <p:font typeface="PT Sans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541190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Dominando el Poder de las Consultas en SQL Server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645569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Estrategias avanzadas para unir mundos de datos y transformar información dispersa en conocimiento accionable.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3952577" y="3306887"/>
            <a:ext cx="810146" cy="281136"/>
          </a:xfrm>
          <a:prstGeom prst="roundRect">
            <a:avLst>
              <a:gd name="adj" fmla="val 63861"/>
            </a:avLst>
          </a:prstGeom>
          <a:solidFill>
            <a:srgbClr val="483304"/>
          </a:solidFill>
          <a:ln/>
        </p:spPr>
      </p:sp>
      <p:sp>
        <p:nvSpPr>
          <p:cNvPr id="6" name="Text 3"/>
          <p:cNvSpPr/>
          <p:nvPr/>
        </p:nvSpPr>
        <p:spPr>
          <a:xfrm>
            <a:off x="4042321" y="3351758"/>
            <a:ext cx="1087859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 SERVER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837509" y="3292599"/>
            <a:ext cx="1464022" cy="309711"/>
          </a:xfrm>
          <a:prstGeom prst="roundRect">
            <a:avLst>
              <a:gd name="adj" fmla="val 57969"/>
            </a:avLst>
          </a:prstGeom>
          <a:noFill/>
          <a:ln w="14288">
            <a:solidFill>
              <a:srgbClr val="F2B4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41540" y="3351758"/>
            <a:ext cx="1713161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CONSULTAS AVANZADAS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505048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La Arquitectura de las Relaciones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1609427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Las bases de datos relacionales no viven aisladas.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Unir tablas es reconstruir la historia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detrás de los datos.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3952577" y="2256458"/>
            <a:ext cx="2259137" cy="1355601"/>
          </a:xfrm>
          <a:prstGeom prst="roundRect">
            <a:avLst>
              <a:gd name="adj" fmla="val 16555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6437" y="242031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El problema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16437" y="2730029"/>
            <a:ext cx="1931417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Los datos fragmentados en tablas independientes no cuentan la historia completa.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61286" y="2256458"/>
            <a:ext cx="2259137" cy="1355601"/>
          </a:xfrm>
          <a:prstGeom prst="roundRect">
            <a:avLst>
              <a:gd name="adj" fmla="val 16555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25146" y="242031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El puente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25146" y="2730029"/>
            <a:ext cx="1931417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comando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JOIN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conecta el caos con la información estructurada.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952577" y="3761631"/>
            <a:ext cx="4667845" cy="876821"/>
          </a:xfrm>
          <a:prstGeom prst="roundRect">
            <a:avLst>
              <a:gd name="adj" fmla="val 25595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6437" y="392549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El resultado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116437" y="4235202"/>
            <a:ext cx="434012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Consultas que revelan relaciones ocultas y patrones de negocio.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50" y="1092473"/>
            <a:ext cx="5220816" cy="29584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06554" y="688553"/>
            <a:ext cx="483989" cy="224507"/>
          </a:xfrm>
          <a:prstGeom prst="roundRect">
            <a:avLst>
              <a:gd name="adj" fmla="val 67474"/>
            </a:avLst>
          </a:prstGeom>
          <a:solidFill>
            <a:srgbClr val="483304"/>
          </a:solidFill>
          <a:ln/>
        </p:spPr>
      </p:sp>
      <p:sp>
        <p:nvSpPr>
          <p:cNvPr id="4" name="Text 1"/>
          <p:cNvSpPr/>
          <p:nvPr/>
        </p:nvSpPr>
        <p:spPr>
          <a:xfrm>
            <a:off x="6082233" y="726356"/>
            <a:ext cx="789831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JOIN #1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006554" y="955625"/>
            <a:ext cx="2669084" cy="742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INNER JOIN: La Coincidencia Exacta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006554" y="1804764"/>
            <a:ext cx="2669084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Devuelve </a:t>
            </a:r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solo los registros presentes en ambas tablas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Es la intersección perfecta y el corazón de la mayoría de reportes.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006554" y="2482900"/>
            <a:ext cx="2669084" cy="855315"/>
          </a:xfrm>
          <a:prstGeom prst="roundRect">
            <a:avLst>
              <a:gd name="adj" fmla="val 22139"/>
            </a:avLst>
          </a:prstGeom>
          <a:solidFill>
            <a:srgbClr val="02234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761" y="2668339"/>
            <a:ext cx="157758" cy="1262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16725" y="2620938"/>
            <a:ext cx="2132707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Ejemplo práctico: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Listar únicamente clientes que han realizado al menos una compra.     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006554" y="3458021"/>
            <a:ext cx="2669084" cy="996851"/>
          </a:xfrm>
          <a:prstGeom prst="roundRect">
            <a:avLst>
              <a:gd name="adj" fmla="val 18995"/>
            </a:avLst>
          </a:prstGeom>
          <a:solidFill>
            <a:srgbClr val="0D0D3B"/>
          </a:solidFill>
          <a:ln/>
        </p:spPr>
      </p:sp>
      <p:sp>
        <p:nvSpPr>
          <p:cNvPr id="11" name="Shape 7"/>
          <p:cNvSpPr/>
          <p:nvPr/>
        </p:nvSpPr>
        <p:spPr>
          <a:xfrm>
            <a:off x="6000304" y="3458021"/>
            <a:ext cx="2681585" cy="996851"/>
          </a:xfrm>
          <a:prstGeom prst="roundRect">
            <a:avLst>
              <a:gd name="adj" fmla="val 1900"/>
            </a:avLst>
          </a:prstGeom>
          <a:solidFill>
            <a:srgbClr val="0D0D3B"/>
          </a:solidFill>
          <a:ln/>
        </p:spPr>
      </p:sp>
      <p:sp>
        <p:nvSpPr>
          <p:cNvPr id="12" name="Text 8"/>
          <p:cNvSpPr/>
          <p:nvPr/>
        </p:nvSpPr>
        <p:spPr>
          <a:xfrm>
            <a:off x="6158061" y="3584228"/>
            <a:ext cx="2366070" cy="74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7EE787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C.Nombre, P.Fecha</a:t>
            </a:r>
            <a:endParaRPr lang="en-US" sz="9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7EE787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Clientes C</a:t>
            </a:r>
            <a:endParaRPr lang="en-US" sz="9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7EE787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Pedidos P</a:t>
            </a:r>
            <a:endParaRPr lang="en-US" sz="9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7EE787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ON C.ID = P.ClienteID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2562" y="332631"/>
            <a:ext cx="439341" cy="197941"/>
          </a:xfrm>
          <a:prstGeom prst="roundRect">
            <a:avLst>
              <a:gd name="adj" fmla="val 69444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921246" y="366936"/>
            <a:ext cx="759172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JOIN #2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52562" y="565621"/>
            <a:ext cx="5507310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LEFT JOIN: La Perspectiva de la Izquierda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52562" y="2058219"/>
            <a:ext cx="180476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¿Cómo funciona?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52562" y="2314277"/>
            <a:ext cx="3579688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Prioriza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toda la tabla izquierda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Si no existe coincidencia en la derecha, los campos rellenan con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NULL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2562" y="2716560"/>
            <a:ext cx="3579688" cy="546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Devuelve todos los registros de la tabla principal</a:t>
            </a:r>
            <a:endParaRPr lang="en-US" sz="90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Incluye coincidencias de la tabla secundaria</a:t>
            </a:r>
            <a:endParaRPr lang="en-US" sz="90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Revela registros sin pareja (huérfanos)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52562" y="3361581"/>
            <a:ext cx="3579688" cy="414040"/>
          </a:xfrm>
          <a:prstGeom prst="roundRect">
            <a:avLst>
              <a:gd name="adj" fmla="val 41499"/>
            </a:avLst>
          </a:prstGeom>
          <a:solidFill>
            <a:srgbClr val="48330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085" y="3523506"/>
            <a:ext cx="143173" cy="11452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24781" y="3477816"/>
            <a:ext cx="3550146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Ideal para auditorías: detectar clientes sin pedidos registrados.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363" y="1132582"/>
            <a:ext cx="3579688" cy="3579688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363" y="1132582"/>
            <a:ext cx="3579688" cy="3579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050" y="502890"/>
            <a:ext cx="483989" cy="224507"/>
          </a:xfrm>
          <a:prstGeom prst="roundRect">
            <a:avLst>
              <a:gd name="adj" fmla="val 67474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548729" y="540693"/>
            <a:ext cx="789831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JOIN #3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3050" y="769962"/>
            <a:ext cx="2669084" cy="1113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RIGHT JOIN: La Perspectiva de la Derecha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73050" y="1990427"/>
            <a:ext cx="2669084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</a:t>
            </a:r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espejo del LEFT JOIN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Retorna todos los registros de la tabla derecha, incluso si no tienen pareja en la izquierda.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3050" y="2668563"/>
            <a:ext cx="2669084" cy="855315"/>
          </a:xfrm>
          <a:prstGeom prst="roundRect">
            <a:avLst>
              <a:gd name="adj" fmla="val 22139"/>
            </a:avLst>
          </a:prstGeom>
          <a:solidFill>
            <a:srgbClr val="4B3F0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256" y="2854003"/>
            <a:ext cx="157758" cy="1262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3221" y="2806601"/>
            <a:ext cx="2132707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Uso típico: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Identificar productos que nunca se han vendido (tabla derecha = Productos).     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3050" y="3643685"/>
            <a:ext cx="2669084" cy="996851"/>
          </a:xfrm>
          <a:prstGeom prst="roundRect">
            <a:avLst>
              <a:gd name="adj" fmla="val 18995"/>
            </a:avLst>
          </a:prstGeom>
          <a:solidFill>
            <a:srgbClr val="0D0D3B"/>
          </a:solidFill>
          <a:ln/>
        </p:spPr>
      </p:sp>
      <p:sp>
        <p:nvSpPr>
          <p:cNvPr id="10" name="Shape 7"/>
          <p:cNvSpPr/>
          <p:nvPr/>
        </p:nvSpPr>
        <p:spPr>
          <a:xfrm>
            <a:off x="466799" y="3643685"/>
            <a:ext cx="2681585" cy="996851"/>
          </a:xfrm>
          <a:prstGeom prst="roundRect">
            <a:avLst>
              <a:gd name="adj" fmla="val 1900"/>
            </a:avLst>
          </a:prstGeom>
          <a:solidFill>
            <a:srgbClr val="0D0D3B"/>
          </a:solidFill>
          <a:ln/>
        </p:spPr>
      </p:sp>
      <p:sp>
        <p:nvSpPr>
          <p:cNvPr id="11" name="Text 8"/>
          <p:cNvSpPr/>
          <p:nvPr/>
        </p:nvSpPr>
        <p:spPr>
          <a:xfrm>
            <a:off x="624557" y="3769891"/>
            <a:ext cx="2366070" cy="74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7EE787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P.Nombre, V.Cantidad</a:t>
            </a:r>
            <a:endParaRPr lang="en-US" sz="9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7EE787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Ventas V</a:t>
            </a:r>
            <a:endParaRPr lang="en-US" sz="9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7EE787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RIGHT JOIN Productos P</a:t>
            </a:r>
            <a:endParaRPr lang="en-US" sz="9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7EE787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ON V.ProductoID = P.ID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822" y="1092473"/>
            <a:ext cx="5220816" cy="2958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4538" y="419770"/>
            <a:ext cx="520080" cy="246683"/>
          </a:xfrm>
          <a:prstGeom prst="roundRect">
            <a:avLst>
              <a:gd name="adj" fmla="val 65957"/>
            </a:avLst>
          </a:prstGeom>
          <a:solidFill>
            <a:srgbClr val="483304"/>
          </a:solidFill>
          <a:ln/>
        </p:spPr>
      </p:sp>
      <p:sp>
        <p:nvSpPr>
          <p:cNvPr id="4" name="Text 1"/>
          <p:cNvSpPr/>
          <p:nvPr/>
        </p:nvSpPr>
        <p:spPr>
          <a:xfrm>
            <a:off x="555873" y="460400"/>
            <a:ext cx="814611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JOIN #4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74538" y="715566"/>
            <a:ext cx="4765923" cy="79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FULL OUTER JOIN: La Visión Global</a:t>
            </a:r>
            <a:endParaRPr lang="en-US" sz="2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5488" y="1697236"/>
            <a:ext cx="4784973" cy="9958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321" y="1851868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Cobertura total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86321" y="2124968"/>
            <a:ext cx="4399508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Combina coincidencias y registros huérfanos de </a:t>
            </a:r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ambas tablas</a:t>
            </a:r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sin perder ningún dato.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488" y="2815903"/>
            <a:ext cx="4784973" cy="9958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6321" y="2970535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Detección de brechas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86321" y="3243635"/>
            <a:ext cx="4399508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Identifica huecos en la integridad referencial: registros sin pareja en ningún lado.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5488" y="3934569"/>
            <a:ext cx="4784973" cy="7890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6321" y="4089202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Visión del ecosistema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686321" y="4362301"/>
            <a:ext cx="4399508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Una mirada completa para análisis de calidad de datos y consistencia.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917600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El Gran Reto SQL: El Detective de Datos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52577" y="2021979"/>
            <a:ext cx="4667845" cy="2203847"/>
          </a:xfrm>
          <a:prstGeom prst="roundRect">
            <a:avLst>
              <a:gd name="adj" fmla="val 10183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66865" y="2036266"/>
            <a:ext cx="2319635" cy="1327026"/>
          </a:xfrm>
          <a:prstGeom prst="roundRect">
            <a:avLst>
              <a:gd name="adj" fmla="val 16911"/>
            </a:avLst>
          </a:prstGeom>
          <a:solidFill>
            <a:srgbClr val="00002E"/>
          </a:solidFill>
          <a:ln/>
        </p:spPr>
      </p:sp>
      <p:sp>
        <p:nvSpPr>
          <p:cNvPr id="6" name="Text 3"/>
          <p:cNvSpPr/>
          <p:nvPr/>
        </p:nvSpPr>
        <p:spPr>
          <a:xfrm>
            <a:off x="4116437" y="218583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Situación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16437" y="2495550"/>
            <a:ext cx="202049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Disponemos de las tablas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Usuarios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Actividad_Log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86500" y="2036266"/>
            <a:ext cx="2319635" cy="1327026"/>
          </a:xfrm>
          <a:prstGeom prst="rect">
            <a:avLst/>
          </a:prstGeom>
          <a:solidFill>
            <a:srgbClr val="00002E"/>
          </a:solidFill>
          <a:ln/>
        </p:spPr>
      </p:sp>
      <p:sp>
        <p:nvSpPr>
          <p:cNvPr id="9" name="Shape 6"/>
          <p:cNvSpPr/>
          <p:nvPr/>
        </p:nvSpPr>
        <p:spPr>
          <a:xfrm>
            <a:off x="6286500" y="2036266"/>
            <a:ext cx="19050" cy="1327026"/>
          </a:xfrm>
          <a:prstGeom prst="roundRect">
            <a:avLst>
              <a:gd name="adj" fmla="val 1178055"/>
            </a:avLst>
          </a:prstGeom>
          <a:solidFill>
            <a:srgbClr val="F05B77"/>
          </a:solidFill>
          <a:ln/>
        </p:spPr>
      </p:sp>
      <p:sp>
        <p:nvSpPr>
          <p:cNvPr id="10" name="Text 7"/>
          <p:cNvSpPr/>
          <p:nvPr/>
        </p:nvSpPr>
        <p:spPr>
          <a:xfrm>
            <a:off x="6436072" y="218583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Misión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36072" y="2495550"/>
            <a:ext cx="202049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Identificar qué usuarios están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inactivos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cuáles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nunca han iniciado sesión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66865" y="3363292"/>
            <a:ext cx="4639270" cy="848246"/>
          </a:xfrm>
          <a:prstGeom prst="rect">
            <a:avLst/>
          </a:prstGeom>
          <a:solidFill>
            <a:srgbClr val="000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3966865" y="3363292"/>
            <a:ext cx="4639270" cy="19050"/>
          </a:xfrm>
          <a:prstGeom prst="roundRect">
            <a:avLst>
              <a:gd name="adj" fmla="val 1178055"/>
            </a:avLst>
          </a:prstGeom>
          <a:solidFill>
            <a:srgbClr val="C35E44"/>
          </a:solidFill>
          <a:ln/>
        </p:spPr>
      </p:sp>
      <p:sp>
        <p:nvSpPr>
          <p:cNvPr id="14" name="Text 11"/>
          <p:cNvSpPr/>
          <p:nvPr/>
        </p:nvSpPr>
        <p:spPr>
          <a:xfrm>
            <a:off x="4116437" y="351286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🔧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Herramienta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116437" y="3822576"/>
            <a:ext cx="434012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Aplicar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LEFT JOIN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filtrar por valores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NULL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en la clave foránea.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9855" y="269453"/>
            <a:ext cx="3564285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Resolviendo el Rompecabezas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1459855" y="674117"/>
            <a:ext cx="6681490" cy="1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Tres pasos para revelar los </a:t>
            </a:r>
            <a:pPr algn="l" indent="0" marL="0">
              <a:lnSpc>
                <a:spcPct val="109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perfiles fantasmas</a:t>
            </a:r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que nunca han interactuado con el sistema.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9855" y="868933"/>
            <a:ext cx="6224290" cy="27322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7156" y="2873793"/>
            <a:ext cx="1319646" cy="15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Seleccionar tabla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515756" y="3080331"/>
            <a:ext cx="1091046" cy="221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Usar Usuarios U como base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350479" y="2721208"/>
            <a:ext cx="1319647" cy="15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Filtrar nulos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579079" y="2927746"/>
            <a:ext cx="1091047" cy="331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WHERE A.UserID IS NULL para perfiles fantasma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27810" y="1155451"/>
            <a:ext cx="1319646" cy="15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LEFT JOIN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56410" y="1361990"/>
            <a:ext cx="1091046" cy="221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Unir con Actividad_Log A por U.ID = A.UserID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459855" y="3670250"/>
            <a:ext cx="6224290" cy="820489"/>
          </a:xfrm>
          <a:prstGeom prst="roundRect">
            <a:avLst>
              <a:gd name="adj" fmla="val 17522"/>
            </a:avLst>
          </a:prstGeom>
          <a:solidFill>
            <a:srgbClr val="0D0D3B"/>
          </a:solidFill>
          <a:ln/>
        </p:spPr>
      </p:sp>
      <p:sp>
        <p:nvSpPr>
          <p:cNvPr id="12" name="Shape 9"/>
          <p:cNvSpPr/>
          <p:nvPr/>
        </p:nvSpPr>
        <p:spPr>
          <a:xfrm>
            <a:off x="1455093" y="3670250"/>
            <a:ext cx="6233815" cy="820489"/>
          </a:xfrm>
          <a:prstGeom prst="roundRect">
            <a:avLst>
              <a:gd name="adj" fmla="val 1752"/>
            </a:avLst>
          </a:prstGeom>
          <a:solidFill>
            <a:srgbClr val="0D0D3B"/>
          </a:solidFill>
          <a:ln/>
        </p:spPr>
      </p:sp>
      <p:sp>
        <p:nvSpPr>
          <p:cNvPr id="13" name="Text 10"/>
          <p:cNvSpPr/>
          <p:nvPr/>
        </p:nvSpPr>
        <p:spPr>
          <a:xfrm>
            <a:off x="1574899" y="3766096"/>
            <a:ext cx="5994202" cy="628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7EE787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U.Nombre, U.Email</a:t>
            </a:r>
            <a:endParaRPr lang="en-US" sz="7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7EE787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Usuarios U</a:t>
            </a:r>
            <a:endParaRPr lang="en-US" sz="7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7EE787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Actividad_Log A</a:t>
            </a:r>
            <a:endParaRPr lang="en-US" sz="7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7EE787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ON U.ID = A.UserID</a:t>
            </a:r>
            <a:endParaRPr lang="en-US" sz="7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7EE787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A.UserID IS NULL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1459855" y="4559796"/>
            <a:ext cx="6224290" cy="314251"/>
          </a:xfrm>
          <a:prstGeom prst="roundRect">
            <a:avLst>
              <a:gd name="adj" fmla="val 45750"/>
            </a:avLst>
          </a:prstGeom>
          <a:solidFill>
            <a:srgbClr val="183A1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00" y="4690988"/>
            <a:ext cx="119807" cy="9584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71352" y="4645149"/>
            <a:ext cx="6274147" cy="1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Los registros con </a:t>
            </a:r>
            <a:pPr algn="l" indent="0" marL="0">
              <a:lnSpc>
                <a:spcPct val="109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NULL</a:t>
            </a:r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en la tabla derecha son usuarios que nunca han iniciado sesión.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53" y="1091729"/>
            <a:ext cx="5223570" cy="29599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9726" y="489719"/>
            <a:ext cx="2662610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Buenas Prácticas y Rendimiento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9657" y="1411039"/>
            <a:ext cx="199802" cy="1998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52667" y="1406947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Sintaxis explícita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452667" y="1721495"/>
            <a:ext cx="2229669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Prioriza siempre </a:t>
            </a:r>
            <a:pPr algn="l" indent="0" marL="0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JOIN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sobre condiciones en </a:t>
            </a:r>
            <a:pPr algn="l" indent="0" marL="0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WHERE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mayor claridad y portabilidad.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9657" y="2567434"/>
            <a:ext cx="199802" cy="1998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52667" y="2563341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Integridad primero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452667" y="2877889"/>
            <a:ext cx="2229669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Comprende la integridad referencial antes de ejecutar cualquier consulta de unión.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69657" y="3723829"/>
            <a:ext cx="199802" cy="1998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52667" y="3719736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Valida con TOP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452667" y="4034284"/>
            <a:ext cx="2229669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Usa </a:t>
            </a:r>
            <a:pPr algn="l" indent="0" marL="0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</a:t>
            </a:r>
            <a:pPr algn="l" indent="0" marL="0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ORDER BY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explorar grandes volúmenes de datos de forma segura.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72579"/>
            <a:ext cx="501111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Conclusiones: Elige tu Unión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11809"/>
            <a:ext cx="1132656" cy="7000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49882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INNER JOIN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2808536"/>
            <a:ext cx="257428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Para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precisión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solo datos con coincidencia garantizada en ambas tablas.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860" y="1611809"/>
            <a:ext cx="1132656" cy="7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84860" y="249882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OUTER JOIN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84860" y="2808536"/>
            <a:ext cx="257428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Para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análisis de brechas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revela lo que falta, los huérfanos y las inconsistencias.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143" y="1611809"/>
            <a:ext cx="1132656" cy="7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6143" y="249882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Tu Próxima Consulta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6143" y="2808536"/>
            <a:ext cx="257428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 destreza en SQL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transforma datos brutos en decisiones inteligentes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¡Cada consulta es una nueva oportunidad!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747936" y="3863206"/>
            <a:ext cx="832968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«El poder no está en los datos, sino en saber cómo unirlos.»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23577" y="3694956"/>
            <a:ext cx="19050" cy="575890"/>
          </a:xfrm>
          <a:prstGeom prst="rect">
            <a:avLst/>
          </a:prstGeom>
          <a:solidFill>
            <a:srgbClr val="F2B42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2026-05-28T19:02:04Z</dcterms:created>
  <dcterms:modified xsi:type="dcterms:W3CDTF">2026-05-28T19:02:04Z</dcterms:modified>
</cp:coreProperties>
</file>
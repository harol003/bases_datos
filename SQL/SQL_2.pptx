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Nunito Semi Bold"/>
      <p:regular r:id="rId17"/>
    </p:embeddedFont>
    <p:embeddedFont>
      <p:font typeface="Nunito Semi Bold"/>
      <p:regular r:id="rId18"/>
    </p:embeddedFont>
    <p:embeddedFont>
      <p:font typeface="Nunito Semi Bold"/>
      <p:regular r:id="rId19"/>
    </p:embeddedFont>
    <p:embeddedFont>
      <p:font typeface="Nunito Semi Bold"/>
      <p:regular r:id="rId20"/>
    </p:embeddedFont>
    <p:embeddedFont>
      <p:font typeface="PT Sans"/>
      <p:regular r:id="rId21"/>
    </p:embeddedFont>
    <p:embeddedFont>
      <p:font typeface="PT Sans"/>
      <p:regular r:id="rId22"/>
    </p:embeddedFont>
    <p:embeddedFont>
      <p:font typeface="PT Sans"/>
      <p:regular r:id="rId23"/>
    </p:embeddedFont>
    <p:embeddedFont>
      <p:font typeface="PT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00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86" y="385465"/>
            <a:ext cx="3279428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2577" y="1201489"/>
            <a:ext cx="4667845" cy="132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SQL Server: Diseño y Análisis de Bases de Datos Modernas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52577" y="2745879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 recorrido completo desde los requerimientos del cliente hasta el CRUD básico — diseñado para estudiantes que dan sus primeros pasos en el mundo de los datos.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952577" y="3646587"/>
            <a:ext cx="873993" cy="281136"/>
          </a:xfrm>
          <a:prstGeom prst="roundRect">
            <a:avLst>
              <a:gd name="adj" fmla="val 63861"/>
            </a:avLst>
          </a:prstGeom>
          <a:solidFill>
            <a:srgbClr val="483304"/>
          </a:solidFill>
          <a:ln/>
        </p:spPr>
      </p:sp>
      <p:sp>
        <p:nvSpPr>
          <p:cNvPr id="7" name="Text 4"/>
          <p:cNvSpPr/>
          <p:nvPr/>
        </p:nvSpPr>
        <p:spPr>
          <a:xfrm>
            <a:off x="4042321" y="3691458"/>
            <a:ext cx="694506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 MÓDULOS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901357" y="3632299"/>
            <a:ext cx="1283717" cy="309711"/>
          </a:xfrm>
          <a:prstGeom prst="roundRect">
            <a:avLst>
              <a:gd name="adj" fmla="val 57969"/>
            </a:avLst>
          </a:prstGeom>
          <a:noFill/>
          <a:ln w="14288">
            <a:solidFill>
              <a:srgbClr val="F2B4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05388" y="3691458"/>
            <a:ext cx="107565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NIVEL PRINCIPIANTE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953" y="369391"/>
            <a:ext cx="3289697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Índice del Viaje de Datos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48953" y="938957"/>
            <a:ext cx="804609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Diez módulos que te guiarán desde el análisis hasta la implementación en SQL Server.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953" y="1235571"/>
            <a:ext cx="247724" cy="154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953" y="1431801"/>
            <a:ext cx="2613645" cy="14288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6" name="Text 4"/>
          <p:cNvSpPr/>
          <p:nvPr/>
        </p:nvSpPr>
        <p:spPr>
          <a:xfrm>
            <a:off x="548953" y="1522288"/>
            <a:ext cx="179843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Requerimientos del Cliente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953" y="1765995"/>
            <a:ext cx="261364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¿Qué problema resolvemos?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65140" y="1235571"/>
            <a:ext cx="247724" cy="154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5140" y="1431801"/>
            <a:ext cx="2613645" cy="14288"/>
          </a:xfrm>
          <a:prstGeom prst="rect">
            <a:avLst/>
          </a:prstGeom>
          <a:solidFill>
            <a:srgbClr val="D7425E"/>
          </a:solidFill>
          <a:ln/>
        </p:spPr>
      </p:sp>
      <p:sp>
        <p:nvSpPr>
          <p:cNvPr id="10" name="Text 8"/>
          <p:cNvSpPr/>
          <p:nvPr/>
        </p:nvSpPr>
        <p:spPr>
          <a:xfrm>
            <a:off x="3265140" y="1522288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Diagramas E-R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65140" y="1765995"/>
            <a:ext cx="261364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mapa del tesoro de datos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81328" y="1235571"/>
            <a:ext cx="247724" cy="154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1328" y="1431801"/>
            <a:ext cx="2613720" cy="14288"/>
          </a:xfrm>
          <a:prstGeom prst="rect">
            <a:avLst/>
          </a:prstGeom>
          <a:solidFill>
            <a:srgbClr val="DD785E"/>
          </a:solidFill>
          <a:ln/>
        </p:spPr>
      </p:sp>
      <p:sp>
        <p:nvSpPr>
          <p:cNvPr id="14" name="Text 12"/>
          <p:cNvSpPr/>
          <p:nvPr/>
        </p:nvSpPr>
        <p:spPr>
          <a:xfrm>
            <a:off x="5981328" y="1522288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Análisis Lógico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1328" y="1765995"/>
            <a:ext cx="261372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Del concepto a la realidad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953" y="2142604"/>
            <a:ext cx="247724" cy="154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953" y="2338834"/>
            <a:ext cx="3971776" cy="14288"/>
          </a:xfrm>
          <a:prstGeom prst="rect">
            <a:avLst/>
          </a:prstGeom>
          <a:solidFill>
            <a:srgbClr val="48A8E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953" y="2429321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Análisis Físico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953" y="2673028"/>
            <a:ext cx="397177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Arquitectura y estructura de tablas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23271" y="2142604"/>
            <a:ext cx="247724" cy="154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23271" y="2338834"/>
            <a:ext cx="3971776" cy="14288"/>
          </a:xfrm>
          <a:prstGeom prst="rect">
            <a:avLst/>
          </a:prstGeom>
          <a:solidFill>
            <a:srgbClr val="59ABA9"/>
          </a:solidFill>
          <a:ln/>
        </p:spPr>
      </p:sp>
      <p:sp>
        <p:nvSpPr>
          <p:cNvPr id="22" name="Text 20"/>
          <p:cNvSpPr/>
          <p:nvPr/>
        </p:nvSpPr>
        <p:spPr>
          <a:xfrm>
            <a:off x="4623271" y="2429321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Bases del Sistema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23271" y="2673028"/>
            <a:ext cx="397177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master, model, msdb, tempdb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953" y="3062511"/>
            <a:ext cx="247724" cy="154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953" y="3258741"/>
            <a:ext cx="2613645" cy="14288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26" name="Text 24"/>
          <p:cNvSpPr/>
          <p:nvPr/>
        </p:nvSpPr>
        <p:spPr>
          <a:xfrm>
            <a:off x="548953" y="3349228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Introducción a SQL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953" y="3592934"/>
            <a:ext cx="261364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lenguaje universal de datos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65140" y="3062511"/>
            <a:ext cx="247724" cy="154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65140" y="3258741"/>
            <a:ext cx="2613645" cy="14288"/>
          </a:xfrm>
          <a:prstGeom prst="rect">
            <a:avLst/>
          </a:prstGeom>
          <a:solidFill>
            <a:srgbClr val="D7425E"/>
          </a:solidFill>
          <a:ln/>
        </p:spPr>
      </p:sp>
      <p:sp>
        <p:nvSpPr>
          <p:cNvPr id="30" name="Text 28"/>
          <p:cNvSpPr/>
          <p:nvPr/>
        </p:nvSpPr>
        <p:spPr>
          <a:xfrm>
            <a:off x="3265140" y="3349228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Scripts SQL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65140" y="3592934"/>
            <a:ext cx="261364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Planificación y DDL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81328" y="3062511"/>
            <a:ext cx="247724" cy="154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1328" y="3258741"/>
            <a:ext cx="2613720" cy="14288"/>
          </a:xfrm>
          <a:prstGeom prst="rect">
            <a:avLst/>
          </a:prstGeom>
          <a:solidFill>
            <a:srgbClr val="DD785E"/>
          </a:solidFill>
          <a:ln/>
        </p:spPr>
      </p:sp>
      <p:sp>
        <p:nvSpPr>
          <p:cNvPr id="34" name="Text 32"/>
          <p:cNvSpPr/>
          <p:nvPr/>
        </p:nvSpPr>
        <p:spPr>
          <a:xfrm>
            <a:off x="5981328" y="3349228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CRUD Básico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1328" y="3592934"/>
            <a:ext cx="2613720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INSERT, SELECT, UPDATE, DELETE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953" y="3969544"/>
            <a:ext cx="247724" cy="154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953" y="4165774"/>
            <a:ext cx="3971776" cy="14288"/>
          </a:xfrm>
          <a:prstGeom prst="rect">
            <a:avLst/>
          </a:prstGeom>
          <a:solidFill>
            <a:srgbClr val="48A8E2"/>
          </a:solidFill>
          <a:ln/>
        </p:spPr>
      </p:sp>
      <p:sp>
        <p:nvSpPr>
          <p:cNvPr id="38" name="Text 36"/>
          <p:cNvSpPr/>
          <p:nvPr/>
        </p:nvSpPr>
        <p:spPr>
          <a:xfrm>
            <a:off x="548953" y="4256261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Ejemplo Práctico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953" y="4499967"/>
            <a:ext cx="397177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Librería: ¡manos a la obra!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23271" y="3969544"/>
            <a:ext cx="247724" cy="154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23271" y="4165774"/>
            <a:ext cx="3971776" cy="14288"/>
          </a:xfrm>
          <a:prstGeom prst="rect">
            <a:avLst/>
          </a:prstGeom>
          <a:solidFill>
            <a:srgbClr val="59ABA9"/>
          </a:solidFill>
          <a:ln/>
        </p:spPr>
      </p:sp>
      <p:sp>
        <p:nvSpPr>
          <p:cNvPr id="42" name="Text 40"/>
          <p:cNvSpPr/>
          <p:nvPr/>
        </p:nvSpPr>
        <p:spPr>
          <a:xfrm>
            <a:off x="4623271" y="4256261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Desafío Final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23271" y="4499967"/>
            <a:ext cx="397177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Conclusiones y reto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00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03" y="369912"/>
            <a:ext cx="3302719" cy="44036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70796" y="439936"/>
            <a:ext cx="628501" cy="224507"/>
          </a:xfrm>
          <a:prstGeom prst="roundRect">
            <a:avLst>
              <a:gd name="adj" fmla="val 67474"/>
            </a:avLst>
          </a:prstGeom>
          <a:solidFill>
            <a:srgbClr val="483304"/>
          </a:solidFill>
          <a:ln/>
        </p:spPr>
      </p:sp>
      <p:sp>
        <p:nvSpPr>
          <p:cNvPr id="5" name="Text 2"/>
          <p:cNvSpPr/>
          <p:nvPr/>
        </p:nvSpPr>
        <p:spPr>
          <a:xfrm>
            <a:off x="3946475" y="477738"/>
            <a:ext cx="477143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MÓDULO 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870796" y="707008"/>
            <a:ext cx="4831407" cy="742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Entendiendo al Cliente: Requerimientos y Objetivos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3870796" y="1715914"/>
            <a:ext cx="1852017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¿Por qué escuchar primero?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70796" y="2008063"/>
            <a:ext cx="2261741" cy="93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Antes de escribir una sola línea de SQL, debemos comprender el problema real. Un buen análisis de requerimientos evita rediseños costosos y garantiza que la base de datos sirva al negocio.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870796" y="3058418"/>
            <a:ext cx="2261741" cy="1041425"/>
          </a:xfrm>
          <a:prstGeom prst="roundRect">
            <a:avLst>
              <a:gd name="adj" fmla="val 18182"/>
            </a:avLst>
          </a:prstGeom>
          <a:solidFill>
            <a:srgbClr val="02234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003" y="3243858"/>
            <a:ext cx="157758" cy="1262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80967" y="3196456"/>
            <a:ext cx="1725364" cy="74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Una base de datos bien diseñada comienza con las preguntas correctas, no con el teclado.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445225" y="1715914"/>
            <a:ext cx="1733104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Preguntas clave al cliente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445225" y="2008063"/>
            <a:ext cx="2261741" cy="1228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¿Qué datos necesito almacenar?</a:t>
            </a:r>
            <a:endParaRPr lang="en-US" sz="9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¿Quién consultará la información y con qué frecuencia?</a:t>
            </a:r>
            <a:endParaRPr lang="en-US" sz="9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¿Qué procesos del negocio deben automatizarse?</a:t>
            </a:r>
            <a:endParaRPr lang="en-US" sz="95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¿Cuánto crecerá el volumen de datos?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445225" y="3356149"/>
            <a:ext cx="2261741" cy="1227534"/>
          </a:xfrm>
          <a:prstGeom prst="roundRect">
            <a:avLst>
              <a:gd name="adj" fmla="val 15426"/>
            </a:avLst>
          </a:prstGeom>
          <a:solidFill>
            <a:srgbClr val="48330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431" y="3541588"/>
            <a:ext cx="157758" cy="1262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5396" y="3494187"/>
            <a:ext cx="1725364" cy="93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📚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indent="0" marL="0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Ejemplo:</a:t>
            </a:r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Una pequeña tienda de libros necesita gestionar inventario, clientes y pedidos desde un sistema centralizado.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8464" y="349597"/>
            <a:ext cx="558552" cy="192881"/>
          </a:xfrm>
          <a:prstGeom prst="roundRect">
            <a:avLst>
              <a:gd name="adj" fmla="val 69811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995735" y="383232"/>
            <a:ext cx="424011" cy="12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MÓDULO 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28464" y="576114"/>
            <a:ext cx="4242718" cy="33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 Mapa del Tesoro: Diagramas E-R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28464" y="1961480"/>
            <a:ext cx="1594619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¿Qué es un Diagrama E-R?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28464" y="2210544"/>
            <a:ext cx="2372544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 Diagrama Entidad-Relación (E-R) es la representación visual de cómo se organiza la información. Nos permite planificar la estructura antes de crear la base de datos.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9465" y="1127001"/>
            <a:ext cx="4640684" cy="23051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03650" y="1780715"/>
            <a:ext cx="988336" cy="123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Relaciones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2502" y="1718798"/>
            <a:ext cx="233374" cy="2333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03650" y="2648937"/>
            <a:ext cx="988336" cy="123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Pedidos</a:t>
            </a:r>
            <a:endParaRPr lang="en-US" sz="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2502" y="2587019"/>
            <a:ext cx="233374" cy="2333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07602" y="2648937"/>
            <a:ext cx="988336" cy="123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Libros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5018" y="2643029"/>
            <a:ext cx="233374" cy="233373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5456" y="1774880"/>
            <a:ext cx="233374" cy="23337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808040" y="1778454"/>
            <a:ext cx="988336" cy="123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Clientes</a:t>
            </a:r>
            <a:endParaRPr lang="en-US" sz="750" dirty="0"/>
          </a:p>
        </p:txBody>
      </p:sp>
      <p:sp>
        <p:nvSpPr>
          <p:cNvPr id="16" name="Text 9"/>
          <p:cNvSpPr/>
          <p:nvPr/>
        </p:nvSpPr>
        <p:spPr>
          <a:xfrm>
            <a:off x="3579465" y="3526854"/>
            <a:ext cx="4640684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Diagrama E-R de la tienda de libros: tres entidades y sus relaciones principales.</a:t>
            </a:r>
            <a:endParaRPr lang="en-US" sz="850" dirty="0"/>
          </a:p>
        </p:txBody>
      </p:sp>
      <p:sp>
        <p:nvSpPr>
          <p:cNvPr id="17" name="Shape 10"/>
          <p:cNvSpPr/>
          <p:nvPr/>
        </p:nvSpPr>
        <p:spPr>
          <a:xfrm>
            <a:off x="928464" y="3854276"/>
            <a:ext cx="2372916" cy="939552"/>
          </a:xfrm>
          <a:prstGeom prst="roundRect">
            <a:avLst>
              <a:gd name="adj" fmla="val 17914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1054894" y="3980706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Entidades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1054894" y="4196135"/>
            <a:ext cx="2120057" cy="47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Representan objetos del mundo real que almacenaremos como tablas (ej. </a:t>
            </a:r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Libros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Clientes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).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3385468" y="3854276"/>
            <a:ext cx="2372916" cy="939552"/>
          </a:xfrm>
          <a:prstGeom prst="roundRect">
            <a:avLst>
              <a:gd name="adj" fmla="val 17914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3511897" y="3980706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Atributos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3511897" y="4196135"/>
            <a:ext cx="2120057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Propiedades de cada entidad, que se convertirán en columnas (ej. </a:t>
            </a:r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Título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Precio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).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5842471" y="3854276"/>
            <a:ext cx="2372990" cy="939552"/>
          </a:xfrm>
          <a:prstGeom prst="roundRect">
            <a:avLst>
              <a:gd name="adj" fmla="val 17914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968901" y="3980706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Relaciones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5968901" y="4196135"/>
            <a:ext cx="2120131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Cómo se conectan las entidades entre sí (ej. un </a:t>
            </a:r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Cliente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realiza muchos </a:t>
            </a:r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Pedidos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).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953" y="344984"/>
            <a:ext cx="616818" cy="219224"/>
          </a:xfrm>
          <a:prstGeom prst="roundRect">
            <a:avLst>
              <a:gd name="adj" fmla="val 67820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623218" y="382116"/>
            <a:ext cx="468288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MÓDULO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953" y="605210"/>
            <a:ext cx="5733157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Del Concepto a la Realidad: Análisis Lógico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48953" y="1123504"/>
            <a:ext cx="80460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modelo lógico traduce el diagrama E-R en una estructura formal de tablas, columnas y relaciones, sin depender aún de un motor de base de datos específico.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953" y="1703859"/>
            <a:ext cx="195709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Elementos del Modelo Lógico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953" y="2001441"/>
            <a:ext cx="1884685" cy="1104528"/>
          </a:xfrm>
          <a:prstGeom prst="roundRect">
            <a:avLst>
              <a:gd name="adj" fmla="val 16826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7065" y="2139553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Llave Primaria (PK)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7065" y="2424261"/>
            <a:ext cx="1608460" cy="36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Identifica de forma única cada fila de la tabla. Ej.: 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ID_Libro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6180" y="2001441"/>
            <a:ext cx="1884685" cy="1104528"/>
          </a:xfrm>
          <a:prstGeom prst="roundRect">
            <a:avLst>
              <a:gd name="adj" fmla="val 16826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4293" y="2139553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Llave Foránea (FK)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74293" y="2424261"/>
            <a:ext cx="1608460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 el vínculo entre tablas, garantizando integridad referencial.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953" y="3208511"/>
            <a:ext cx="3871913" cy="928092"/>
          </a:xfrm>
          <a:prstGeom prst="roundRect">
            <a:avLst>
              <a:gd name="adj" fmla="val 20025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065" y="3346624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Tipos de Datos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7065" y="3631332"/>
            <a:ext cx="3595687" cy="36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definen qué tipo de valor acepta cada columna.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27897" y="1703859"/>
            <a:ext cx="18542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Modelo Lógico: Tabla Libros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27897" y="2001441"/>
            <a:ext cx="3871913" cy="1916162"/>
          </a:xfrm>
          <a:prstGeom prst="roundRect">
            <a:avLst>
              <a:gd name="adj" fmla="val 969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7006" y="2072506"/>
            <a:ext cx="10371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Columna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46527" y="2072506"/>
            <a:ext cx="10347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Tipo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433667" y="2072506"/>
            <a:ext cx="10371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Clave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57006" y="2391073"/>
            <a:ext cx="10371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ID_Libro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46527" y="2391073"/>
            <a:ext cx="10347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33667" y="2391073"/>
            <a:ext cx="10371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57006" y="2709639"/>
            <a:ext cx="10371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Titulo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46527" y="2709639"/>
            <a:ext cx="10347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VARCHAR(100)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33667" y="2709639"/>
            <a:ext cx="10371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—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57006" y="3028206"/>
            <a:ext cx="10371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46527" y="3028206"/>
            <a:ext cx="10347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VARCHAR(100)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33667" y="3028206"/>
            <a:ext cx="10371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57006" y="3346772"/>
            <a:ext cx="10371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Precio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46527" y="3346772"/>
            <a:ext cx="10347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DECIMAL(10,2)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33667" y="3346772"/>
            <a:ext cx="10371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—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57006" y="3665339"/>
            <a:ext cx="10371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Stock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46527" y="3665339"/>
            <a:ext cx="103472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33667" y="3665339"/>
            <a:ext cx="103710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—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27897" y="4033019"/>
            <a:ext cx="3871913" cy="650081"/>
          </a:xfrm>
          <a:prstGeom prst="roundRect">
            <a:avLst>
              <a:gd name="adj" fmla="val 28588"/>
            </a:avLst>
          </a:prstGeom>
          <a:solidFill>
            <a:srgbClr val="183A13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1722" y="4212803"/>
            <a:ext cx="154856" cy="123825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130403" y="4166518"/>
            <a:ext cx="3345582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Definir bien los tipos de datos desde el inicio evita errores difíciles de corregir después.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0269" y="298698"/>
            <a:ext cx="535409" cy="182687"/>
          </a:xfrm>
          <a:prstGeom prst="roundRect">
            <a:avLst>
              <a:gd name="adj" fmla="val 70635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1144786" y="330919"/>
            <a:ext cx="406375" cy="11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MÓDULO 4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080269" y="512266"/>
            <a:ext cx="6166321" cy="3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La Arquitectura: Análisis Físico y Estructura de Tablas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80269" y="1021631"/>
            <a:ext cx="1265039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Del lógico al físico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80269" y="1257002"/>
            <a:ext cx="3360539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modelo físico adapta el diseño lógico a SQL Server: elegimos tipos de datos óptimos, definimos índices y escribimos el script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07806" y="1021631"/>
            <a:ext cx="2136800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Script CREATE TABLE en SQL Server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7806" y="1266676"/>
            <a:ext cx="3360539" cy="2136279"/>
          </a:xfrm>
          <a:prstGeom prst="roundRect">
            <a:avLst>
              <a:gd name="adj" fmla="val 7551"/>
            </a:avLst>
          </a:prstGeom>
          <a:solidFill>
            <a:srgbClr val="0D0D3B"/>
          </a:solidFill>
          <a:ln/>
        </p:spPr>
      </p:sp>
      <p:sp>
        <p:nvSpPr>
          <p:cNvPr id="9" name="Shape 7"/>
          <p:cNvSpPr/>
          <p:nvPr/>
        </p:nvSpPr>
        <p:spPr>
          <a:xfrm>
            <a:off x="4702448" y="1266676"/>
            <a:ext cx="3371255" cy="2136279"/>
          </a:xfrm>
          <a:prstGeom prst="roundRect">
            <a:avLst>
              <a:gd name="adj" fmla="val 755"/>
            </a:avLst>
          </a:prstGeom>
          <a:solidFill>
            <a:srgbClr val="0D0D3B"/>
          </a:solidFill>
          <a:ln/>
        </p:spPr>
      </p:sp>
      <p:sp>
        <p:nvSpPr>
          <p:cNvPr id="10" name="Text 8"/>
          <p:cNvSpPr/>
          <p:nvPr/>
        </p:nvSpPr>
        <p:spPr>
          <a:xfrm>
            <a:off x="4836840" y="1374204"/>
            <a:ext cx="3102471" cy="1921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Libros (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ID_Libro  INT          PRIMARY KEY,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Titulo    VARCHAR(100) NOT NULL,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Autor     VARCHAR(100) NOT NULL,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Precio    DECIMAL(10,2) NOT NULL,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Stock     INT           DEFAULT 0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Clientes (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ID_Cliente INT          PRIMARY KEY,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Nombre     VARCHAR(100) NOT NULL,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  VARCHAR(150) UNIQUE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7B72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07806" y="3489871"/>
            <a:ext cx="3360539" cy="522908"/>
          </a:xfrm>
          <a:prstGeom prst="roundRect">
            <a:avLst>
              <a:gd name="adj" fmla="val 30847"/>
            </a:avLst>
          </a:prstGeom>
          <a:solidFill>
            <a:srgbClr val="483304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5334" y="3644429"/>
            <a:ext cx="134392" cy="10752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57254" y="3593976"/>
            <a:ext cx="2903562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¡El orden importa! Crea primero las tablas que no dependen de otras.</a:t>
            </a:r>
            <a:endParaRPr lang="en-US" sz="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0601" y="4189921"/>
            <a:ext cx="161255" cy="16125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29717" y="4186610"/>
            <a:ext cx="1913930" cy="31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Seleccionar tipos de datos eficientes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429717" y="4549229"/>
            <a:ext cx="1913930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Usa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en lugar de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BIGINT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si los datos no lo requieren.</a:t>
            </a:r>
            <a:endParaRPr lang="en-US" sz="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0569" y="4189921"/>
            <a:ext cx="161255" cy="16125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89685" y="4186610"/>
            <a:ext cx="1892201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Definir restricciones (constraints)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3789685" y="4391099"/>
            <a:ext cx="1913930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protegen la calidad del dato.</a:t>
            </a:r>
            <a:endParaRPr lang="en-US" sz="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40537" y="4189921"/>
            <a:ext cx="161255" cy="1612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49653" y="4186610"/>
            <a:ext cx="1265039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Planificar índices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6149653" y="4391099"/>
            <a:ext cx="1913930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Aceleran las consultas en columnas frecuentemente buscadas.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000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41" y="346472"/>
            <a:ext cx="3337917" cy="44505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48088" y="346100"/>
            <a:ext cx="453851" cy="148456"/>
          </a:xfrm>
          <a:prstGeom prst="roundRect">
            <a:avLst>
              <a:gd name="adj" fmla="val 73695"/>
            </a:avLst>
          </a:prstGeom>
          <a:solidFill>
            <a:srgbClr val="483304"/>
          </a:solidFill>
          <a:ln/>
        </p:spPr>
      </p:sp>
      <p:sp>
        <p:nvSpPr>
          <p:cNvPr id="5" name="Text 2"/>
          <p:cNvSpPr/>
          <p:nvPr/>
        </p:nvSpPr>
        <p:spPr>
          <a:xfrm>
            <a:off x="3802782" y="373410"/>
            <a:ext cx="344463" cy="9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MÓDULO 5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748088" y="516731"/>
            <a:ext cx="5076825" cy="53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Las Bases del Sistema: master, model, msdb y tempdb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3748088" y="1136228"/>
            <a:ext cx="5076825" cy="932334"/>
          </a:xfrm>
          <a:prstGeom prst="roundRect">
            <a:avLst>
              <a:gd name="adj" fmla="val 14668"/>
            </a:avLst>
          </a:prstGeom>
          <a:solidFill>
            <a:srgbClr val="00002E"/>
          </a:solidFill>
          <a:ln w="9525">
            <a:solidFill>
              <a:srgbClr val="F2B42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48770" y="1236911"/>
            <a:ext cx="273472" cy="273472"/>
          </a:xfrm>
          <a:prstGeom prst="roundRect">
            <a:avLst>
              <a:gd name="adj" fmla="val 20895845"/>
            </a:avLst>
          </a:prstGeom>
          <a:solidFill>
            <a:srgbClr val="F2B4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4002" y="1312143"/>
            <a:ext cx="123006" cy="1230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8770" y="1565895"/>
            <a:ext cx="1072530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master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848770" y="1733178"/>
            <a:ext cx="4875461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 el cerebro de SQL Server. Almacena información de inicio de sesión, configuración del servidor y el catálogo de todas las bases de datos. </a:t>
            </a:r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Nunca debe modificarse directamente.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3748088" y="2124075"/>
            <a:ext cx="5076825" cy="814983"/>
          </a:xfrm>
          <a:prstGeom prst="roundRect">
            <a:avLst>
              <a:gd name="adj" fmla="val 16780"/>
            </a:avLst>
          </a:prstGeom>
          <a:solidFill>
            <a:srgbClr val="00002E"/>
          </a:solidFill>
          <a:ln w="9525">
            <a:solidFill>
              <a:srgbClr val="D7425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848770" y="2224757"/>
            <a:ext cx="273472" cy="273472"/>
          </a:xfrm>
          <a:prstGeom prst="roundRect">
            <a:avLst>
              <a:gd name="adj" fmla="val 20895845"/>
            </a:avLst>
          </a:prstGeom>
          <a:solidFill>
            <a:srgbClr val="D7425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4002" y="2299990"/>
            <a:ext cx="123006" cy="1230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48770" y="2553742"/>
            <a:ext cx="1072530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model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3848770" y="2721025"/>
            <a:ext cx="4875461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Actúa como plantilla base. Cada nueva base de datos que crees hereda la estructura y configuración definida en </a:t>
            </a:r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model</a:t>
            </a:r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3748088" y="2994571"/>
            <a:ext cx="5076825" cy="814983"/>
          </a:xfrm>
          <a:prstGeom prst="roundRect">
            <a:avLst>
              <a:gd name="adj" fmla="val 16780"/>
            </a:avLst>
          </a:prstGeom>
          <a:solidFill>
            <a:srgbClr val="00002E"/>
          </a:solidFill>
          <a:ln w="9525">
            <a:solidFill>
              <a:srgbClr val="DD785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848770" y="3095253"/>
            <a:ext cx="273472" cy="273472"/>
          </a:xfrm>
          <a:prstGeom prst="roundRect">
            <a:avLst>
              <a:gd name="adj" fmla="val 20895845"/>
            </a:avLst>
          </a:prstGeom>
          <a:solidFill>
            <a:srgbClr val="DD785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4002" y="3170486"/>
            <a:ext cx="123006" cy="12300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848770" y="3424238"/>
            <a:ext cx="1072530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msdb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3848770" y="3591520"/>
            <a:ext cx="4875461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Gestiona el </a:t>
            </a:r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Agente de SQL Server</a:t>
            </a:r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tareas programadas, alertas, copias de seguridad automáticas y trabajos de mantenimiento.</a:t>
            </a:r>
            <a:endParaRPr lang="en-US" sz="700" dirty="0"/>
          </a:p>
        </p:txBody>
      </p:sp>
      <p:sp>
        <p:nvSpPr>
          <p:cNvPr id="22" name="Shape 16"/>
          <p:cNvSpPr/>
          <p:nvPr/>
        </p:nvSpPr>
        <p:spPr>
          <a:xfrm>
            <a:off x="3748088" y="3865066"/>
            <a:ext cx="5076825" cy="932334"/>
          </a:xfrm>
          <a:prstGeom prst="roundRect">
            <a:avLst>
              <a:gd name="adj" fmla="val 14668"/>
            </a:avLst>
          </a:prstGeom>
          <a:solidFill>
            <a:srgbClr val="00002E"/>
          </a:solidFill>
          <a:ln w="9525">
            <a:solidFill>
              <a:srgbClr val="48A8E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848770" y="3965749"/>
            <a:ext cx="273472" cy="273472"/>
          </a:xfrm>
          <a:prstGeom prst="roundRect">
            <a:avLst>
              <a:gd name="adj" fmla="val 20895845"/>
            </a:avLst>
          </a:prstGeom>
          <a:solidFill>
            <a:srgbClr val="48A8E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4002" y="4040981"/>
            <a:ext cx="123006" cy="12300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848770" y="4294733"/>
            <a:ext cx="1072530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tempdb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3848770" y="4462016"/>
            <a:ext cx="4875461" cy="23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Espacio de trabajo temporal compartido por todos los usuarios. Almacena tablas temporales y resultados intermedios. </a:t>
            </a:r>
            <a:pPr algn="l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 reinicia con cada arranque del servidor.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353" y="397818"/>
            <a:ext cx="985317" cy="241176"/>
          </a:xfrm>
          <a:prstGeom prst="roundRect">
            <a:avLst>
              <a:gd name="adj" fmla="val 66300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546274" y="437778"/>
            <a:ext cx="825475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MÓDULOS 6, 7 Y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6353" y="686395"/>
            <a:ext cx="4671566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Lenguaje, Scripts y CRUD Básico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66353" y="1374874"/>
            <a:ext cx="212169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SQL y Planificación de Scripts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53" y="1689422"/>
            <a:ext cx="3943127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 (Structured Query Language)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es el idioma universal de las bases de datos relacionales. Los scripts se organizan en dos categorías principales: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39283" y="1374874"/>
            <a:ext cx="179948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Las 4 Operaciones CRUD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39283" y="1704305"/>
            <a:ext cx="3943127" cy="2006054"/>
          </a:xfrm>
          <a:prstGeom prst="roundRect">
            <a:avLst>
              <a:gd name="adj" fmla="val 9964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3570" y="1718593"/>
            <a:ext cx="1957239" cy="988740"/>
          </a:xfrm>
          <a:prstGeom prst="roundRect">
            <a:avLst>
              <a:gd name="adj" fmla="val 20215"/>
            </a:avLst>
          </a:prstGeom>
          <a:solidFill>
            <a:srgbClr val="00002E"/>
          </a:solidFill>
          <a:ln/>
        </p:spPr>
      </p:sp>
      <p:sp>
        <p:nvSpPr>
          <p:cNvPr id="10" name="Text 8"/>
          <p:cNvSpPr/>
          <p:nvPr/>
        </p:nvSpPr>
        <p:spPr>
          <a:xfrm>
            <a:off x="4886771" y="1851794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2B42D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— CREATE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86771" y="2166342"/>
            <a:ext cx="1690836" cy="40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Añade nuevos registros.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10809" y="1718593"/>
            <a:ext cx="1957313" cy="988740"/>
          </a:xfrm>
          <a:prstGeom prst="rect">
            <a:avLst/>
          </a:prstGeom>
          <a:solidFill>
            <a:srgbClr val="0000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10809" y="1718593"/>
            <a:ext cx="14288" cy="988740"/>
          </a:xfrm>
          <a:prstGeom prst="roundRect">
            <a:avLst>
              <a:gd name="adj" fmla="val 1398891"/>
            </a:avLst>
          </a:prstGeom>
          <a:solidFill>
            <a:srgbClr val="F05B77"/>
          </a:solidFill>
          <a:ln/>
        </p:spPr>
      </p:sp>
      <p:sp>
        <p:nvSpPr>
          <p:cNvPr id="14" name="Text 12"/>
          <p:cNvSpPr/>
          <p:nvPr/>
        </p:nvSpPr>
        <p:spPr>
          <a:xfrm>
            <a:off x="6844010" y="1851794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2B42D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— READ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44010" y="2166342"/>
            <a:ext cx="1690911" cy="40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Consulta y recupera datos.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3570" y="2707332"/>
            <a:ext cx="1957239" cy="988740"/>
          </a:xfrm>
          <a:prstGeom prst="rect">
            <a:avLst/>
          </a:prstGeom>
          <a:solidFill>
            <a:srgbClr val="00002E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3570" y="2707332"/>
            <a:ext cx="1957239" cy="14288"/>
          </a:xfrm>
          <a:prstGeom prst="roundRect">
            <a:avLst>
              <a:gd name="adj" fmla="val 1398891"/>
            </a:avLst>
          </a:prstGeom>
          <a:solidFill>
            <a:srgbClr val="C35E44"/>
          </a:solidFill>
          <a:ln/>
        </p:spPr>
      </p:sp>
      <p:sp>
        <p:nvSpPr>
          <p:cNvPr id="18" name="Text 16"/>
          <p:cNvSpPr/>
          <p:nvPr/>
        </p:nvSpPr>
        <p:spPr>
          <a:xfrm>
            <a:off x="4886771" y="2840534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2B42D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— UPDATE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86771" y="3155082"/>
            <a:ext cx="1690836" cy="40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SET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Modifica registros existentes.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10809" y="2707332"/>
            <a:ext cx="1957313" cy="988740"/>
          </a:xfrm>
          <a:prstGeom prst="rect">
            <a:avLst/>
          </a:prstGeom>
          <a:solidFill>
            <a:srgbClr val="0000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10809" y="2707332"/>
            <a:ext cx="14288" cy="988740"/>
          </a:xfrm>
          <a:prstGeom prst="roundRect">
            <a:avLst>
              <a:gd name="adj" fmla="val 1398891"/>
            </a:avLst>
          </a:prstGeom>
          <a:solidFill>
            <a:srgbClr val="2E8EC8"/>
          </a:solidFill>
          <a:ln/>
        </p:spPr>
      </p:sp>
      <p:sp>
        <p:nvSpPr>
          <p:cNvPr id="22" name="Shape 20"/>
          <p:cNvSpPr/>
          <p:nvPr/>
        </p:nvSpPr>
        <p:spPr>
          <a:xfrm>
            <a:off x="6710809" y="2707332"/>
            <a:ext cx="1957313" cy="14288"/>
          </a:xfrm>
          <a:prstGeom prst="roundRect">
            <a:avLst>
              <a:gd name="adj" fmla="val 1398891"/>
            </a:avLst>
          </a:prstGeom>
          <a:solidFill>
            <a:srgbClr val="2E8EC8"/>
          </a:solidFill>
          <a:ln/>
        </p:spPr>
      </p:sp>
      <p:sp>
        <p:nvSpPr>
          <p:cNvPr id="23" name="Text 21"/>
          <p:cNvSpPr/>
          <p:nvPr/>
        </p:nvSpPr>
        <p:spPr>
          <a:xfrm>
            <a:off x="6844010" y="2840534"/>
            <a:ext cx="15676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2B42D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— DELETE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44010" y="3155082"/>
            <a:ext cx="1690911" cy="40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Elimina registros de una tabla.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53" y="3977357"/>
            <a:ext cx="4046339" cy="768325"/>
          </a:xfrm>
          <a:prstGeom prst="roundRect">
            <a:avLst>
              <a:gd name="adj" fmla="val 8926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065" y="3977357"/>
            <a:ext cx="57150" cy="768325"/>
          </a:xfrm>
          <a:prstGeom prst="roundRect">
            <a:avLst>
              <a:gd name="adj" fmla="val 349735"/>
            </a:avLst>
          </a:prstGeom>
          <a:solidFill>
            <a:srgbClr val="F2B42D"/>
          </a:solidFill>
          <a:ln/>
        </p:spPr>
      </p:sp>
      <p:sp>
        <p:nvSpPr>
          <p:cNvPr id="27" name="Text 25"/>
          <p:cNvSpPr/>
          <p:nvPr/>
        </p:nvSpPr>
        <p:spPr>
          <a:xfrm>
            <a:off x="656704" y="4124846"/>
            <a:ext cx="238995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DDL — Data Definition Language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6704" y="4391918"/>
            <a:ext cx="370849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 y modifica la estructura: 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31308" y="3977357"/>
            <a:ext cx="4046339" cy="768325"/>
          </a:xfrm>
          <a:prstGeom prst="roundRect">
            <a:avLst>
              <a:gd name="adj" fmla="val 8926"/>
            </a:avLst>
          </a:prstGeom>
          <a:solidFill>
            <a:srgbClr val="00002E">
              <a:alpha val="75000"/>
            </a:srgbClr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021" y="3977357"/>
            <a:ext cx="57150" cy="768325"/>
          </a:xfrm>
          <a:prstGeom prst="roundRect">
            <a:avLst>
              <a:gd name="adj" fmla="val 349735"/>
            </a:avLst>
          </a:prstGeom>
          <a:solidFill>
            <a:srgbClr val="D7425E"/>
          </a:solidFill>
          <a:ln/>
        </p:spPr>
      </p:sp>
      <p:sp>
        <p:nvSpPr>
          <p:cNvPr id="31" name="Text 29"/>
          <p:cNvSpPr/>
          <p:nvPr/>
        </p:nvSpPr>
        <p:spPr>
          <a:xfrm>
            <a:off x="4821659" y="4124846"/>
            <a:ext cx="264601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DML — Data Manipulation Language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21659" y="4391918"/>
            <a:ext cx="370849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Opera sobre los datos: 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15269" y="300633"/>
            <a:ext cx="407343" cy="130001"/>
          </a:xfrm>
          <a:prstGeom prst="roundRect">
            <a:avLst>
              <a:gd name="adj" fmla="val 75525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1964308" y="325115"/>
            <a:ext cx="309265" cy="81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MÓDULO 9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1915269" y="448494"/>
            <a:ext cx="4044851" cy="240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¡Manos a la Obra!: Ejemplo Práctico — Librería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915269" y="756121"/>
            <a:ext cx="5313462" cy="1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Veamos el ciclo completo: desde crear la base de datos hasta ejecutar operaciones CRUD reales.</a:t>
            </a:r>
            <a:endParaRPr lang="en-US" sz="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7915" y="907703"/>
            <a:ext cx="5128096" cy="250663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2542" y="1496844"/>
            <a:ext cx="185969" cy="1859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31335" y="1774553"/>
            <a:ext cx="1125114" cy="140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Crear tablas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0807" y="1868783"/>
            <a:ext cx="185969" cy="1859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97710" y="1200705"/>
            <a:ext cx="1125114" cy="140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Insertar datos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0039" y="2649853"/>
            <a:ext cx="185969" cy="18596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87415" y="2380281"/>
            <a:ext cx="1125114" cy="140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Consultar libros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91858" y="2299169"/>
            <a:ext cx="185969" cy="18596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015810" y="2964756"/>
            <a:ext cx="1125114" cy="140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Actualizar / Eliminar</a:t>
            </a:r>
            <a:endParaRPr lang="en-US" sz="850" dirty="0"/>
          </a:p>
        </p:txBody>
      </p:sp>
      <p:sp>
        <p:nvSpPr>
          <p:cNvPr id="15" name="Shape 8"/>
          <p:cNvSpPr/>
          <p:nvPr/>
        </p:nvSpPr>
        <p:spPr>
          <a:xfrm>
            <a:off x="1915269" y="3514948"/>
            <a:ext cx="2556942" cy="1277615"/>
          </a:xfrm>
          <a:prstGeom prst="roundRect">
            <a:avLst>
              <a:gd name="adj" fmla="val 9606"/>
            </a:avLst>
          </a:prstGeom>
          <a:solidFill>
            <a:srgbClr val="0D0D3B"/>
          </a:solidFill>
          <a:ln/>
        </p:spPr>
      </p:sp>
      <p:sp>
        <p:nvSpPr>
          <p:cNvPr id="16" name="Shape 9"/>
          <p:cNvSpPr/>
          <p:nvPr/>
        </p:nvSpPr>
        <p:spPr>
          <a:xfrm>
            <a:off x="1911251" y="3514948"/>
            <a:ext cx="2564978" cy="1277615"/>
          </a:xfrm>
          <a:prstGeom prst="roundRect">
            <a:avLst>
              <a:gd name="adj" fmla="val 961"/>
            </a:avLst>
          </a:prstGeom>
          <a:solidFill>
            <a:srgbClr val="0D0D3B"/>
          </a:solidFill>
          <a:ln/>
        </p:spPr>
      </p:sp>
      <p:sp>
        <p:nvSpPr>
          <p:cNvPr id="17" name="Text 10"/>
          <p:cNvSpPr/>
          <p:nvPr/>
        </p:nvSpPr>
        <p:spPr>
          <a:xfrm>
            <a:off x="2013496" y="3596729"/>
            <a:ext cx="2360488" cy="1114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 Crear la base de datos</a:t>
            </a: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Libreria;</a:t>
            </a: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 Libreria;</a:t>
            </a: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 Insertar un libro</a:t>
            </a: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Libros VALUES</a:t>
            </a: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(1, 'El Quijote', 'Cervantes', 12.99, 50);</a:t>
            </a: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 Consultar por autor</a:t>
            </a: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Libros</a:t>
            </a: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Autor = 'Cervantes';</a:t>
            </a:r>
            <a:endParaRPr lang="en-US" sz="600" dirty="0"/>
          </a:p>
        </p:txBody>
      </p:sp>
      <p:sp>
        <p:nvSpPr>
          <p:cNvPr id="18" name="Shape 11"/>
          <p:cNvSpPr/>
          <p:nvPr/>
        </p:nvSpPr>
        <p:spPr>
          <a:xfrm>
            <a:off x="4676552" y="3514948"/>
            <a:ext cx="2556942" cy="1277615"/>
          </a:xfrm>
          <a:prstGeom prst="roundRect">
            <a:avLst>
              <a:gd name="adj" fmla="val 9606"/>
            </a:avLst>
          </a:prstGeom>
          <a:solidFill>
            <a:srgbClr val="0D0D3B"/>
          </a:solidFill>
          <a:ln/>
        </p:spPr>
      </p:sp>
      <p:sp>
        <p:nvSpPr>
          <p:cNvPr id="19" name="Shape 12"/>
          <p:cNvSpPr/>
          <p:nvPr/>
        </p:nvSpPr>
        <p:spPr>
          <a:xfrm>
            <a:off x="4672533" y="3514948"/>
            <a:ext cx="2564978" cy="1277615"/>
          </a:xfrm>
          <a:prstGeom prst="roundRect">
            <a:avLst>
              <a:gd name="adj" fmla="val 961"/>
            </a:avLst>
          </a:prstGeom>
          <a:solidFill>
            <a:srgbClr val="0D0D3B"/>
          </a:solidFill>
          <a:ln/>
        </p:spPr>
      </p:sp>
      <p:sp>
        <p:nvSpPr>
          <p:cNvPr id="20" name="Text 13"/>
          <p:cNvSpPr/>
          <p:nvPr/>
        </p:nvSpPr>
        <p:spPr>
          <a:xfrm>
            <a:off x="4774778" y="3596729"/>
            <a:ext cx="2360488" cy="1114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 Actualizar el precio de un libro</a:t>
            </a: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 Libros</a:t>
            </a: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 Precio = 14.99</a:t>
            </a: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ID_Libro = 1;</a:t>
            </a: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 Eliminar un cliente</a:t>
            </a: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Clientes</a:t>
            </a: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ID_Cliente = 5;</a:t>
            </a: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 Confirmar los cambios</a:t>
            </a:r>
            <a:endParaRPr lang="en-US" sz="600" dirty="0"/>
          </a:p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8B949E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Libros;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4538" y="413817"/>
            <a:ext cx="734392" cy="246683"/>
          </a:xfrm>
          <a:prstGeom prst="roundRect">
            <a:avLst>
              <a:gd name="adj" fmla="val 65957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555873" y="454447"/>
            <a:ext cx="571723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MÓDULO 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4538" y="709613"/>
            <a:ext cx="4526384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 Desafío Final y Conclusiones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74538" y="1430759"/>
            <a:ext cx="3932113" cy="1373460"/>
          </a:xfrm>
          <a:prstGeom prst="roundRect">
            <a:avLst>
              <a:gd name="adj" fmla="val 14808"/>
            </a:avLst>
          </a:prstGeom>
          <a:solidFill>
            <a:srgbClr val="4B3F0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121" y="1633910"/>
            <a:ext cx="169441" cy="1355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5144" y="1587475"/>
            <a:ext cx="3355925" cy="1038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🏆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Tu Reto: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Diseña y crea las tablas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DetallePedido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la librería. Establece las relaciones correctas con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Libros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usando llaves foráneas. ¡Inserta al menos 3 pedidos de ejemplo y consulta el total por cliente!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4538" y="2942406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Pistas para empezar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4538" y="3264694"/>
            <a:ext cx="3932113" cy="66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ID_Pedido (PK), ID_Cliente (FK), Fecha, Total</a:t>
            </a:r>
            <a:endParaRPr lang="en-US" sz="105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DetallePedido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ID_Detalle (PK), ID_Pedido (FK), ID_Libro (FK), Cantidad, Precio_Unitario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42111" y="1415430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Conclusiones Clave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42111" y="1753046"/>
            <a:ext cx="305023" cy="305023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14288">
            <a:solidFill>
              <a:srgbClr val="F2B4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69991" y="1799630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 diseño es iterativo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169991" y="2121917"/>
            <a:ext cx="3504233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 buen modelo se refina con el tiempo y con la retroalimentación del cliente.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42111" y="2781077"/>
            <a:ext cx="305023" cy="305023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14288">
            <a:solidFill>
              <a:srgbClr val="D742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69991" y="2827660"/>
            <a:ext cx="2348061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Los fundamentos son esenciales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169991" y="3149947"/>
            <a:ext cx="3504233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E-R, modelo lógico y físico son la base de cualquier proyecto de datos profesional.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42111" y="3809107"/>
            <a:ext cx="305023" cy="305023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14288">
            <a:solidFill>
              <a:srgbClr val="DD78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69991" y="3855690"/>
            <a:ext cx="2983111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SQL Server es una herramienta poderosa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169991" y="4177978"/>
            <a:ext cx="3504233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Sus bases del sistema, su lenguaje SQL y sus herramientas te preparan para proyectos reales.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2026-05-08T22:17:02Z</dcterms:created>
  <dcterms:modified xsi:type="dcterms:W3CDTF">2026-05-08T22:17:02Z</dcterms:modified>
</cp:coreProperties>
</file>